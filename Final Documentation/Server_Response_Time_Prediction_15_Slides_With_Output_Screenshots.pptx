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t>Schematic trend only (not raw observations)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trend</c:v>
                </c:pt>
              </c:strCache>
            </c:strRef>
          </c:tx>
          <c:marker>
            <c:symbol val="none"/>
          </c:marker>
          <c:cat>
            <c:strRef>
              <c:f>Sheet1!$A$2:$A$11</c:f>
              <c:strCach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100</c:v>
                </c:pt>
                <c:pt idx="1">
                  <c:v>105</c:v>
                </c:pt>
                <c:pt idx="2">
                  <c:v>102</c:v>
                </c:pt>
                <c:pt idx="3">
                  <c:v>109</c:v>
                </c:pt>
                <c:pt idx="4">
                  <c:v>111</c:v>
                </c:pt>
                <c:pt idx="5">
                  <c:v>110</c:v>
                </c:pt>
                <c:pt idx="6">
                  <c:v>117</c:v>
                </c:pt>
                <c:pt idx="7">
                  <c:v>119</c:v>
                </c:pt>
                <c:pt idx="8">
                  <c:v>121</c:v>
                </c:pt>
                <c:pt idx="9">
                  <c:v>125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B63-4BBF-9611-C7B57FBB9D7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Observation order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Response time (illustrative)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502920"/>
            <a:ext cx="11155680" cy="5806440"/>
          </a:xfrm>
          <a:prstGeom prst="rect">
            <a:avLst/>
          </a:prstGeom>
          <a:solidFill>
            <a:srgbClr val="FFFFFF"/>
          </a:solidFill>
          <a:ln w="13970">
            <a:solidFill>
              <a:srgbClr val="CCD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822960"/>
            <a:ext cx="7315200" cy="2743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100" b="1">
                <a:solidFill>
                  <a:srgbClr val="238B91"/>
                </a:solidFill>
                <a:latin typeface="Aptos"/>
              </a:defRPr>
            </a:pPr>
            <a:r>
              <a:t>MICRO-PROJECT 13 • COURSE 25DC210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6583680" cy="11430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3100" b="1">
                <a:solidFill>
                  <a:srgbClr val="1C375B"/>
                </a:solidFill>
                <a:latin typeface="Aptos"/>
              </a:defRPr>
            </a:pPr>
            <a:r>
              <a:t>SERVER RESPONSE TIME</a:t>
            </a:r>
            <a:br/>
            <a:r>
              <a:t>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6217920" cy="6858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700" b="0">
                <a:solidFill>
                  <a:srgbClr val="556373"/>
                </a:solidFill>
                <a:latin typeface="Aptos"/>
              </a:defRPr>
            </a:pPr>
            <a:r>
              <a:t>Using Regression Models to study uncertainty in web-service performance</a:t>
            </a:r>
          </a:p>
        </p:txBody>
      </p:sp>
      <p:sp>
        <p:nvSpPr>
          <p:cNvPr id="6" name="Oval 5"/>
          <p:cNvSpPr/>
          <p:nvPr/>
        </p:nvSpPr>
        <p:spPr>
          <a:xfrm>
            <a:off x="8229600" y="1828800"/>
            <a:ext cx="594360" cy="594360"/>
          </a:xfrm>
          <a:prstGeom prst="ellipse">
            <a:avLst/>
          </a:prstGeom>
          <a:solidFill>
            <a:srgbClr val="E5EFF9"/>
          </a:solidFill>
          <a:ln>
            <a:solidFill>
              <a:srgbClr val="326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83879" y="2002536"/>
            <a:ext cx="6858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" b="1">
                <a:solidFill>
                  <a:srgbClr val="1C375B"/>
                </a:solidFill>
                <a:latin typeface="Aptos"/>
              </a:defRPr>
            </a:pPr>
            <a:r>
              <a:t>CPU</a:t>
            </a:r>
          </a:p>
        </p:txBody>
      </p:sp>
      <p:sp>
        <p:nvSpPr>
          <p:cNvPr id="8" name="Oval 7"/>
          <p:cNvSpPr/>
          <p:nvPr/>
        </p:nvSpPr>
        <p:spPr>
          <a:xfrm>
            <a:off x="9875520" y="1417320"/>
            <a:ext cx="594360" cy="594360"/>
          </a:xfrm>
          <a:prstGeom prst="ellipse">
            <a:avLst/>
          </a:prstGeom>
          <a:solidFill>
            <a:srgbClr val="E5EFF9"/>
          </a:solidFill>
          <a:ln>
            <a:solidFill>
              <a:srgbClr val="326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29800" y="1591056"/>
            <a:ext cx="6858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" b="1">
                <a:solidFill>
                  <a:srgbClr val="1C375B"/>
                </a:solidFill>
                <a:latin typeface="Aptos"/>
              </a:defRPr>
            </a:pPr>
            <a:r>
              <a:t>REQ</a:t>
            </a:r>
          </a:p>
        </p:txBody>
      </p:sp>
      <p:sp>
        <p:nvSpPr>
          <p:cNvPr id="10" name="Oval 9"/>
          <p:cNvSpPr/>
          <p:nvPr/>
        </p:nvSpPr>
        <p:spPr>
          <a:xfrm>
            <a:off x="10515600" y="2880360"/>
            <a:ext cx="594360" cy="594360"/>
          </a:xfrm>
          <a:prstGeom prst="ellipse">
            <a:avLst/>
          </a:prstGeom>
          <a:solidFill>
            <a:srgbClr val="E5EFF9"/>
          </a:solidFill>
          <a:ln>
            <a:solidFill>
              <a:srgbClr val="326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469880" y="3054096"/>
            <a:ext cx="6858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" b="1">
                <a:solidFill>
                  <a:srgbClr val="1C375B"/>
                </a:solidFill>
                <a:latin typeface="Aptos"/>
              </a:defRPr>
            </a:pPr>
            <a:r>
              <a:t>TIME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0" y="3657600"/>
            <a:ext cx="594360" cy="594360"/>
          </a:xfrm>
          <a:prstGeom prst="ellipse">
            <a:avLst/>
          </a:prstGeom>
          <a:solidFill>
            <a:srgbClr val="E5EFF9"/>
          </a:solidFill>
          <a:ln>
            <a:solidFill>
              <a:srgbClr val="326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41080" y="3831336"/>
            <a:ext cx="6858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" b="1">
                <a:solidFill>
                  <a:srgbClr val="1C375B"/>
                </a:solidFill>
                <a:latin typeface="Aptos"/>
              </a:defRPr>
            </a:pPr>
            <a:r>
              <a:t>NET</a:t>
            </a:r>
          </a:p>
        </p:txBody>
      </p:sp>
      <p:sp>
        <p:nvSpPr>
          <p:cNvPr id="14" name="Oval 13"/>
          <p:cNvSpPr/>
          <p:nvPr/>
        </p:nvSpPr>
        <p:spPr>
          <a:xfrm>
            <a:off x="9235440" y="2651760"/>
            <a:ext cx="594360" cy="594360"/>
          </a:xfrm>
          <a:prstGeom prst="ellipse">
            <a:avLst/>
          </a:prstGeom>
          <a:solidFill>
            <a:srgbClr val="E5EFF9"/>
          </a:solidFill>
          <a:ln>
            <a:solidFill>
              <a:srgbClr val="326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89719" y="2825496"/>
            <a:ext cx="6858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" b="1">
                <a:solidFill>
                  <a:srgbClr val="1C375B"/>
                </a:solidFill>
                <a:latin typeface="Aptos"/>
              </a:defRPr>
            </a:pPr>
            <a:r>
              <a:t>MEM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8522208" y="1719072"/>
            <a:ext cx="1517904" cy="402336"/>
          </a:xfrm>
          <a:prstGeom prst="line">
            <a:avLst/>
          </a:prstGeom>
          <a:ln w="25400">
            <a:solidFill>
              <a:srgbClr val="238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168128" y="1874519"/>
            <a:ext cx="603504" cy="1188721"/>
          </a:xfrm>
          <a:prstGeom prst="line">
            <a:avLst/>
          </a:prstGeom>
          <a:ln w="25400">
            <a:solidFill>
              <a:srgbClr val="238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8961120" y="3200400"/>
            <a:ext cx="1554480" cy="594360"/>
          </a:xfrm>
          <a:prstGeom prst="line">
            <a:avLst/>
          </a:prstGeom>
          <a:ln w="25400">
            <a:solidFill>
              <a:srgbClr val="238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8915400" y="2834640"/>
            <a:ext cx="548640" cy="822960"/>
          </a:xfrm>
          <a:prstGeom prst="line">
            <a:avLst/>
          </a:prstGeom>
          <a:ln w="25400">
            <a:solidFill>
              <a:srgbClr val="238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595360" y="2377440"/>
            <a:ext cx="868680" cy="457200"/>
          </a:xfrm>
          <a:prstGeom prst="line">
            <a:avLst/>
          </a:prstGeom>
          <a:ln w="25400">
            <a:solidFill>
              <a:srgbClr val="238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784080" y="2560320"/>
            <a:ext cx="457200" cy="502920"/>
          </a:xfrm>
          <a:prstGeom prst="line">
            <a:avLst/>
          </a:prstGeom>
          <a:ln w="25400">
            <a:solidFill>
              <a:srgbClr val="238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14400" y="4846320"/>
            <a:ext cx="6400800" cy="6400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300" b="1">
                <a:solidFill>
                  <a:srgbClr val="1C375B"/>
                </a:solidFill>
                <a:latin typeface="Aptos"/>
              </a:defRPr>
            </a:pPr>
            <a:r>
              <a:t>Vian Alen Barnes • Dave V Shah • Jaswanth • Sujai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577840"/>
            <a:ext cx="914400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000" b="0">
                <a:solidFill>
                  <a:srgbClr val="556373"/>
                </a:solidFill>
                <a:latin typeface="Aptos"/>
              </a:defRPr>
            </a:pPr>
            <a:r>
              <a:t>B.Tech Computer Engineering • Semester III • Dr. K. Rebecca Jebaseeli Edna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>
              <a:defRPr sz="900" b="0">
                <a:solidFill>
                  <a:srgbClr val="556373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7315200" cy="2286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900" b="1">
                <a:solidFill>
                  <a:srgbClr val="238B91"/>
                </a:solidFill>
                <a:latin typeface="Aptos"/>
              </a:defRPr>
            </a:pPr>
            <a:r>
              <a:t>MICRO-PROJECT 13 • 25DC210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1155680" cy="47548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2600" b="1">
                <a:solidFill>
                  <a:srgbClr val="1C375B"/>
                </a:solidFill>
                <a:latin typeface="Aptos"/>
              </a:defRPr>
            </a:pPr>
            <a:r>
              <a:t>Problem, rationale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41832"/>
            <a:ext cx="1097280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100" b="0">
                <a:solidFill>
                  <a:srgbClr val="556373"/>
                </a:solidFill>
                <a:latin typeface="Aptos"/>
              </a:defRPr>
            </a:pPr>
            <a:r>
              <a:t>The statistical question in one 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1298448"/>
            <a:ext cx="914400" cy="41148"/>
          </a:xfrm>
          <a:prstGeom prst="rect">
            <a:avLst/>
          </a:prstGeom>
          <a:solidFill>
            <a:srgbClr val="326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>
              <a:defRPr sz="900" b="0">
                <a:solidFill>
                  <a:srgbClr val="556373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731520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800" b="0">
                <a:solidFill>
                  <a:srgbClr val="556373"/>
                </a:solidFill>
                <a:latin typeface="Aptos"/>
              </a:defRPr>
            </a:pPr>
            <a:r>
              <a:t>Karunya Institute of Technology and Sciences • Academic Year 2026–27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00200"/>
            <a:ext cx="3566160" cy="2011680"/>
          </a:xfrm>
          <a:prstGeom prst="roundRect">
            <a:avLst/>
          </a:prstGeom>
          <a:solidFill>
            <a:srgbClr val="F6F9FC"/>
          </a:solidFill>
          <a:ln w="13970">
            <a:solidFill>
              <a:srgbClr val="CA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600200"/>
            <a:ext cx="73152" cy="2011680"/>
          </a:xfrm>
          <a:prstGeom prst="rect">
            <a:avLst/>
          </a:prstGeom>
          <a:solidFill>
            <a:srgbClr val="B0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" y="1709928"/>
            <a:ext cx="329184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500" b="1">
                <a:solidFill>
                  <a:srgbClr val="1C375B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075688"/>
            <a:ext cx="3273552" cy="148132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400" b="0">
                <a:solidFill>
                  <a:srgbClr val="232C37"/>
                </a:solidFill>
                <a:latin typeface="Aptos"/>
              </a:defRPr>
            </a:pPr>
            <a:r>
              <a:t>Server response time changes with workload and system conditions. A single average cannot describe every request.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600200"/>
            <a:ext cx="3566160" cy="2011680"/>
          </a:xfrm>
          <a:prstGeom prst="roundRect">
            <a:avLst/>
          </a:prstGeom>
          <a:solidFill>
            <a:srgbClr val="F6F9FC"/>
          </a:solidFill>
          <a:ln w="13970">
            <a:solidFill>
              <a:srgbClr val="CA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15968" y="1600200"/>
            <a:ext cx="73152" cy="2011680"/>
          </a:xfrm>
          <a:prstGeom prst="rect">
            <a:avLst/>
          </a:prstGeom>
          <a:solidFill>
            <a:srgbClr val="326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80559" y="1709928"/>
            <a:ext cx="329184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500" b="1">
                <a:solidFill>
                  <a:srgbClr val="1C375B"/>
                </a:solidFill>
                <a:latin typeface="Aptos"/>
              </a:defRPr>
            </a:pPr>
            <a:r>
              <a:t>Proposed approach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59" y="2075688"/>
            <a:ext cx="3273552" cy="148132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400" b="0">
                <a:solidFill>
                  <a:srgbClr val="232C37"/>
                </a:solidFill>
                <a:latin typeface="Aptos"/>
              </a:defRPr>
            </a:pPr>
            <a:r>
              <a:t>Represent workload as explanatory variables; use correlation and regression to estimate response time.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9872" y="1600200"/>
            <a:ext cx="3566160" cy="2011680"/>
          </a:xfrm>
          <a:prstGeom prst="roundRect">
            <a:avLst/>
          </a:prstGeom>
          <a:solidFill>
            <a:srgbClr val="F6F9FC"/>
          </a:solidFill>
          <a:ln w="13970">
            <a:solidFill>
              <a:srgbClr val="CA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19872" y="1600200"/>
            <a:ext cx="73152" cy="2011680"/>
          </a:xfrm>
          <a:prstGeom prst="rect">
            <a:avLst/>
          </a:prstGeom>
          <a:solidFill>
            <a:srgbClr val="23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84464" y="1709928"/>
            <a:ext cx="329184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500" b="1">
                <a:solidFill>
                  <a:srgbClr val="1C375B"/>
                </a:solidFill>
                <a:latin typeface="Aptos"/>
              </a:defRPr>
            </a:pPr>
            <a:r>
              <a:t>Objectives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4" y="2075688"/>
            <a:ext cx="3273552" cy="148132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400" b="0">
                <a:solidFill>
                  <a:srgbClr val="232C37"/>
                </a:solidFill>
                <a:latin typeface="Aptos"/>
              </a:defRPr>
            </a:pPr>
            <a:r>
              <a:t>Summarise variation, explore trends, predict held-out observations and validate error statistically.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977639"/>
            <a:ext cx="10972800" cy="1280160"/>
          </a:xfrm>
          <a:prstGeom prst="roundRect">
            <a:avLst/>
          </a:prstGeom>
          <a:solidFill>
            <a:srgbClr val="E5EFF9"/>
          </a:solidFill>
          <a:ln w="13970">
            <a:solidFill>
              <a:srgbClr val="326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4206240"/>
            <a:ext cx="201168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300" b="1">
                <a:solidFill>
                  <a:srgbClr val="1C375B"/>
                </a:solidFill>
                <a:latin typeface="Aptos"/>
              </a:defRPr>
            </a:pPr>
            <a:r>
              <a:t>EXPECTED OUTCOME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4160520"/>
            <a:ext cx="8321040" cy="6400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600" b="0">
                <a:solidFill>
                  <a:srgbClr val="232C37"/>
                </a:solidFill>
                <a:latin typeface="Aptos"/>
              </a:defRPr>
            </a:pPr>
            <a:r>
              <a:t>A reproducible statistical workflow—not a claim that every request can be predicted exactly.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7315200" cy="2286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900" b="1">
                <a:solidFill>
                  <a:srgbClr val="238B91"/>
                </a:solidFill>
                <a:latin typeface="Aptos"/>
              </a:defRPr>
            </a:pPr>
            <a:r>
              <a:t>MICRO-PROJECT 13 • 25DC210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1155680" cy="47548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2600" b="1">
                <a:solidFill>
                  <a:srgbClr val="1C375B"/>
                </a:solidFill>
                <a:latin typeface="Aptos"/>
              </a:defRPr>
            </a:pPr>
            <a:r>
              <a:t>Methodology &amp; system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41832"/>
            <a:ext cx="1097280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100" b="0">
                <a:solidFill>
                  <a:srgbClr val="556373"/>
                </a:solidFill>
                <a:latin typeface="Aptos"/>
              </a:defRPr>
            </a:pPr>
            <a:r>
              <a:t>From performance observations to validated predictions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1298448"/>
            <a:ext cx="914400" cy="41148"/>
          </a:xfrm>
          <a:prstGeom prst="rect">
            <a:avLst/>
          </a:prstGeom>
          <a:solidFill>
            <a:srgbClr val="326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>
              <a:defRPr sz="900" b="0">
                <a:solidFill>
                  <a:srgbClr val="556373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731520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800" b="0">
                <a:solidFill>
                  <a:srgbClr val="556373"/>
                </a:solidFill>
                <a:latin typeface="Aptos"/>
              </a:defRPr>
            </a:pPr>
            <a:r>
              <a:t>Karunya Institute of Technology and Sciences • Academic Year 2026–27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91640"/>
            <a:ext cx="2423160" cy="960120"/>
          </a:xfrm>
          <a:prstGeom prst="roundRect">
            <a:avLst/>
          </a:prstGeom>
          <a:solidFill>
            <a:srgbClr val="E5EFF9"/>
          </a:solidFill>
          <a:ln w="13970">
            <a:solidFill>
              <a:srgbClr val="326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" y="1783080"/>
            <a:ext cx="347472" cy="2743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400" b="1">
                <a:solidFill>
                  <a:srgbClr val="238B91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828800"/>
            <a:ext cx="1828800" cy="6400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300" b="1">
                <a:solidFill>
                  <a:srgbClr val="1C375B"/>
                </a:solidFill>
                <a:latin typeface="Aptos"/>
              </a:defRPr>
            </a:pPr>
            <a:r>
              <a:t>Define variables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691640"/>
            <a:ext cx="2423160" cy="960120"/>
          </a:xfrm>
          <a:prstGeom prst="roundRect">
            <a:avLst/>
          </a:prstGeom>
          <a:solidFill>
            <a:srgbClr val="E5EFF9"/>
          </a:solidFill>
          <a:ln w="13970">
            <a:solidFill>
              <a:srgbClr val="326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38728" y="1783080"/>
            <a:ext cx="347472" cy="2743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400" b="1">
                <a:solidFill>
                  <a:srgbClr val="238B91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1828800"/>
            <a:ext cx="1828800" cy="6400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300" b="1">
                <a:solidFill>
                  <a:srgbClr val="1C375B"/>
                </a:solidFill>
                <a:latin typeface="Aptos"/>
              </a:defRPr>
            </a:pPr>
            <a:r>
              <a:t>Collect / simulate 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691640"/>
            <a:ext cx="2423160" cy="960120"/>
          </a:xfrm>
          <a:prstGeom prst="roundRect">
            <a:avLst/>
          </a:prstGeom>
          <a:solidFill>
            <a:srgbClr val="E5EFF9"/>
          </a:solidFill>
          <a:ln w="13970">
            <a:solidFill>
              <a:srgbClr val="326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73368" y="1783080"/>
            <a:ext cx="347472" cy="2743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400" b="1">
                <a:solidFill>
                  <a:srgbClr val="238B91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1828800"/>
            <a:ext cx="1828800" cy="6400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300" b="1">
                <a:solidFill>
                  <a:srgbClr val="1C375B"/>
                </a:solidFill>
                <a:latin typeface="Aptos"/>
              </a:defRPr>
            </a:pPr>
            <a:r>
              <a:t>Clean &amp; inspect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691640"/>
            <a:ext cx="2423160" cy="960120"/>
          </a:xfrm>
          <a:prstGeom prst="roundRect">
            <a:avLst/>
          </a:prstGeom>
          <a:solidFill>
            <a:srgbClr val="E5EFF9"/>
          </a:solidFill>
          <a:ln w="13970">
            <a:solidFill>
              <a:srgbClr val="326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08007" y="1783080"/>
            <a:ext cx="347472" cy="2743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400" b="1">
                <a:solidFill>
                  <a:srgbClr val="238B91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55480" y="1828800"/>
            <a:ext cx="1828800" cy="6400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300" b="1">
                <a:solidFill>
                  <a:srgbClr val="1C375B"/>
                </a:solidFill>
                <a:latin typeface="Aptos"/>
              </a:defRPr>
            </a:pPr>
            <a:r>
              <a:t>Descriptive stats + trend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794760"/>
            <a:ext cx="2423160" cy="960120"/>
          </a:xfrm>
          <a:prstGeom prst="roundRect">
            <a:avLst/>
          </a:prstGeom>
          <a:solidFill>
            <a:srgbClr val="E5EFF9"/>
          </a:solidFill>
          <a:ln w="13970">
            <a:solidFill>
              <a:srgbClr val="326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04088" y="3886200"/>
            <a:ext cx="347472" cy="2743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400" b="1">
                <a:solidFill>
                  <a:srgbClr val="238B91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931920"/>
            <a:ext cx="1828800" cy="6400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300" b="1">
                <a:solidFill>
                  <a:srgbClr val="1C375B"/>
                </a:solidFill>
                <a:latin typeface="Aptos"/>
              </a:defRPr>
            </a:pPr>
            <a:r>
              <a:t>Correlation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29000" y="3794760"/>
            <a:ext cx="2423160" cy="960120"/>
          </a:xfrm>
          <a:prstGeom prst="roundRect">
            <a:avLst/>
          </a:prstGeom>
          <a:solidFill>
            <a:srgbClr val="E5EFF9"/>
          </a:solidFill>
          <a:ln w="13970">
            <a:solidFill>
              <a:srgbClr val="326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538728" y="3886200"/>
            <a:ext cx="347472" cy="2743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400" b="1">
                <a:solidFill>
                  <a:srgbClr val="238B91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86200" y="3931920"/>
            <a:ext cx="1828800" cy="6400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300" b="1">
                <a:solidFill>
                  <a:srgbClr val="1C375B"/>
                </a:solidFill>
                <a:latin typeface="Aptos"/>
              </a:defRPr>
            </a:pPr>
            <a:r>
              <a:t>Regression fit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3794760"/>
            <a:ext cx="2423160" cy="960120"/>
          </a:xfrm>
          <a:prstGeom prst="roundRect">
            <a:avLst/>
          </a:prstGeom>
          <a:solidFill>
            <a:srgbClr val="E5EFF9"/>
          </a:solidFill>
          <a:ln w="13970">
            <a:solidFill>
              <a:srgbClr val="326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73368" y="3886200"/>
            <a:ext cx="347472" cy="2743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400" b="1">
                <a:solidFill>
                  <a:srgbClr val="238B91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3931920"/>
            <a:ext cx="1828800" cy="6400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300" b="1">
                <a:solidFill>
                  <a:srgbClr val="1C375B"/>
                </a:solidFill>
                <a:latin typeface="Aptos"/>
              </a:defRPr>
            </a:pPr>
            <a:r>
              <a:t>Test-set prediction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98280" y="3794760"/>
            <a:ext cx="2423160" cy="960120"/>
          </a:xfrm>
          <a:prstGeom prst="roundRect">
            <a:avLst/>
          </a:prstGeom>
          <a:solidFill>
            <a:srgbClr val="E5EFF9"/>
          </a:solidFill>
          <a:ln w="13970">
            <a:solidFill>
              <a:srgbClr val="326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208007" y="3886200"/>
            <a:ext cx="347472" cy="2743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400" b="1">
                <a:solidFill>
                  <a:srgbClr val="238B91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55480" y="3931920"/>
            <a:ext cx="1828800" cy="6400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300" b="1">
                <a:solidFill>
                  <a:srgbClr val="1C375B"/>
                </a:solidFill>
                <a:latin typeface="Aptos"/>
              </a:defRPr>
            </a:pPr>
            <a:r>
              <a:t>Error + hypothesis test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017520" y="2176272"/>
            <a:ext cx="411480" cy="0"/>
          </a:xfrm>
          <a:prstGeom prst="line">
            <a:avLst/>
          </a:prstGeom>
          <a:ln w="25400">
            <a:solidFill>
              <a:srgbClr val="238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852160" y="2176272"/>
            <a:ext cx="411480" cy="0"/>
          </a:xfrm>
          <a:prstGeom prst="line">
            <a:avLst/>
          </a:prstGeom>
          <a:ln w="25400">
            <a:solidFill>
              <a:srgbClr val="238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686800" y="2176272"/>
            <a:ext cx="411480" cy="0"/>
          </a:xfrm>
          <a:prstGeom prst="line">
            <a:avLst/>
          </a:prstGeom>
          <a:ln w="25400">
            <a:solidFill>
              <a:srgbClr val="238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0287000" y="2651760"/>
            <a:ext cx="0" cy="685800"/>
          </a:xfrm>
          <a:prstGeom prst="line">
            <a:avLst/>
          </a:prstGeom>
          <a:ln w="25400">
            <a:solidFill>
              <a:srgbClr val="238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017520" y="4279392"/>
            <a:ext cx="411480" cy="0"/>
          </a:xfrm>
          <a:prstGeom prst="line">
            <a:avLst/>
          </a:prstGeom>
          <a:ln w="25400">
            <a:solidFill>
              <a:srgbClr val="238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852160" y="4279392"/>
            <a:ext cx="411480" cy="0"/>
          </a:xfrm>
          <a:prstGeom prst="line">
            <a:avLst/>
          </a:prstGeom>
          <a:ln w="25400">
            <a:solidFill>
              <a:srgbClr val="238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686800" y="4279392"/>
            <a:ext cx="411480" cy="0"/>
          </a:xfrm>
          <a:prstGeom prst="line">
            <a:avLst/>
          </a:prstGeom>
          <a:ln w="25400">
            <a:solidFill>
              <a:srgbClr val="238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31520" y="5486400"/>
            <a:ext cx="10789920" cy="4114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1400" b="1">
                <a:solidFill>
                  <a:srgbClr val="556373"/>
                </a:solidFill>
                <a:latin typeface="Aptos"/>
              </a:defRPr>
            </a:pPr>
            <a:r>
              <a:t>Analytical core: descriptive statistics → correlation → fitted regression → independent test evaluation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7315200" cy="2286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900" b="1">
                <a:solidFill>
                  <a:srgbClr val="238B91"/>
                </a:solidFill>
                <a:latin typeface="Aptos"/>
              </a:defRPr>
            </a:pPr>
            <a:r>
              <a:t>MICRO-PROJECT 13 • 25DC210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1155680" cy="47548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2600" b="1">
                <a:solidFill>
                  <a:srgbClr val="1C375B"/>
                </a:solidFill>
                <a:latin typeface="Aptos"/>
              </a:defRPr>
            </a:pPr>
            <a:r>
              <a:t>Course alignment &amp;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41832"/>
            <a:ext cx="1097280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100" b="0">
                <a:solidFill>
                  <a:srgbClr val="556373"/>
                </a:solidFill>
                <a:latin typeface="Aptos"/>
              </a:defRPr>
            </a:pPr>
            <a:r>
              <a:t>Probability &amp; Statistics • Units IV and V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1298448"/>
            <a:ext cx="914400" cy="41148"/>
          </a:xfrm>
          <a:prstGeom prst="rect">
            <a:avLst/>
          </a:prstGeom>
          <a:solidFill>
            <a:srgbClr val="326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>
              <a:defRPr sz="900" b="0">
                <a:solidFill>
                  <a:srgbClr val="556373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731520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800" b="0">
                <a:solidFill>
                  <a:srgbClr val="556373"/>
                </a:solidFill>
                <a:latin typeface="Aptos"/>
              </a:defRPr>
            </a:pPr>
            <a:r>
              <a:t>Karunya Institute of Technology and Sciences • Academic Year 2026–27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45920"/>
            <a:ext cx="3474720" cy="1828800"/>
          </a:xfrm>
          <a:prstGeom prst="roundRect">
            <a:avLst/>
          </a:prstGeom>
          <a:solidFill>
            <a:srgbClr val="F6F9FC"/>
          </a:solidFill>
          <a:ln w="13970">
            <a:solidFill>
              <a:srgbClr val="CA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1645920"/>
            <a:ext cx="73152" cy="1828800"/>
          </a:xfrm>
          <a:prstGeom prst="rect">
            <a:avLst/>
          </a:prstGeom>
          <a:solidFill>
            <a:srgbClr val="326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" y="1755648"/>
            <a:ext cx="320040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500" b="1">
                <a:solidFill>
                  <a:srgbClr val="1C375B"/>
                </a:solidFill>
                <a:latin typeface="Aptos"/>
              </a:defRPr>
            </a:pPr>
            <a:r>
              <a:t>Unit IV — Statistics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121408"/>
            <a:ext cx="3182112" cy="12984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400" b="0">
                <a:solidFill>
                  <a:srgbClr val="232C37"/>
                </a:solidFill>
                <a:latin typeface="Aptos"/>
              </a:defRPr>
            </a:pPr>
            <a:r>
              <a:t>Descriptive measures, time-series trend, Pearson correlation and regression.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645920"/>
            <a:ext cx="3474720" cy="1828800"/>
          </a:xfrm>
          <a:prstGeom prst="roundRect">
            <a:avLst/>
          </a:prstGeom>
          <a:solidFill>
            <a:srgbClr val="F6F9FC"/>
          </a:solidFill>
          <a:ln w="13970">
            <a:solidFill>
              <a:srgbClr val="CA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43400" y="1645920"/>
            <a:ext cx="73152" cy="1828800"/>
          </a:xfrm>
          <a:prstGeom prst="rect">
            <a:avLst/>
          </a:prstGeom>
          <a:solidFill>
            <a:srgbClr val="23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07992" y="1755648"/>
            <a:ext cx="320040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500" b="1">
                <a:solidFill>
                  <a:srgbClr val="1C375B"/>
                </a:solidFill>
                <a:latin typeface="Aptos"/>
              </a:defRPr>
            </a:pPr>
            <a:r>
              <a:t>Prediction evaluation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2121408"/>
            <a:ext cx="3182112" cy="12984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400" b="0">
                <a:solidFill>
                  <a:srgbClr val="232C37"/>
                </a:solidFill>
                <a:latin typeface="Aptos"/>
              </a:defRPr>
            </a:pPr>
            <a:r>
              <a:t>MAE, MSE, RMSE and R² compare predicted values with held-out observations.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645920"/>
            <a:ext cx="3474720" cy="1828800"/>
          </a:xfrm>
          <a:prstGeom prst="roundRect">
            <a:avLst/>
          </a:prstGeom>
          <a:solidFill>
            <a:srgbClr val="F6F9FC"/>
          </a:solidFill>
          <a:ln w="13970">
            <a:solidFill>
              <a:srgbClr val="CA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92440" y="1645920"/>
            <a:ext cx="73152" cy="1828800"/>
          </a:xfrm>
          <a:prstGeom prst="rect">
            <a:avLst/>
          </a:prstGeom>
          <a:solidFill>
            <a:srgbClr val="D29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57031" y="1755648"/>
            <a:ext cx="320040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500" b="1">
                <a:solidFill>
                  <a:srgbClr val="1C375B"/>
                </a:solidFill>
                <a:latin typeface="Aptos"/>
              </a:defRPr>
            </a:pPr>
            <a:r>
              <a:t>Unit V — Validation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1" y="2121408"/>
            <a:ext cx="3182112" cy="12984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400" b="0">
                <a:solidFill>
                  <a:srgbClr val="232C37"/>
                </a:solidFill>
                <a:latin typeface="Aptos"/>
              </a:defRPr>
            </a:pPr>
            <a:r>
              <a:t>Confidence-based reasoning and Student’s t-test, used with assumptions stated.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023360"/>
            <a:ext cx="10698480" cy="1005840"/>
          </a:xfrm>
          <a:prstGeom prst="roundRect">
            <a:avLst/>
          </a:prstGeom>
          <a:solidFill>
            <a:srgbClr val="F6F9FC"/>
          </a:solidFill>
          <a:ln w="13970">
            <a:solidFill>
              <a:srgbClr val="CA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4279392"/>
            <a:ext cx="10149840" cy="4572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1500" b="1">
                <a:solidFill>
                  <a:srgbClr val="1C375B"/>
                </a:solidFill>
                <a:latin typeface="Aptos"/>
              </a:defRPr>
            </a:pPr>
            <a:r>
              <a:t>CO2: model uncertainty • CO3: predict under uncertain workload • CO4: justify statistically • CO5: validate with tests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7315200" cy="2286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900" b="1">
                <a:solidFill>
                  <a:srgbClr val="238B91"/>
                </a:solidFill>
                <a:latin typeface="Aptos"/>
              </a:defRPr>
            </a:pPr>
            <a:r>
              <a:t>MICRO-PROJECT 13 • 25DC210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1155680" cy="47548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2600" b="1">
                <a:solidFill>
                  <a:srgbClr val="1C375B"/>
                </a:solidFill>
                <a:latin typeface="Aptos"/>
              </a:defRPr>
            </a:pPr>
            <a:r>
              <a:t>Dataset design &amp; variables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41832"/>
            <a:ext cx="1097280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100" b="0">
                <a:solidFill>
                  <a:srgbClr val="556373"/>
                </a:solidFill>
                <a:latin typeface="Aptos"/>
              </a:defRPr>
            </a:pPr>
            <a:r>
              <a:t>1,000 simulated time-series observations • seed = 42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1298448"/>
            <a:ext cx="914400" cy="41148"/>
          </a:xfrm>
          <a:prstGeom prst="rect">
            <a:avLst/>
          </a:prstGeom>
          <a:solidFill>
            <a:srgbClr val="326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>
              <a:defRPr sz="900" b="0">
                <a:solidFill>
                  <a:srgbClr val="556373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731520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800" b="0">
                <a:solidFill>
                  <a:srgbClr val="556373"/>
                </a:solidFill>
                <a:latin typeface="Aptos"/>
              </a:defRPr>
            </a:pPr>
            <a:r>
              <a:t>Karunya Institute of Technology and Sciences • Academic Year 2026–27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28800"/>
            <a:ext cx="2057400" cy="1508760"/>
          </a:xfrm>
          <a:prstGeom prst="roundRect">
            <a:avLst/>
          </a:prstGeom>
          <a:solidFill>
            <a:srgbClr val="E5EFF9"/>
          </a:solidFill>
          <a:ln w="13970">
            <a:solidFill>
              <a:srgbClr val="326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" y="2029968"/>
            <a:ext cx="182880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1300" b="1">
                <a:solidFill>
                  <a:srgbClr val="1C375B"/>
                </a:solidFill>
                <a:latin typeface="Aptos"/>
              </a:defRPr>
            </a:pPr>
            <a:r>
              <a:t>Request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578608"/>
            <a:ext cx="1874519" cy="5029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1200" b="0">
                <a:solidFill>
                  <a:srgbClr val="232C37"/>
                </a:solidFill>
                <a:latin typeface="Aptos"/>
              </a:defRPr>
            </a:pPr>
            <a:r>
              <a:t>50–997 req/s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0360" y="1828800"/>
            <a:ext cx="2057400" cy="1508760"/>
          </a:xfrm>
          <a:prstGeom prst="roundRect">
            <a:avLst/>
          </a:prstGeom>
          <a:solidFill>
            <a:srgbClr val="E5EFF9"/>
          </a:solidFill>
          <a:ln w="13970">
            <a:solidFill>
              <a:srgbClr val="326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90088" y="2029968"/>
            <a:ext cx="182880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1300" b="1">
                <a:solidFill>
                  <a:srgbClr val="1C375B"/>
                </a:solidFill>
                <a:latin typeface="Aptos"/>
              </a:defRPr>
            </a:pPr>
            <a:r>
              <a:t>CPU usage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578608"/>
            <a:ext cx="1874519" cy="5029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1200" b="0">
                <a:solidFill>
                  <a:srgbClr val="232C37"/>
                </a:solidFill>
                <a:latin typeface="Aptos"/>
              </a:defRPr>
            </a:pPr>
            <a:r>
              <a:t>1.0–99.5 %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6360" y="1828800"/>
            <a:ext cx="2057400" cy="1508760"/>
          </a:xfrm>
          <a:prstGeom prst="roundRect">
            <a:avLst/>
          </a:prstGeom>
          <a:solidFill>
            <a:srgbClr val="E5EFF9"/>
          </a:solidFill>
          <a:ln w="13970">
            <a:solidFill>
              <a:srgbClr val="326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76088" y="2029968"/>
            <a:ext cx="182880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1300" b="1">
                <a:solidFill>
                  <a:srgbClr val="1C375B"/>
                </a:solidFill>
                <a:latin typeface="Aptos"/>
              </a:defRPr>
            </a:pPr>
            <a:r>
              <a:t>Memory usage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2578608"/>
            <a:ext cx="1874519" cy="5029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1200" b="0">
                <a:solidFill>
                  <a:srgbClr val="232C37"/>
                </a:solidFill>
                <a:latin typeface="Aptos"/>
              </a:defRPr>
            </a:pPr>
            <a:r>
              <a:t>mean 41.03%, SD 12.84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0" y="1828800"/>
            <a:ext cx="2057400" cy="1508760"/>
          </a:xfrm>
          <a:prstGeom prst="roundRect">
            <a:avLst/>
          </a:prstGeom>
          <a:solidFill>
            <a:srgbClr val="E5EFF9"/>
          </a:solidFill>
          <a:ln w="13970">
            <a:solidFill>
              <a:srgbClr val="326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62088" y="2029968"/>
            <a:ext cx="182880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1300" b="1">
                <a:solidFill>
                  <a:srgbClr val="1C375B"/>
                </a:solidFill>
                <a:latin typeface="Aptos"/>
              </a:defRPr>
            </a:pPr>
            <a:r>
              <a:t>Network load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2578608"/>
            <a:ext cx="1874519" cy="5029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1200" b="0">
                <a:solidFill>
                  <a:srgbClr val="232C37"/>
                </a:solidFill>
                <a:latin typeface="Aptos"/>
              </a:defRPr>
            </a:pPr>
            <a:r>
              <a:t>1.02–51.83 MB/s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38360" y="1828800"/>
            <a:ext cx="2057400" cy="1508760"/>
          </a:xfrm>
          <a:prstGeom prst="roundRect">
            <a:avLst/>
          </a:prstGeom>
          <a:solidFill>
            <a:srgbClr val="E7F4EE"/>
          </a:solidFill>
          <a:ln w="13970">
            <a:solidFill>
              <a:srgbClr val="238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848088" y="2029968"/>
            <a:ext cx="182880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1300" b="1">
                <a:solidFill>
                  <a:srgbClr val="1C375B"/>
                </a:solidFill>
                <a:latin typeface="Aptos"/>
              </a:defRPr>
            </a:pPr>
            <a:r>
              <a:t>Response 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29800" y="2578608"/>
            <a:ext cx="1874519" cy="5029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1200" b="0">
                <a:solidFill>
                  <a:srgbClr val="232C37"/>
                </a:solidFill>
                <a:latin typeface="Aptos"/>
              </a:defRPr>
            </a:pPr>
            <a:r>
              <a:t>56.72–619.18 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886200"/>
            <a:ext cx="10607040" cy="4114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1400" b="1">
                <a:solidFill>
                  <a:srgbClr val="3268B2"/>
                </a:solidFill>
                <a:latin typeface="Aptos"/>
              </a:defRPr>
            </a:pPr>
            <a:r>
              <a:t>Predictors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315968"/>
            <a:ext cx="1060704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1400" b="0">
                <a:solidFill>
                  <a:srgbClr val="232C37"/>
                </a:solidFill>
                <a:latin typeface="Aptos"/>
              </a:defRPr>
            </a:pPr>
            <a:r>
              <a:t>Request rate • CPU usage • memory usage • network load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983480"/>
            <a:ext cx="10607040" cy="4114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1600" b="1">
                <a:solidFill>
                  <a:srgbClr val="238B91"/>
                </a:solidFill>
                <a:latin typeface="Aptos"/>
              </a:defRPr>
            </a:pPr>
            <a:r>
              <a:t>Target variable: response time (milliseconds)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532120"/>
            <a:ext cx="10607040" cy="3657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1100" b="0">
                <a:solidFill>
                  <a:srgbClr val="556373"/>
                </a:solidFill>
                <a:latin typeface="Aptos"/>
              </a:defRPr>
            </a:pPr>
            <a:r>
              <a:t>Synthetic data supports reproducibility; findings describe this generated dataset, not a live production server.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7315200" cy="2286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900" b="1">
                <a:solidFill>
                  <a:srgbClr val="238B91"/>
                </a:solidFill>
                <a:latin typeface="Aptos"/>
              </a:defRPr>
            </a:pPr>
            <a:r>
              <a:t>MICRO-PROJECT 13 • 25DC210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1155680" cy="47548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2600" b="1">
                <a:solidFill>
                  <a:srgbClr val="1C375B"/>
                </a:solidFill>
                <a:latin typeface="Aptos"/>
              </a:defRPr>
            </a:pPr>
            <a:r>
              <a:t>Descriptive statistics: centre and spread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41832"/>
            <a:ext cx="1097280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100" b="0">
                <a:solidFill>
                  <a:srgbClr val="556373"/>
                </a:solidFill>
                <a:latin typeface="Aptos"/>
              </a:defRPr>
            </a:pPr>
            <a:r>
              <a:t>Response time varies substantially across the dataset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1298448"/>
            <a:ext cx="914400" cy="41148"/>
          </a:xfrm>
          <a:prstGeom prst="rect">
            <a:avLst/>
          </a:prstGeom>
          <a:solidFill>
            <a:srgbClr val="326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>
              <a:defRPr sz="900" b="0">
                <a:solidFill>
                  <a:srgbClr val="556373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731520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800" b="0">
                <a:solidFill>
                  <a:srgbClr val="556373"/>
                </a:solidFill>
                <a:latin typeface="Aptos"/>
              </a:defRPr>
            </a:pPr>
            <a:r>
              <a:t>Karunya Institute of Technology and Sciences • Academic Year 2026–27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783080"/>
            <a:ext cx="2560320" cy="1508760"/>
          </a:xfrm>
          <a:prstGeom prst="roundRect">
            <a:avLst/>
          </a:prstGeom>
          <a:solidFill>
            <a:srgbClr val="F6F9FC"/>
          </a:solidFill>
          <a:ln w="13970">
            <a:solidFill>
              <a:srgbClr val="CA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965960"/>
            <a:ext cx="237744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1200" b="1">
                <a:solidFill>
                  <a:srgbClr val="556373"/>
                </a:solidFill>
                <a:latin typeface="Aptos"/>
              </a:defRPr>
            </a:pPr>
            <a:r>
              <a:t>Mean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377440"/>
            <a:ext cx="2423160" cy="4114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2000" b="1">
                <a:solidFill>
                  <a:srgbClr val="1C375B"/>
                </a:solidFill>
                <a:latin typeface="Aptos"/>
              </a:defRPr>
            </a:pPr>
            <a:r>
              <a:t>320.41 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852928"/>
            <a:ext cx="2377440" cy="2286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1000" b="0">
                <a:solidFill>
                  <a:srgbClr val="556373"/>
                </a:solidFill>
                <a:latin typeface="Aptos"/>
              </a:defRPr>
            </a:pPr>
            <a:r>
              <a:t>Arithmetic centre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1783080"/>
            <a:ext cx="2560320" cy="1508760"/>
          </a:xfrm>
          <a:prstGeom prst="roundRect">
            <a:avLst/>
          </a:prstGeom>
          <a:solidFill>
            <a:srgbClr val="F6F9FC"/>
          </a:solidFill>
          <a:ln w="13970">
            <a:solidFill>
              <a:srgbClr val="CA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66160" y="1965960"/>
            <a:ext cx="237744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1200" b="1">
                <a:solidFill>
                  <a:srgbClr val="556373"/>
                </a:solidFill>
                <a:latin typeface="Aptos"/>
              </a:defRPr>
            </a:pPr>
            <a:r>
              <a:t>Standard deviation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2377440"/>
            <a:ext cx="2423160" cy="4114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2000" b="1">
                <a:solidFill>
                  <a:srgbClr val="1C375B"/>
                </a:solidFill>
                <a:latin typeface="Aptos"/>
              </a:defRPr>
            </a:pPr>
            <a:r>
              <a:t>118.97 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852928"/>
            <a:ext cx="2377440" cy="2286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1000" b="0">
                <a:solidFill>
                  <a:srgbClr val="556373"/>
                </a:solidFill>
                <a:latin typeface="Aptos"/>
              </a:defRPr>
            </a:pPr>
            <a:r>
              <a:t>Observed dispersion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1783080"/>
            <a:ext cx="2560320" cy="1508760"/>
          </a:xfrm>
          <a:prstGeom prst="roundRect">
            <a:avLst/>
          </a:prstGeom>
          <a:solidFill>
            <a:srgbClr val="F6F9FC"/>
          </a:solidFill>
          <a:ln w="13970">
            <a:solidFill>
              <a:srgbClr val="CA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46520" y="1965960"/>
            <a:ext cx="237744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1200" b="1">
                <a:solidFill>
                  <a:srgbClr val="556373"/>
                </a:solidFill>
                <a:latin typeface="Aptos"/>
              </a:defRPr>
            </a:pPr>
            <a:r>
              <a:t>Range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2377440"/>
            <a:ext cx="2423160" cy="4114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2000" b="1">
                <a:solidFill>
                  <a:srgbClr val="1C375B"/>
                </a:solidFill>
                <a:latin typeface="Aptos"/>
              </a:defRPr>
            </a:pPr>
            <a:r>
              <a:t>56.72–619.18 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852928"/>
            <a:ext cx="2377440" cy="2286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1000" b="0">
                <a:solidFill>
                  <a:srgbClr val="556373"/>
                </a:solidFill>
                <a:latin typeface="Aptos"/>
              </a:defRPr>
            </a:pPr>
            <a:r>
              <a:t>Minimum to maximum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1783080"/>
            <a:ext cx="2560320" cy="1508760"/>
          </a:xfrm>
          <a:prstGeom prst="roundRect">
            <a:avLst/>
          </a:prstGeom>
          <a:solidFill>
            <a:srgbClr val="F6F9FC"/>
          </a:solidFill>
          <a:ln w="13970">
            <a:solidFill>
              <a:srgbClr val="CA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26880" y="1965960"/>
            <a:ext cx="237744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1200" b="1">
                <a:solidFill>
                  <a:srgbClr val="556373"/>
                </a:solidFill>
                <a:latin typeface="Aptos"/>
              </a:defRPr>
            </a:pPr>
            <a:r>
              <a:t>Coefficient of variation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08592" y="2377440"/>
            <a:ext cx="2423160" cy="4114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2000" b="1">
                <a:solidFill>
                  <a:srgbClr val="1C375B"/>
                </a:solidFill>
                <a:latin typeface="Aptos"/>
              </a:defRPr>
            </a:pPr>
            <a:r>
              <a:t>≈ 37%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2852928"/>
            <a:ext cx="2377440" cy="2286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1000" b="0">
                <a:solidFill>
                  <a:srgbClr val="556373"/>
                </a:solidFill>
                <a:latin typeface="Aptos"/>
              </a:defRPr>
            </a:pPr>
            <a:r>
              <a:t>SD relative to mean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794760"/>
            <a:ext cx="1069848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500" b="1">
                <a:solidFill>
                  <a:srgbClr val="1C375B"/>
                </a:solidFill>
                <a:latin typeface="Aptos"/>
              </a:defRPr>
            </a:pPr>
            <a:r>
              <a:t>How to interpret the measures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206240"/>
            <a:ext cx="10149840" cy="1371600"/>
          </a:xfrm>
          <a:prstGeom prst="rect">
            <a:avLst/>
          </a:prstGeom>
          <a:noFill/>
        </p:spPr>
        <p:txBody>
          <a:bodyPr wrap="square" lIns="73152" tIns="54864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32C37"/>
                </a:solidFill>
                <a:latin typeface="Aptos"/>
              </a:defRPr>
            </a:pPr>
            <a:r>
              <a:t>•  The standard deviation is large relative to the mean, showing meaningful spread.</a:t>
            </a:r>
          </a:p>
          <a:p>
            <a:pPr>
              <a:spcAft>
                <a:spcPts val="900"/>
              </a:spcAft>
              <a:defRPr sz="1300">
                <a:solidFill>
                  <a:srgbClr val="232C37"/>
                </a:solidFill>
                <a:latin typeface="Aptos"/>
              </a:defRPr>
            </a:pPr>
            <a:r>
              <a:t>•  The range spans roughly eleven times from minimum to maximum.</a:t>
            </a:r>
          </a:p>
          <a:p>
            <a:pPr>
              <a:spcAft>
                <a:spcPts val="900"/>
              </a:spcAft>
              <a:defRPr sz="1300">
                <a:solidFill>
                  <a:srgbClr val="232C37"/>
                </a:solidFill>
                <a:latin typeface="Aptos"/>
              </a:defRPr>
            </a:pPr>
            <a:r>
              <a:t>•  These summaries describe the observed sample; they do not alone establish prediction quality.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7315200" cy="2286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900" b="1">
                <a:solidFill>
                  <a:srgbClr val="238B91"/>
                </a:solidFill>
                <a:latin typeface="Aptos"/>
              </a:defRPr>
            </a:pPr>
            <a:r>
              <a:t>MICRO-PROJECT 13 • 25DC210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1155680" cy="47548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2600" b="1">
                <a:solidFill>
                  <a:srgbClr val="1C375B"/>
                </a:solidFill>
                <a:latin typeface="Aptos"/>
              </a:defRPr>
            </a:pPr>
            <a:r>
              <a:t>Time-series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41832"/>
            <a:ext cx="1097280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100" b="0">
                <a:solidFill>
                  <a:srgbClr val="556373"/>
                </a:solidFill>
                <a:latin typeface="Aptos"/>
              </a:defRPr>
            </a:pPr>
            <a:r>
              <a:t>A small positive drift was engineered into the sequence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1298448"/>
            <a:ext cx="914400" cy="41148"/>
          </a:xfrm>
          <a:prstGeom prst="rect">
            <a:avLst/>
          </a:prstGeom>
          <a:solidFill>
            <a:srgbClr val="326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>
              <a:defRPr sz="900" b="0">
                <a:solidFill>
                  <a:srgbClr val="556373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731520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800" b="0">
                <a:solidFill>
                  <a:srgbClr val="556373"/>
                </a:solidFill>
                <a:latin typeface="Aptos"/>
              </a:defRPr>
            </a:pPr>
            <a:r>
              <a:t>Karunya Institute of Technology and Sciences • Academic Year 2026–27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645920"/>
          <a:ext cx="658368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543800" y="1828800"/>
            <a:ext cx="3886200" cy="1371600"/>
          </a:xfrm>
          <a:prstGeom prst="roundRect">
            <a:avLst/>
          </a:prstGeom>
          <a:solidFill>
            <a:srgbClr val="F6F9FC"/>
          </a:solidFill>
          <a:ln w="13970">
            <a:solidFill>
              <a:srgbClr val="CA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543800" y="1828800"/>
            <a:ext cx="73152" cy="1371600"/>
          </a:xfrm>
          <a:prstGeom prst="rect">
            <a:avLst/>
          </a:prstGeom>
          <a:solidFill>
            <a:srgbClr val="23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08392" y="1938528"/>
            <a:ext cx="361188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500" b="1">
                <a:solidFill>
                  <a:srgbClr val="1C375B"/>
                </a:solidFill>
                <a:latin typeface="Aptos"/>
              </a:defRPr>
            </a:pPr>
            <a:r>
              <a:t>Reported trend component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08392" y="2304288"/>
            <a:ext cx="3593592" cy="8412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300" b="0">
                <a:solidFill>
                  <a:srgbClr val="232C37"/>
                </a:solidFill>
                <a:latin typeface="Aptos"/>
              </a:defRPr>
            </a:pPr>
            <a:r>
              <a:t>+0.05 ms per time step was engineered into the generated series.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3474720"/>
            <a:ext cx="3886200" cy="1371600"/>
          </a:xfrm>
          <a:prstGeom prst="roundRect">
            <a:avLst/>
          </a:prstGeom>
          <a:solidFill>
            <a:srgbClr val="F6F9FC"/>
          </a:solidFill>
          <a:ln w="13970">
            <a:solidFill>
              <a:srgbClr val="CA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543800" y="3474720"/>
            <a:ext cx="73152" cy="1371600"/>
          </a:xfrm>
          <a:prstGeom prst="rect">
            <a:avLst/>
          </a:prstGeom>
          <a:solidFill>
            <a:srgbClr val="326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08392" y="3584448"/>
            <a:ext cx="361188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500" b="1">
                <a:solidFill>
                  <a:srgbClr val="1C375B"/>
                </a:solidFill>
                <a:latin typeface="Aptos"/>
              </a:defRPr>
            </a:pPr>
            <a:r>
              <a:t>Correlation with time step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08392" y="3950208"/>
            <a:ext cx="3593592" cy="8412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300" b="0">
                <a:solidFill>
                  <a:srgbClr val="232C37"/>
                </a:solidFill>
                <a:latin typeface="Aptos"/>
              </a:defRPr>
            </a:pPr>
            <a:r>
              <a:t>r = 0.1249 — weak positive association.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5166360"/>
            <a:ext cx="3657600" cy="4114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000" b="0">
                <a:solidFill>
                  <a:srgbClr val="556373"/>
                </a:solidFill>
                <a:latin typeface="Aptos"/>
              </a:defRPr>
            </a:pPr>
            <a:r>
              <a:t>Trend chart is schematic; reported statistics are from the project deck.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5303520"/>
            <a:ext cx="3931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C375B"/>
                </a:solidFill>
                <a:latin typeface="Aptos"/>
              </a:defRPr>
            </a:pPr>
            <a:r>
              <a:t>ACTUAL GENERATED TIME-SERIES OUTPUT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828800"/>
            <a:ext cx="3977639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7315200" cy="2286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900" b="1">
                <a:solidFill>
                  <a:srgbClr val="238B91"/>
                </a:solidFill>
                <a:latin typeface="Aptos"/>
              </a:defRPr>
            </a:pPr>
            <a:r>
              <a:t>MICRO-PROJECT 13 • 25DC210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1155680" cy="47548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2600" b="1">
                <a:solidFill>
                  <a:srgbClr val="1C375B"/>
                </a:solidFill>
                <a:latin typeface="Aptos"/>
              </a:defRPr>
            </a:pPr>
            <a:r>
              <a:t>Correlation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41832"/>
            <a:ext cx="1097280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100" b="0">
                <a:solidFill>
                  <a:srgbClr val="556373"/>
                </a:solidFill>
                <a:latin typeface="Aptos"/>
              </a:defRPr>
            </a:pPr>
            <a:r>
              <a:t>Pearson correlation with response time (n = 1,000)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1298448"/>
            <a:ext cx="914400" cy="41148"/>
          </a:xfrm>
          <a:prstGeom prst="rect">
            <a:avLst/>
          </a:prstGeom>
          <a:solidFill>
            <a:srgbClr val="326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>
              <a:defRPr sz="900" b="0">
                <a:solidFill>
                  <a:srgbClr val="556373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731520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800" b="0">
                <a:solidFill>
                  <a:srgbClr val="556373"/>
                </a:solidFill>
                <a:latin typeface="Aptos"/>
              </a:defRPr>
            </a:pPr>
            <a:r>
              <a:t>Karunya Institute of Technology and Sciences • Academic Year 2026–27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1828800"/>
            <a:ext cx="3657600" cy="1325880"/>
          </a:xfrm>
          <a:prstGeom prst="roundRect">
            <a:avLst/>
          </a:prstGeom>
          <a:solidFill>
            <a:srgbClr val="F6F9FC"/>
          </a:solidFill>
          <a:ln w="13970">
            <a:solidFill>
              <a:srgbClr val="CA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26679" y="1828800"/>
            <a:ext cx="73152" cy="1325880"/>
          </a:xfrm>
          <a:prstGeom prst="rect">
            <a:avLst/>
          </a:prstGeom>
          <a:solidFill>
            <a:srgbClr val="23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91271" y="1938528"/>
            <a:ext cx="338328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500" b="1">
                <a:solidFill>
                  <a:srgbClr val="1C375B"/>
                </a:solidFill>
                <a:latin typeface="Aptos"/>
              </a:defRPr>
            </a:pPr>
            <a:r>
              <a:t>Strongest association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91271" y="2304288"/>
            <a:ext cx="3364992" cy="79552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400" b="0">
                <a:solidFill>
                  <a:srgbClr val="232C37"/>
                </a:solidFill>
                <a:latin typeface="Aptos"/>
              </a:defRPr>
            </a:pPr>
            <a:r>
              <a:t>CPU usage: r = 0.9637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3429000"/>
            <a:ext cx="3657600" cy="1325880"/>
          </a:xfrm>
          <a:prstGeom prst="roundRect">
            <a:avLst/>
          </a:prstGeom>
          <a:solidFill>
            <a:srgbClr val="F6F9FC"/>
          </a:solidFill>
          <a:ln w="13970">
            <a:solidFill>
              <a:srgbClr val="CA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726679" y="3429000"/>
            <a:ext cx="73152" cy="1325880"/>
          </a:xfrm>
          <a:prstGeom prst="rect">
            <a:avLst/>
          </a:prstGeom>
          <a:solidFill>
            <a:srgbClr val="326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91271" y="3538728"/>
            <a:ext cx="338328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500" b="1">
                <a:solidFill>
                  <a:srgbClr val="1C375B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91271" y="3904487"/>
            <a:ext cx="3364992" cy="79552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300" b="0">
                <a:solidFill>
                  <a:srgbClr val="232C37"/>
                </a:solidFill>
                <a:latin typeface="Aptos"/>
              </a:defRPr>
            </a:pPr>
            <a:r>
              <a:t>All four workload predictors are strongly positively associated with response time.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5074920"/>
            <a:ext cx="3566160" cy="5486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100" b="0">
                <a:solidFill>
                  <a:srgbClr val="556373"/>
                </a:solidFill>
                <a:latin typeface="Aptos"/>
              </a:defRPr>
            </a:pPr>
            <a:r>
              <a:t>Correlation indicates association, not causation. Correlated predictors can affect coefficient stability.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5440680"/>
            <a:ext cx="374903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C375B"/>
                </a:solidFill>
                <a:latin typeface="Aptos"/>
              </a:defRPr>
            </a:pPr>
            <a:r>
              <a:t>OUTPUT SCREENSHOT • CPU VS RESPONSE TIME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3312" y="1319022"/>
            <a:ext cx="5927953" cy="523054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7315200" cy="2286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900" b="1">
                <a:solidFill>
                  <a:srgbClr val="238B91"/>
                </a:solidFill>
                <a:latin typeface="Aptos"/>
              </a:defRPr>
            </a:pPr>
            <a:r>
              <a:t>MICRO-PROJECT 13 • 25DC210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1155680" cy="47548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2600" b="1">
                <a:solidFill>
                  <a:srgbClr val="1C375B"/>
                </a:solidFill>
                <a:latin typeface="Aptos"/>
              </a:defRPr>
            </a:pPr>
            <a:r>
              <a:t>Multiple linear regression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41832"/>
            <a:ext cx="1097280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100" b="0">
                <a:solidFill>
                  <a:srgbClr val="556373"/>
                </a:solidFill>
                <a:latin typeface="Aptos"/>
              </a:defRPr>
            </a:pPr>
            <a:r>
              <a:t>The fitted equation estimates response time from four predictors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1298448"/>
            <a:ext cx="914400" cy="41148"/>
          </a:xfrm>
          <a:prstGeom prst="rect">
            <a:avLst/>
          </a:prstGeom>
          <a:solidFill>
            <a:srgbClr val="326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>
              <a:defRPr sz="900" b="0">
                <a:solidFill>
                  <a:srgbClr val="556373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731520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800" b="0">
                <a:solidFill>
                  <a:srgbClr val="556373"/>
                </a:solidFill>
                <a:latin typeface="Aptos"/>
              </a:defRPr>
            </a:pPr>
            <a:r>
              <a:t>Karunya Institute of Technology and Sciences • Academic Year 2026–27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91640"/>
            <a:ext cx="10972800" cy="1143000"/>
          </a:xfrm>
          <a:prstGeom prst="roundRect">
            <a:avLst/>
          </a:prstGeom>
          <a:solidFill>
            <a:srgbClr val="E5EFF9"/>
          </a:solidFill>
          <a:ln w="13970">
            <a:solidFill>
              <a:srgbClr val="326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938528"/>
            <a:ext cx="10515600" cy="5029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1700" b="1">
                <a:solidFill>
                  <a:srgbClr val="1C375B"/>
                </a:solidFill>
                <a:latin typeface="Aptos"/>
              </a:defRPr>
            </a:pPr>
            <a:r>
              <a:t>Ŷ = 73.53 + 0.052(Request Rate) + 2.416(CPU) + 1.447(Memory) + 2.220(Network)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337560"/>
            <a:ext cx="2103120" cy="1097280"/>
          </a:xfrm>
          <a:prstGeom prst="roundRect">
            <a:avLst/>
          </a:prstGeom>
          <a:solidFill>
            <a:srgbClr val="F6F9FC"/>
          </a:solidFill>
          <a:ln w="13970">
            <a:solidFill>
              <a:srgbClr val="CA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3520440"/>
            <a:ext cx="1920240" cy="2743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1200" b="1">
                <a:solidFill>
                  <a:srgbClr val="556373"/>
                </a:solidFill>
                <a:latin typeface="Aptos"/>
              </a:defRPr>
            </a:pPr>
            <a:r>
              <a:t>Intercept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931920"/>
            <a:ext cx="192024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1900" b="1">
                <a:solidFill>
                  <a:srgbClr val="3268B2"/>
                </a:solidFill>
                <a:latin typeface="Aptos"/>
              </a:defRPr>
            </a:pPr>
            <a:r>
              <a:t>73.53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80360" y="3337560"/>
            <a:ext cx="2103120" cy="1097280"/>
          </a:xfrm>
          <a:prstGeom prst="roundRect">
            <a:avLst/>
          </a:prstGeom>
          <a:solidFill>
            <a:srgbClr val="F6F9FC"/>
          </a:solidFill>
          <a:ln w="13970">
            <a:solidFill>
              <a:srgbClr val="CA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71800" y="3520440"/>
            <a:ext cx="1920240" cy="2743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1200" b="1">
                <a:solidFill>
                  <a:srgbClr val="556373"/>
                </a:solidFill>
                <a:latin typeface="Aptos"/>
              </a:defRPr>
            </a:pPr>
            <a:r>
              <a:t>Request 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3931920"/>
            <a:ext cx="192024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1900" b="1">
                <a:solidFill>
                  <a:srgbClr val="3268B2"/>
                </a:solidFill>
                <a:latin typeface="Aptos"/>
              </a:defRPr>
            </a:pPr>
            <a:r>
              <a:t>0.052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12079" y="3337560"/>
            <a:ext cx="2103120" cy="1097280"/>
          </a:xfrm>
          <a:prstGeom prst="roundRect">
            <a:avLst/>
          </a:prstGeom>
          <a:solidFill>
            <a:srgbClr val="F6F9FC"/>
          </a:solidFill>
          <a:ln w="13970">
            <a:solidFill>
              <a:srgbClr val="CA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03519" y="3520440"/>
            <a:ext cx="1920240" cy="2743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1200" b="1">
                <a:solidFill>
                  <a:srgbClr val="556373"/>
                </a:solidFill>
                <a:latin typeface="Aptos"/>
              </a:defRPr>
            </a:pPr>
            <a:r>
              <a:t>CPU usage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19" y="3931920"/>
            <a:ext cx="192024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1900" b="1">
                <a:solidFill>
                  <a:srgbClr val="3268B2"/>
                </a:solidFill>
                <a:latin typeface="Aptos"/>
              </a:defRPr>
            </a:pPr>
            <a:r>
              <a:t>2.416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43800" y="3337560"/>
            <a:ext cx="2103120" cy="1097280"/>
          </a:xfrm>
          <a:prstGeom prst="roundRect">
            <a:avLst/>
          </a:prstGeom>
          <a:solidFill>
            <a:srgbClr val="F6F9FC"/>
          </a:solidFill>
          <a:ln w="13970">
            <a:solidFill>
              <a:srgbClr val="CA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35240" y="3520440"/>
            <a:ext cx="1920240" cy="2743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1200" b="1">
                <a:solidFill>
                  <a:srgbClr val="556373"/>
                </a:solidFill>
                <a:latin typeface="Aptos"/>
              </a:defRPr>
            </a:pPr>
            <a:r>
              <a:t>Memory usage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40" y="3931920"/>
            <a:ext cx="192024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1900" b="1">
                <a:solidFill>
                  <a:srgbClr val="3268B2"/>
                </a:solidFill>
                <a:latin typeface="Aptos"/>
              </a:defRPr>
            </a:pPr>
            <a:r>
              <a:t>1.447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75519" y="3337560"/>
            <a:ext cx="2103120" cy="1097280"/>
          </a:xfrm>
          <a:prstGeom prst="roundRect">
            <a:avLst/>
          </a:prstGeom>
          <a:solidFill>
            <a:srgbClr val="F6F9FC"/>
          </a:solidFill>
          <a:ln w="13970">
            <a:solidFill>
              <a:srgbClr val="CA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966959" y="3520440"/>
            <a:ext cx="1920240" cy="2743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1200" b="1">
                <a:solidFill>
                  <a:srgbClr val="556373"/>
                </a:solidFill>
                <a:latin typeface="Aptos"/>
              </a:defRPr>
            </a:pPr>
            <a:r>
              <a:t>Network load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59" y="3931920"/>
            <a:ext cx="192024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1900" b="1">
                <a:solidFill>
                  <a:srgbClr val="3268B2"/>
                </a:solidFill>
                <a:latin typeface="Aptos"/>
              </a:defRPr>
            </a:pPr>
            <a:r>
              <a:t>2.220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892040"/>
            <a:ext cx="10515600" cy="6400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1300" b="0">
                <a:solidFill>
                  <a:srgbClr val="232C37"/>
                </a:solidFill>
                <a:latin typeface="Aptos"/>
              </a:defRPr>
            </a:pPr>
            <a:r>
              <a:t>Coefficients describe fitted conditional relationships. Because predictors may be correlated, interpret individual effects cautiously.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7315200" cy="2286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900" b="1">
                <a:solidFill>
                  <a:srgbClr val="238B91"/>
                </a:solidFill>
                <a:latin typeface="Aptos"/>
              </a:defRPr>
            </a:pPr>
            <a:r>
              <a:t>MICRO-PROJECT 13 • 25DC210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1155680" cy="47548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2600" b="1">
                <a:solidFill>
                  <a:srgbClr val="1C375B"/>
                </a:solidFill>
                <a:latin typeface="Aptos"/>
              </a:defRPr>
            </a:pPr>
            <a:r>
              <a:t>Model fitting &amp; test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41832"/>
            <a:ext cx="1097280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100" b="0">
                <a:solidFill>
                  <a:srgbClr val="556373"/>
                </a:solidFill>
                <a:latin typeface="Aptos"/>
              </a:defRPr>
            </a:pPr>
            <a:r>
              <a:t>Separate model development from evaluation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1298448"/>
            <a:ext cx="914400" cy="41148"/>
          </a:xfrm>
          <a:prstGeom prst="rect">
            <a:avLst/>
          </a:prstGeom>
          <a:solidFill>
            <a:srgbClr val="326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>
              <a:defRPr sz="900" b="0">
                <a:solidFill>
                  <a:srgbClr val="556373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731520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800" b="0">
                <a:solidFill>
                  <a:srgbClr val="556373"/>
                </a:solidFill>
                <a:latin typeface="Aptos"/>
              </a:defRPr>
            </a:pPr>
            <a:r>
              <a:t>Karunya Institute of Technology and Sciences • Academic Year 2026–27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4846320" cy="1188720"/>
          </a:xfrm>
          <a:prstGeom prst="roundRect">
            <a:avLst/>
          </a:prstGeom>
          <a:solidFill>
            <a:srgbClr val="E5EFF9"/>
          </a:solidFill>
          <a:ln w="13970">
            <a:solidFill>
              <a:srgbClr val="326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448056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1600" b="1">
                <a:solidFill>
                  <a:srgbClr val="1C375B"/>
                </a:solidFill>
                <a:latin typeface="Aptos"/>
              </a:defRPr>
            </a:pPr>
            <a:r>
              <a:t>TRAINING SET • 800 OBSERVATIONS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23160"/>
            <a:ext cx="448056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1200" b="0">
                <a:solidFill>
                  <a:srgbClr val="556373"/>
                </a:solidFill>
                <a:latin typeface="Aptos"/>
              </a:defRPr>
            </a:pPr>
            <a:r>
              <a:t>Fit ordinary least-squares regression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1828800"/>
            <a:ext cx="4846320" cy="1188720"/>
          </a:xfrm>
          <a:prstGeom prst="roundRect">
            <a:avLst/>
          </a:prstGeom>
          <a:solidFill>
            <a:srgbClr val="E7F4EE"/>
          </a:solidFill>
          <a:ln w="13970">
            <a:solidFill>
              <a:srgbClr val="238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66560" y="2011680"/>
            <a:ext cx="448056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1600" b="1">
                <a:solidFill>
                  <a:srgbClr val="1C375B"/>
                </a:solidFill>
                <a:latin typeface="Aptos"/>
              </a:defRPr>
            </a:pPr>
            <a:r>
              <a:t>TEST SET • 200 OBSERVATIONS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2423160"/>
            <a:ext cx="448056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1200" b="0">
                <a:solidFill>
                  <a:srgbClr val="556373"/>
                </a:solidFill>
                <a:latin typeface="Aptos"/>
              </a:defRPr>
            </a:pPr>
            <a:r>
              <a:t>Evaluate predictions on held-out data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577840" y="2423160"/>
            <a:ext cx="1005840" cy="0"/>
          </a:xfrm>
          <a:prstGeom prst="line">
            <a:avLst/>
          </a:prstGeom>
          <a:ln w="25400">
            <a:solidFill>
              <a:srgbClr val="238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14400" y="3794760"/>
            <a:ext cx="3108960" cy="1234440"/>
          </a:xfrm>
          <a:prstGeom prst="roundRect">
            <a:avLst/>
          </a:prstGeom>
          <a:solidFill>
            <a:srgbClr val="F6F9FC"/>
          </a:solidFill>
          <a:ln w="13970">
            <a:solidFill>
              <a:srgbClr val="CA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14400" y="3794760"/>
            <a:ext cx="73152" cy="1234440"/>
          </a:xfrm>
          <a:prstGeom prst="rect">
            <a:avLst/>
          </a:prstGeom>
          <a:solidFill>
            <a:srgbClr val="326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78992" y="3904488"/>
            <a:ext cx="283464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500" b="1">
                <a:solidFill>
                  <a:srgbClr val="1C375B"/>
                </a:solidFill>
                <a:latin typeface="Aptos"/>
              </a:defRPr>
            </a:pPr>
            <a:r>
              <a:t>Actual vs predicted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4270248"/>
            <a:ext cx="2816352" cy="70408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200" b="0">
                <a:solidFill>
                  <a:srgbClr val="232C37"/>
                </a:solidFill>
                <a:latin typeface="Aptos"/>
              </a:defRPr>
            </a:pPr>
            <a:r>
              <a:t>Compare each test response with its model estimate.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26280" y="3794760"/>
            <a:ext cx="3108960" cy="1234440"/>
          </a:xfrm>
          <a:prstGeom prst="roundRect">
            <a:avLst/>
          </a:prstGeom>
          <a:solidFill>
            <a:srgbClr val="F6F9FC"/>
          </a:solidFill>
          <a:ln w="13970">
            <a:solidFill>
              <a:srgbClr val="CA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26280" y="3794760"/>
            <a:ext cx="73152" cy="1234440"/>
          </a:xfrm>
          <a:prstGeom prst="rect">
            <a:avLst/>
          </a:prstGeom>
          <a:solidFill>
            <a:srgbClr val="23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90872" y="3904488"/>
            <a:ext cx="283464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500" b="1">
                <a:solidFill>
                  <a:srgbClr val="1C375B"/>
                </a:solidFill>
                <a:latin typeface="Aptos"/>
              </a:defRPr>
            </a:pPr>
            <a:r>
              <a:t>Residual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90872" y="4270248"/>
            <a:ext cx="2816352" cy="70408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200" b="0">
                <a:solidFill>
                  <a:srgbClr val="232C37"/>
                </a:solidFill>
                <a:latin typeface="Aptos"/>
              </a:defRPr>
            </a:pPr>
            <a:r>
              <a:t>Residual = actual − predicted.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3794760"/>
            <a:ext cx="3108960" cy="1234440"/>
          </a:xfrm>
          <a:prstGeom prst="roundRect">
            <a:avLst/>
          </a:prstGeom>
          <a:solidFill>
            <a:srgbClr val="F6F9FC"/>
          </a:solidFill>
          <a:ln w="13970">
            <a:solidFill>
              <a:srgbClr val="CA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138160" y="3794760"/>
            <a:ext cx="73152" cy="1234440"/>
          </a:xfrm>
          <a:prstGeom prst="rect">
            <a:avLst/>
          </a:prstGeom>
          <a:solidFill>
            <a:srgbClr val="D29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02752" y="3904488"/>
            <a:ext cx="283464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500" b="1">
                <a:solidFill>
                  <a:srgbClr val="1C375B"/>
                </a:solidFill>
                <a:latin typeface="Aptos"/>
              </a:defRPr>
            </a:pPr>
            <a:r>
              <a:t>Error metrics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2752" y="4270248"/>
            <a:ext cx="2816352" cy="70408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200" b="0">
                <a:solidFill>
                  <a:srgbClr val="232C37"/>
                </a:solidFill>
                <a:latin typeface="Aptos"/>
              </a:defRPr>
            </a:pPr>
            <a:r>
              <a:t>Summarise typical and squared error.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7315200" cy="2286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900" b="1">
                <a:solidFill>
                  <a:srgbClr val="238B91"/>
                </a:solidFill>
                <a:latin typeface="Aptos"/>
              </a:defRPr>
            </a:pPr>
            <a:r>
              <a:t>MICRO-PROJECT 13 • 25DC210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1155680" cy="47548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2600" b="1">
                <a:solidFill>
                  <a:srgbClr val="1C375B"/>
                </a:solidFill>
                <a:latin typeface="Aptos"/>
              </a:defRPr>
            </a:pPr>
            <a:r>
              <a:t>Prediction accuracy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41832"/>
            <a:ext cx="1097280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100" b="0">
                <a:solidFill>
                  <a:srgbClr val="556373"/>
                </a:solidFill>
                <a:latin typeface="Aptos"/>
              </a:defRPr>
            </a:pPr>
            <a:r>
              <a:t>Held-out test set • 200 observations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1298448"/>
            <a:ext cx="914400" cy="41148"/>
          </a:xfrm>
          <a:prstGeom prst="rect">
            <a:avLst/>
          </a:prstGeom>
          <a:solidFill>
            <a:srgbClr val="326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>
              <a:defRPr sz="900" b="0">
                <a:solidFill>
                  <a:srgbClr val="556373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731520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800" b="0">
                <a:solidFill>
                  <a:srgbClr val="556373"/>
                </a:solidFill>
                <a:latin typeface="Aptos"/>
              </a:defRPr>
            </a:pPr>
            <a:r>
              <a:t>Karunya Institute of Technology and Sciences • Academic Year 2026–27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828800"/>
            <a:ext cx="3200400" cy="1828800"/>
          </a:xfrm>
          <a:prstGeom prst="roundRect">
            <a:avLst/>
          </a:prstGeom>
          <a:solidFill>
            <a:srgbClr val="E5EFF9"/>
          </a:solidFill>
          <a:ln w="13970">
            <a:solidFill>
              <a:srgbClr val="326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2103120"/>
            <a:ext cx="292608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1500" b="1">
                <a:solidFill>
                  <a:srgbClr val="238B91"/>
                </a:solidFill>
                <a:latin typeface="Aptos"/>
              </a:defRPr>
            </a:pPr>
            <a:r>
              <a:t>MAE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560320"/>
            <a:ext cx="2926080" cy="5029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2500" b="1">
                <a:solidFill>
                  <a:srgbClr val="1C375B"/>
                </a:solidFill>
                <a:latin typeface="Aptos"/>
              </a:defRPr>
            </a:pPr>
            <a:r>
              <a:t>20.21 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154680"/>
            <a:ext cx="292608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1200" b="0">
                <a:solidFill>
                  <a:srgbClr val="556373"/>
                </a:solidFill>
                <a:latin typeface="Aptos"/>
              </a:defRPr>
            </a:pPr>
            <a:r>
              <a:t>Average absolute error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1828800"/>
            <a:ext cx="3200400" cy="1828800"/>
          </a:xfrm>
          <a:prstGeom prst="roundRect">
            <a:avLst/>
          </a:prstGeom>
          <a:solidFill>
            <a:srgbClr val="E5EFF9"/>
          </a:solidFill>
          <a:ln w="13970">
            <a:solidFill>
              <a:srgbClr val="326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00600" y="2103120"/>
            <a:ext cx="292608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1500" b="1">
                <a:solidFill>
                  <a:srgbClr val="238B91"/>
                </a:solidFill>
                <a:latin typeface="Aptos"/>
              </a:defRPr>
            </a:pPr>
            <a:r>
              <a:t>RMSE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560320"/>
            <a:ext cx="2926080" cy="5029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2500" b="1">
                <a:solidFill>
                  <a:srgbClr val="1C375B"/>
                </a:solidFill>
                <a:latin typeface="Aptos"/>
              </a:defRPr>
            </a:pPr>
            <a:r>
              <a:t>25.26 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3154680"/>
            <a:ext cx="292608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1200" b="0">
                <a:solidFill>
                  <a:srgbClr val="556373"/>
                </a:solidFill>
                <a:latin typeface="Aptos"/>
              </a:defRPr>
            </a:pPr>
            <a:r>
              <a:t>Penalises larger errors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1828800"/>
            <a:ext cx="3200400" cy="1828800"/>
          </a:xfrm>
          <a:prstGeom prst="roundRect">
            <a:avLst/>
          </a:prstGeom>
          <a:solidFill>
            <a:srgbClr val="E5EFF9"/>
          </a:solidFill>
          <a:ln w="13970">
            <a:solidFill>
              <a:srgbClr val="326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49640" y="2103120"/>
            <a:ext cx="292608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1500" b="1">
                <a:solidFill>
                  <a:srgbClr val="238B91"/>
                </a:solidFill>
                <a:latin typeface="Aptos"/>
              </a:defRPr>
            </a:pPr>
            <a:r>
              <a:t>R²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2560320"/>
            <a:ext cx="2926080" cy="5029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2500" b="1">
                <a:solidFill>
                  <a:srgbClr val="1C375B"/>
                </a:solidFill>
                <a:latin typeface="Aptos"/>
              </a:defRPr>
            </a:pPr>
            <a:r>
              <a:t>0.9505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3154680"/>
            <a:ext cx="292608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1200" b="0">
                <a:solidFill>
                  <a:srgbClr val="556373"/>
                </a:solidFill>
                <a:latin typeface="Aptos"/>
              </a:defRPr>
            </a:pPr>
            <a:r>
              <a:t>95.05% variance explained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251960"/>
            <a:ext cx="10058400" cy="7315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1500" b="0">
                <a:solidFill>
                  <a:srgbClr val="232C37"/>
                </a:solidFill>
                <a:latin typeface="Aptos"/>
              </a:defRPr>
            </a:pPr>
            <a:r>
              <a:t>The reported RMSE is about 25% higher than MAE. Together with R², these metrics indicate a strong fit on this generated test set.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212080"/>
            <a:ext cx="10058400" cy="3657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1100" b="0">
                <a:solidFill>
                  <a:srgbClr val="556373"/>
                </a:solidFill>
                <a:latin typeface="Aptos"/>
              </a:defRPr>
            </a:pPr>
            <a:r>
              <a:t>Accuracy is bounded by the simulated data design and observed workload range.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166360"/>
            <a:ext cx="5303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C375B"/>
                </a:solidFill>
                <a:latin typeface="Aptos"/>
              </a:defRPr>
            </a:pPr>
            <a:r>
              <a:t>ACTUAL MODEL OUTPUT • PREDICTED VS ACTUAL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691640"/>
            <a:ext cx="5394960" cy="374903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7315200" cy="2286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900" b="1">
                <a:solidFill>
                  <a:srgbClr val="238B91"/>
                </a:solidFill>
                <a:latin typeface="Aptos"/>
              </a:defRPr>
            </a:pPr>
            <a:r>
              <a:t>MICRO-PROJECT 13 • 25DC210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1155680" cy="47548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2600" b="1">
                <a:solidFill>
                  <a:srgbClr val="1C375B"/>
                </a:solidFill>
                <a:latin typeface="Aptos"/>
              </a:defRPr>
            </a:pPr>
            <a:r>
              <a:t>Hypothesis testing: mean residual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41832"/>
            <a:ext cx="1097280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100" b="0">
                <a:solidFill>
                  <a:srgbClr val="556373"/>
                </a:solidFill>
                <a:latin typeface="Aptos"/>
              </a:defRPr>
            </a:pPr>
            <a:r>
              <a:t>Student’s one-sample t-test • α = 0.05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1298448"/>
            <a:ext cx="914400" cy="41148"/>
          </a:xfrm>
          <a:prstGeom prst="rect">
            <a:avLst/>
          </a:prstGeom>
          <a:solidFill>
            <a:srgbClr val="326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>
              <a:defRPr sz="900" b="0">
                <a:solidFill>
                  <a:srgbClr val="556373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731520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800" b="0">
                <a:solidFill>
                  <a:srgbClr val="556373"/>
                </a:solidFill>
                <a:latin typeface="Aptos"/>
              </a:defRPr>
            </a:pPr>
            <a:r>
              <a:t>Karunya Institute of Technology and Sciences • Academic Year 2026–27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3291840" cy="1280160"/>
          </a:xfrm>
          <a:prstGeom prst="roundRect">
            <a:avLst/>
          </a:prstGeom>
          <a:solidFill>
            <a:srgbClr val="F6F9FC"/>
          </a:solidFill>
          <a:ln w="13970">
            <a:solidFill>
              <a:srgbClr val="CA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737360"/>
            <a:ext cx="73152" cy="1280160"/>
          </a:xfrm>
          <a:prstGeom prst="rect">
            <a:avLst/>
          </a:prstGeom>
          <a:solidFill>
            <a:srgbClr val="326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1" y="1847088"/>
            <a:ext cx="301752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500" b="1">
                <a:solidFill>
                  <a:srgbClr val="1C375B"/>
                </a:solidFill>
                <a:latin typeface="Aptos"/>
              </a:defRPr>
            </a:pPr>
            <a:r>
              <a:t>Null hypothesis (H₀)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2212848"/>
            <a:ext cx="2999232" cy="74980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400" b="0">
                <a:solidFill>
                  <a:srgbClr val="232C37"/>
                </a:solidFill>
                <a:latin typeface="Aptos"/>
              </a:defRPr>
            </a:pPr>
            <a:r>
              <a:t>Mean prediction error = 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737360"/>
            <a:ext cx="3291840" cy="1280160"/>
          </a:xfrm>
          <a:prstGeom prst="roundRect">
            <a:avLst/>
          </a:prstGeom>
          <a:solidFill>
            <a:srgbClr val="F6F9FC"/>
          </a:solidFill>
          <a:ln w="13970">
            <a:solidFill>
              <a:srgbClr val="CA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34840" y="1737360"/>
            <a:ext cx="73152" cy="1280160"/>
          </a:xfrm>
          <a:prstGeom prst="rect">
            <a:avLst/>
          </a:prstGeom>
          <a:solidFill>
            <a:srgbClr val="23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9431" y="1847088"/>
            <a:ext cx="301752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500" b="1">
                <a:solidFill>
                  <a:srgbClr val="1C375B"/>
                </a:solidFill>
                <a:latin typeface="Aptos"/>
              </a:defRPr>
            </a:pPr>
            <a:r>
              <a:t>Alternative (H₁)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1" y="2212848"/>
            <a:ext cx="2999232" cy="74980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400" b="0">
                <a:solidFill>
                  <a:srgbClr val="232C37"/>
                </a:solidFill>
                <a:latin typeface="Aptos"/>
              </a:defRPr>
            </a:pPr>
            <a:r>
              <a:t>Mean prediction error ≠ 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737360"/>
            <a:ext cx="3291840" cy="1280160"/>
          </a:xfrm>
          <a:prstGeom prst="roundRect">
            <a:avLst/>
          </a:prstGeom>
          <a:solidFill>
            <a:srgbClr val="F6F9FC"/>
          </a:solidFill>
          <a:ln w="13970">
            <a:solidFill>
              <a:srgbClr val="CA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29600" y="1737360"/>
            <a:ext cx="73152" cy="1280160"/>
          </a:xfrm>
          <a:prstGeom prst="rect">
            <a:avLst/>
          </a:prstGeom>
          <a:solidFill>
            <a:srgbClr val="D29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94192" y="1847088"/>
            <a:ext cx="301752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500" b="1">
                <a:solidFill>
                  <a:srgbClr val="1C375B"/>
                </a:solidFill>
                <a:latin typeface="Aptos"/>
              </a:defRPr>
            </a:pPr>
            <a:r>
              <a:t>Reported result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2212848"/>
            <a:ext cx="2999232" cy="74980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400" b="0">
                <a:solidFill>
                  <a:srgbClr val="232C37"/>
                </a:solidFill>
                <a:latin typeface="Aptos"/>
              </a:defRPr>
            </a:pPr>
            <a:r>
              <a:t>t = 0.3931 • p = 0.6947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3657600"/>
            <a:ext cx="10332720" cy="1097280"/>
          </a:xfrm>
          <a:prstGeom prst="roundRect">
            <a:avLst/>
          </a:prstGeom>
          <a:solidFill>
            <a:srgbClr val="E7F4EE"/>
          </a:solidFill>
          <a:ln w="13970">
            <a:solidFill>
              <a:srgbClr val="3884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43000" y="3913632"/>
            <a:ext cx="9875520" cy="5029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1600" b="1">
                <a:solidFill>
                  <a:srgbClr val="388461"/>
                </a:solidFill>
                <a:latin typeface="Aptos"/>
              </a:defRPr>
            </a:pPr>
            <a:r>
              <a:t>Since p &gt; 0.05, fail to reject H₀: the test does not find evidence of a non-zero mean residual.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166360"/>
            <a:ext cx="10332720" cy="5029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1200" b="0">
                <a:solidFill>
                  <a:srgbClr val="556373"/>
                </a:solidFill>
                <a:latin typeface="Aptos"/>
              </a:defRPr>
            </a:pPr>
            <a:r>
              <a:t>This is not proof that every prediction is unbiased; the conclusion depends on test assumptions and the residual sample.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5166360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C375B"/>
                </a:solidFill>
                <a:latin typeface="Aptos"/>
              </a:defRPr>
            </a:pPr>
            <a:r>
              <a:t>ACTUAL MODEL OUTPUT • RESIDUAL DISTRIBUTION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91640"/>
            <a:ext cx="4846320" cy="33375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7315200" cy="2286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900" b="1">
                <a:solidFill>
                  <a:srgbClr val="238B91"/>
                </a:solidFill>
                <a:latin typeface="Aptos"/>
              </a:defRPr>
            </a:pPr>
            <a:r>
              <a:t>MICRO-PROJECT 13 • 25DC210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1155680" cy="47548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2600" b="1">
                <a:solidFill>
                  <a:srgbClr val="1C375B"/>
                </a:solidFill>
                <a:latin typeface="Aptos"/>
              </a:defRPr>
            </a:pPr>
            <a:r>
              <a:t>Results dashboard &amp;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41832"/>
            <a:ext cx="1097280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100" b="0">
                <a:solidFill>
                  <a:srgbClr val="556373"/>
                </a:solidFill>
                <a:latin typeface="Aptos"/>
              </a:defRPr>
            </a:pPr>
            <a:r>
              <a:t>Key findings in one evidence-led 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1298448"/>
            <a:ext cx="914400" cy="41148"/>
          </a:xfrm>
          <a:prstGeom prst="rect">
            <a:avLst/>
          </a:prstGeom>
          <a:solidFill>
            <a:srgbClr val="326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>
              <a:defRPr sz="900" b="0">
                <a:solidFill>
                  <a:srgbClr val="556373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731520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800" b="0">
                <a:solidFill>
                  <a:srgbClr val="556373"/>
                </a:solidFill>
                <a:latin typeface="Aptos"/>
              </a:defRPr>
            </a:pPr>
            <a:r>
              <a:t>Karunya Institute of Technology and Sciences • Academic Year 2026–27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1828800" cy="2743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200" b="1">
                <a:solidFill>
                  <a:srgbClr val="1C375B"/>
                </a:solidFill>
                <a:latin typeface="Aptos"/>
              </a:defRPr>
            </a:pPr>
            <a:r>
              <a:t>CPU correlation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755648"/>
            <a:ext cx="4023360" cy="256032"/>
          </a:xfrm>
          <a:prstGeom prst="rect">
            <a:avLst/>
          </a:prstGeom>
          <a:solidFill>
            <a:srgbClr val="F6F9FC"/>
          </a:solidFill>
          <a:ln w="1397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651760" y="1755648"/>
            <a:ext cx="3877312" cy="256032"/>
          </a:xfrm>
          <a:prstGeom prst="rect">
            <a:avLst/>
          </a:prstGeom>
          <a:solidFill>
            <a:srgbClr val="3268B2"/>
          </a:solidFill>
          <a:ln w="13970">
            <a:solidFill>
              <a:srgbClr val="326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0" y="1737360"/>
            <a:ext cx="1097280" cy="2743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200" b="1">
                <a:solidFill>
                  <a:srgbClr val="232C37"/>
                </a:solidFill>
                <a:latin typeface="Aptos"/>
              </a:defRPr>
            </a:pPr>
            <a:r>
              <a:t>0.9637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87168"/>
            <a:ext cx="1828800" cy="2743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200" b="1">
                <a:solidFill>
                  <a:srgbClr val="1C375B"/>
                </a:solidFill>
                <a:latin typeface="Aptos"/>
              </a:defRPr>
            </a:pPr>
            <a:r>
              <a:t>Request rate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51760" y="2505456"/>
            <a:ext cx="4023360" cy="256032"/>
          </a:xfrm>
          <a:prstGeom prst="rect">
            <a:avLst/>
          </a:prstGeom>
          <a:solidFill>
            <a:srgbClr val="F6F9FC"/>
          </a:solidFill>
          <a:ln w="1397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651760" y="2505456"/>
            <a:ext cx="3791212" cy="256032"/>
          </a:xfrm>
          <a:prstGeom prst="rect">
            <a:avLst/>
          </a:prstGeom>
          <a:solidFill>
            <a:srgbClr val="238B91"/>
          </a:solidFill>
          <a:ln w="13970">
            <a:solidFill>
              <a:srgbClr val="238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0" y="2487168"/>
            <a:ext cx="1097280" cy="2743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200" b="1">
                <a:solidFill>
                  <a:srgbClr val="232C37"/>
                </a:solidFill>
                <a:latin typeface="Aptos"/>
              </a:defRPr>
            </a:pPr>
            <a:r>
              <a:t>0.9423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236976"/>
            <a:ext cx="1828800" cy="2743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200" b="1">
                <a:solidFill>
                  <a:srgbClr val="1C375B"/>
                </a:solidFill>
                <a:latin typeface="Aptos"/>
              </a:defRPr>
            </a:pPr>
            <a:r>
              <a:t>Network load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51760" y="3255264"/>
            <a:ext cx="4023360" cy="256032"/>
          </a:xfrm>
          <a:prstGeom prst="rect">
            <a:avLst/>
          </a:prstGeom>
          <a:solidFill>
            <a:srgbClr val="F6F9FC"/>
          </a:solidFill>
          <a:ln w="1397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651760" y="3255264"/>
            <a:ext cx="3777130" cy="256032"/>
          </a:xfrm>
          <a:prstGeom prst="rect">
            <a:avLst/>
          </a:prstGeom>
          <a:solidFill>
            <a:srgbClr val="388461"/>
          </a:solidFill>
          <a:ln w="13970">
            <a:solidFill>
              <a:srgbClr val="3884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0" y="3236976"/>
            <a:ext cx="1097280" cy="2743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200" b="1">
                <a:solidFill>
                  <a:srgbClr val="232C37"/>
                </a:solidFill>
                <a:latin typeface="Aptos"/>
              </a:defRPr>
            </a:pPr>
            <a:r>
              <a:t>0.9388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986783"/>
            <a:ext cx="1828800" cy="2743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200" b="1">
                <a:solidFill>
                  <a:srgbClr val="1C375B"/>
                </a:solidFill>
                <a:latin typeface="Aptos"/>
              </a:defRPr>
            </a:pPr>
            <a:r>
              <a:t>Memory usage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51760" y="4005071"/>
            <a:ext cx="4023360" cy="256032"/>
          </a:xfrm>
          <a:prstGeom prst="rect">
            <a:avLst/>
          </a:prstGeom>
          <a:solidFill>
            <a:srgbClr val="F6F9FC"/>
          </a:solidFill>
          <a:ln w="1397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651760" y="4005071"/>
            <a:ext cx="3660855" cy="256032"/>
          </a:xfrm>
          <a:prstGeom prst="rect">
            <a:avLst/>
          </a:prstGeom>
          <a:solidFill>
            <a:srgbClr val="D29F35"/>
          </a:solidFill>
          <a:ln w="13970">
            <a:solidFill>
              <a:srgbClr val="D29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0" y="3986783"/>
            <a:ext cx="1097280" cy="2743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200" b="1">
                <a:solidFill>
                  <a:srgbClr val="232C37"/>
                </a:solidFill>
                <a:latin typeface="Aptos"/>
              </a:defRPr>
            </a:pPr>
            <a:r>
              <a:t>0.9099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1828800"/>
            <a:ext cx="3108960" cy="1188720"/>
          </a:xfrm>
          <a:prstGeom prst="roundRect">
            <a:avLst/>
          </a:prstGeom>
          <a:solidFill>
            <a:srgbClr val="F6F9FC"/>
          </a:solidFill>
          <a:ln w="13970">
            <a:solidFill>
              <a:srgbClr val="CA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229600" y="1828800"/>
            <a:ext cx="73152" cy="1188720"/>
          </a:xfrm>
          <a:prstGeom prst="rect">
            <a:avLst/>
          </a:prstGeom>
          <a:solidFill>
            <a:srgbClr val="23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94192" y="1938528"/>
            <a:ext cx="283464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500" b="1">
                <a:solidFill>
                  <a:srgbClr val="1C375B"/>
                </a:solidFill>
                <a:latin typeface="Aptos"/>
              </a:defRPr>
            </a:pPr>
            <a:r>
              <a:t>Model fit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2304288"/>
            <a:ext cx="2816352" cy="65836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400" b="0">
                <a:solidFill>
                  <a:srgbClr val="232C37"/>
                </a:solidFill>
                <a:latin typeface="Aptos"/>
              </a:defRPr>
            </a:pPr>
            <a:r>
              <a:t>R² = 0.9505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0" y="3337560"/>
            <a:ext cx="3108960" cy="1188720"/>
          </a:xfrm>
          <a:prstGeom prst="roundRect">
            <a:avLst/>
          </a:prstGeom>
          <a:solidFill>
            <a:srgbClr val="F6F9FC"/>
          </a:solidFill>
          <a:ln w="13970">
            <a:solidFill>
              <a:srgbClr val="CA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229600" y="3337560"/>
            <a:ext cx="73152" cy="1188720"/>
          </a:xfrm>
          <a:prstGeom prst="rect">
            <a:avLst/>
          </a:prstGeom>
          <a:solidFill>
            <a:srgbClr val="326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94192" y="3447288"/>
            <a:ext cx="283464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500" b="1">
                <a:solidFill>
                  <a:srgbClr val="1C375B"/>
                </a:solidFill>
                <a:latin typeface="Aptos"/>
              </a:defRPr>
            </a:pPr>
            <a:r>
              <a:t>Average miss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94192" y="3813048"/>
            <a:ext cx="2816352" cy="65836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400" b="0">
                <a:solidFill>
                  <a:srgbClr val="232C37"/>
                </a:solidFill>
                <a:latin typeface="Aptos"/>
              </a:defRPr>
            </a:pPr>
            <a:r>
              <a:t>MAE = 20.21 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166360"/>
            <a:ext cx="10515600" cy="5029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1400" b="1">
                <a:solidFill>
                  <a:srgbClr val="1C375B"/>
                </a:solidFill>
                <a:latin typeface="Aptos"/>
              </a:defRPr>
            </a:pPr>
            <a:r>
              <a:t>Interpretation: strong linear signal in the simulated data; validate further on real telemetry before operational use.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623560"/>
            <a:ext cx="5212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C375B"/>
                </a:solidFill>
                <a:latin typeface="Aptos"/>
              </a:defRPr>
            </a:pPr>
            <a:r>
              <a:t>OUTPUT EVIDENCE • TEST-SET PREDICTIONS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3840480"/>
            <a:ext cx="4800600" cy="19659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7315200" cy="2286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900" b="1">
                <a:solidFill>
                  <a:srgbClr val="238B91"/>
                </a:solidFill>
                <a:latin typeface="Aptos"/>
              </a:defRPr>
            </a:pPr>
            <a:r>
              <a:t>MICRO-PROJECT 13 • 25DC210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1155680" cy="47548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2600" b="1">
                <a:solidFill>
                  <a:srgbClr val="1C375B"/>
                </a:solidFill>
                <a:latin typeface="Aptos"/>
              </a:defRPr>
            </a:pPr>
            <a:r>
              <a:t>Limitations, applications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41832"/>
            <a:ext cx="1097280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100" b="0">
                <a:solidFill>
                  <a:srgbClr val="556373"/>
                </a:solidFill>
                <a:latin typeface="Aptos"/>
              </a:defRPr>
            </a:pPr>
            <a:r>
              <a:t>What the project supports—and what it does not claim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1298448"/>
            <a:ext cx="914400" cy="41148"/>
          </a:xfrm>
          <a:prstGeom prst="rect">
            <a:avLst/>
          </a:prstGeom>
          <a:solidFill>
            <a:srgbClr val="326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>
              <a:defRPr sz="900" b="0">
                <a:solidFill>
                  <a:srgbClr val="556373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731520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800" b="0">
                <a:solidFill>
                  <a:srgbClr val="556373"/>
                </a:solidFill>
                <a:latin typeface="Aptos"/>
              </a:defRPr>
            </a:pPr>
            <a:r>
              <a:t>Karunya Institute of Technology and Sciences • Academic Year 2026–27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91640"/>
            <a:ext cx="3566160" cy="2057400"/>
          </a:xfrm>
          <a:prstGeom prst="roundRect">
            <a:avLst/>
          </a:prstGeom>
          <a:solidFill>
            <a:srgbClr val="F6F9FC"/>
          </a:solidFill>
          <a:ln w="13970">
            <a:solidFill>
              <a:srgbClr val="CA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1691640"/>
            <a:ext cx="73152" cy="2057400"/>
          </a:xfrm>
          <a:prstGeom prst="rect">
            <a:avLst/>
          </a:prstGeom>
          <a:solidFill>
            <a:srgbClr val="388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" y="1801368"/>
            <a:ext cx="329184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500" b="1">
                <a:solidFill>
                  <a:srgbClr val="1C375B"/>
                </a:solidFill>
                <a:latin typeface="Aptos"/>
              </a:defRPr>
            </a:pPr>
            <a:r>
              <a:t>Demonstrated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167128"/>
            <a:ext cx="3273552" cy="15270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200" b="0">
                <a:solidFill>
                  <a:srgbClr val="232C37"/>
                </a:solidFill>
                <a:latin typeface="Aptos"/>
              </a:defRPr>
            </a:pPr>
            <a:r>
              <a:t>• Reproducible 1,000-row simulated dataset</a:t>
            </a:r>
            <a:br/>
            <a:r>
              <a:t>• Correlation and multiple regression</a:t>
            </a:r>
            <a:br/>
            <a:r>
              <a:t>• Held-out error evaluation</a:t>
            </a:r>
            <a:br/>
            <a:r>
              <a:t>• Residual hypothesis test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691640"/>
            <a:ext cx="3566160" cy="2057400"/>
          </a:xfrm>
          <a:prstGeom prst="roundRect">
            <a:avLst/>
          </a:prstGeom>
          <a:solidFill>
            <a:srgbClr val="F6F9FC"/>
          </a:solidFill>
          <a:ln w="13970">
            <a:solidFill>
              <a:srgbClr val="CA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15968" y="1691640"/>
            <a:ext cx="73152" cy="2057400"/>
          </a:xfrm>
          <a:prstGeom prst="rect">
            <a:avLst/>
          </a:prstGeom>
          <a:solidFill>
            <a:srgbClr val="B0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80559" y="1801368"/>
            <a:ext cx="329184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500" b="1">
                <a:solidFill>
                  <a:srgbClr val="1C375B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59" y="2167128"/>
            <a:ext cx="3273552" cy="15270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200" b="0">
                <a:solidFill>
                  <a:srgbClr val="232C37"/>
                </a:solidFill>
                <a:latin typeface="Aptos"/>
              </a:defRPr>
            </a:pPr>
            <a:r>
              <a:t>• Synthetic rather than live server data</a:t>
            </a:r>
            <a:br/>
            <a:r>
              <a:t>• Engineered predictor relationships</a:t>
            </a:r>
            <a:br/>
            <a:r>
              <a:t>• Correlation is not causation</a:t>
            </a:r>
            <a:br/>
            <a:r>
              <a:t>• Generalisation beyond range is unknown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8431" y="1691640"/>
            <a:ext cx="3566160" cy="2057400"/>
          </a:xfrm>
          <a:prstGeom prst="roundRect">
            <a:avLst/>
          </a:prstGeom>
          <a:solidFill>
            <a:srgbClr val="F6F9FC"/>
          </a:solidFill>
          <a:ln w="13970">
            <a:solidFill>
              <a:srgbClr val="CA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28431" y="1691640"/>
            <a:ext cx="73152" cy="2057400"/>
          </a:xfrm>
          <a:prstGeom prst="rect">
            <a:avLst/>
          </a:prstGeom>
          <a:solidFill>
            <a:srgbClr val="D29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93023" y="1801368"/>
            <a:ext cx="329184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500" b="1">
                <a:solidFill>
                  <a:srgbClr val="1C375B"/>
                </a:solidFill>
                <a:latin typeface="Aptos"/>
              </a:defRPr>
            </a:pPr>
            <a:r>
              <a:t>Future 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3023" y="2167128"/>
            <a:ext cx="3273552" cy="15270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200" b="0">
                <a:solidFill>
                  <a:srgbClr val="232C37"/>
                </a:solidFill>
                <a:latin typeface="Aptos"/>
              </a:defRPr>
            </a:pPr>
            <a:r>
              <a:t>• Collect validated real measurements</a:t>
            </a:r>
            <a:br/>
            <a:r>
              <a:t>• Compare alternative regression models</a:t>
            </a:r>
            <a:br/>
            <a:r>
              <a:t>• Check residual assumptions</a:t>
            </a:r>
            <a:br/>
            <a:r>
              <a:t>• Test temporal holdout and drift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251960"/>
            <a:ext cx="10652760" cy="777240"/>
          </a:xfrm>
          <a:prstGeom prst="roundRect">
            <a:avLst/>
          </a:prstGeom>
          <a:solidFill>
            <a:srgbClr val="E5EFF9"/>
          </a:solidFill>
          <a:ln w="13970">
            <a:solidFill>
              <a:srgbClr val="326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0120" y="4434840"/>
            <a:ext cx="10241280" cy="3657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1500" b="1">
                <a:solidFill>
                  <a:srgbClr val="1C375B"/>
                </a:solidFill>
                <a:latin typeface="Aptos"/>
              </a:defRPr>
            </a:pPr>
            <a:r>
              <a:t>Potential use: performance monitoring baselines and capacity-planning experiments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7315200" cy="2286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900" b="1">
                <a:solidFill>
                  <a:srgbClr val="238B91"/>
                </a:solidFill>
                <a:latin typeface="Aptos"/>
              </a:defRPr>
            </a:pPr>
            <a:r>
              <a:t>MICRO-PROJECT 13 • 25DC210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1155680" cy="47548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2600" b="1">
                <a:solidFill>
                  <a:srgbClr val="1C375B"/>
                </a:solidFill>
                <a:latin typeface="Aptos"/>
              </a:defRPr>
            </a:pPr>
            <a:r>
              <a:t>Conclusion &amp;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41832"/>
            <a:ext cx="1097280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100" b="0">
                <a:solidFill>
                  <a:srgbClr val="556373"/>
                </a:solidFill>
                <a:latin typeface="Aptos"/>
              </a:defRPr>
            </a:pPr>
            <a:r>
              <a:t>Statistics turns observed variation into an interpretable prediction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1298448"/>
            <a:ext cx="914400" cy="41148"/>
          </a:xfrm>
          <a:prstGeom prst="rect">
            <a:avLst/>
          </a:prstGeom>
          <a:solidFill>
            <a:srgbClr val="326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>
              <a:defRPr sz="900" b="0">
                <a:solidFill>
                  <a:srgbClr val="556373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731520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800" b="0">
                <a:solidFill>
                  <a:srgbClr val="556373"/>
                </a:solidFill>
                <a:latin typeface="Aptos"/>
              </a:defRPr>
            </a:pPr>
            <a:r>
              <a:t>Karunya Institute of Technology and Sciences • Academic Year 2026–27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45920"/>
            <a:ext cx="6583680" cy="2103120"/>
          </a:xfrm>
          <a:prstGeom prst="rect">
            <a:avLst/>
          </a:prstGeom>
          <a:noFill/>
        </p:spPr>
        <p:txBody>
          <a:bodyPr wrap="square" lIns="73152" tIns="54864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32C37"/>
                </a:solidFill>
                <a:latin typeface="Aptos"/>
              </a:defRPr>
            </a:pPr>
            <a:r>
              <a:t>•  Four workload variables show strong positive correlation with response time.</a:t>
            </a:r>
          </a:p>
          <a:p>
            <a:pPr>
              <a:spcAft>
                <a:spcPts val="900"/>
              </a:spcAft>
              <a:defRPr sz="1300">
                <a:solidFill>
                  <a:srgbClr val="232C37"/>
                </a:solidFill>
                <a:latin typeface="Aptos"/>
              </a:defRPr>
            </a:pPr>
            <a:r>
              <a:t>•  The fitted regression reports R² = 0.9505 on the 200-observation test set.</a:t>
            </a:r>
          </a:p>
          <a:p>
            <a:pPr>
              <a:spcAft>
                <a:spcPts val="900"/>
              </a:spcAft>
              <a:defRPr sz="1300">
                <a:solidFill>
                  <a:srgbClr val="232C37"/>
                </a:solidFill>
                <a:latin typeface="Aptos"/>
              </a:defRPr>
            </a:pPr>
            <a:r>
              <a:t>•  MAE = 20.21 ms and RMSE = 25.26 ms summarise prediction error.</a:t>
            </a:r>
          </a:p>
          <a:p>
            <a:pPr>
              <a:spcAft>
                <a:spcPts val="900"/>
              </a:spcAft>
              <a:defRPr sz="1300">
                <a:solidFill>
                  <a:srgbClr val="232C37"/>
                </a:solidFill>
                <a:latin typeface="Aptos"/>
              </a:defRPr>
            </a:pPr>
            <a:r>
              <a:t>•  The t-test does not reject a zero mean residual at α = 0.05.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1691640"/>
            <a:ext cx="3749039" cy="2057400"/>
          </a:xfrm>
          <a:prstGeom prst="roundRect">
            <a:avLst/>
          </a:prstGeom>
          <a:solidFill>
            <a:srgbClr val="F6F9FC"/>
          </a:solidFill>
          <a:ln w="13970">
            <a:solidFill>
              <a:srgbClr val="CA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0" y="1874519"/>
            <a:ext cx="329184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300" b="1">
                <a:solidFill>
                  <a:srgbClr val="1C375B"/>
                </a:solidFill>
                <a:latin typeface="Aptos"/>
              </a:defRPr>
            </a:pPr>
            <a:r>
              <a:t>REFERENCES / 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2286000"/>
            <a:ext cx="3246120" cy="12344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100" b="0">
                <a:solidFill>
                  <a:srgbClr val="232C37"/>
                </a:solidFill>
                <a:latin typeface="Aptos"/>
              </a:defRPr>
            </a:pPr>
            <a:r>
              <a:t>25DC210 course syllabus and supplied proposal.</a:t>
            </a:r>
            <a:br/>
            <a:r>
              <a:t>Montgomery, Peck &amp; Vining, Introduction to Linear Regression Analysis.</a:t>
            </a:r>
            <a:br/>
            <a:r>
              <a:t>Project dataset and reported experiment outputs.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251960"/>
            <a:ext cx="10652760" cy="777240"/>
          </a:xfrm>
          <a:prstGeom prst="roundRect">
            <a:avLst/>
          </a:prstGeom>
          <a:solidFill>
            <a:srgbClr val="E5EFF9"/>
          </a:solidFill>
          <a:ln w="13970">
            <a:solidFill>
              <a:srgbClr val="326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4425696"/>
            <a:ext cx="10241280" cy="4114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1800" b="1">
                <a:solidFill>
                  <a:srgbClr val="1C375B"/>
                </a:solidFill>
                <a:latin typeface="Aptos"/>
              </a:defRPr>
            </a:pPr>
            <a:r>
              <a:t>THANK YOU  •  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C6C6C6"/>
      </a:dk1>
      <a:lt1>
        <a:sysClr val="window" lastClr="00000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1312</Words>
  <Application>Microsoft Office PowerPoint</Application>
  <PresentationFormat>Widescreen</PresentationFormat>
  <Paragraphs>229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Alena B</cp:lastModifiedBy>
  <cp:revision>2</cp:revision>
  <dcterms:created xsi:type="dcterms:W3CDTF">2013-01-27T09:14:16Z</dcterms:created>
  <dcterms:modified xsi:type="dcterms:W3CDTF">2026-10-27T03:19:00Z</dcterms:modified>
  <cp:category/>
</cp:coreProperties>
</file>