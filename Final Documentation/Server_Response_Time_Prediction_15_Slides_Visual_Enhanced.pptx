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Schematic trend only (not raw observations)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trend</c:v>
                </c:pt>
              </c:strCache>
            </c:strRef>
          </c:tx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105</c:v>
                </c:pt>
                <c:pt idx="2">
                  <c:v>102</c:v>
                </c:pt>
                <c:pt idx="3">
                  <c:v>109</c:v>
                </c:pt>
                <c:pt idx="4">
                  <c:v>111</c:v>
                </c:pt>
                <c:pt idx="5">
                  <c:v>110</c:v>
                </c:pt>
                <c:pt idx="6">
                  <c:v>117</c:v>
                </c:pt>
                <c:pt idx="7">
                  <c:v>119</c:v>
                </c:pt>
                <c:pt idx="8">
                  <c:v>121</c:v>
                </c:pt>
                <c:pt idx="9">
                  <c:v>125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Observation order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Response time (illustrative)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CPU usage</c:v>
                </c:pt>
                <c:pt idx="1">
                  <c:v>Request rate</c:v>
                </c:pt>
                <c:pt idx="2">
                  <c:v>Network load</c:v>
                </c:pt>
                <c:pt idx="3">
                  <c:v>Memory usage</c:v>
                </c:pt>
                <c:pt idx="4">
                  <c:v>Time step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0.9637</c:v>
                </c:pt>
                <c:pt idx="1">
                  <c:v>0.9423</c:v>
                </c:pt>
                <c:pt idx="2">
                  <c:v>0.9388</c:v>
                </c:pt>
                <c:pt idx="3">
                  <c:v>0.9099</c:v>
                </c:pt>
                <c:pt idx="4">
                  <c:v>0.1249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155680" cy="5806440"/>
          </a:xfrm>
          <a:prstGeom prst="rect">
            <a:avLst/>
          </a:prstGeom>
          <a:solidFill>
            <a:srgbClr val="FFFFFF"/>
          </a:solidFill>
          <a:ln w="13970">
            <a:solidFill>
              <a:srgbClr val="CC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73152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238B91"/>
                </a:solidFill>
                <a:latin typeface="Aptos"/>
              </a:defRPr>
            </a:pPr>
            <a:r>
              <a:t>MICRO-PROJECT 13 • COURSE 25DC210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6583680" cy="11430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100" b="1">
                <a:solidFill>
                  <a:srgbClr val="1C375B"/>
                </a:solidFill>
                <a:latin typeface="Aptos"/>
              </a:defRPr>
            </a:pPr>
            <a:r>
              <a:t>SERVER RESPONSE TIME</a:t>
            </a:r>
            <a:br/>
            <a: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621792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556373"/>
                </a:solidFill>
                <a:latin typeface="Aptos"/>
              </a:defRPr>
            </a:pPr>
            <a:r>
              <a:t>Using Regression Models to study uncertainty in web-service performance</a:t>
            </a:r>
          </a:p>
        </p:txBody>
      </p:sp>
      <p:sp>
        <p:nvSpPr>
          <p:cNvPr id="6" name="Oval 5"/>
          <p:cNvSpPr/>
          <p:nvPr/>
        </p:nvSpPr>
        <p:spPr>
          <a:xfrm>
            <a:off x="8229600" y="1828800"/>
            <a:ext cx="594360" cy="594360"/>
          </a:xfrm>
          <a:prstGeom prst="ellipse">
            <a:avLst/>
          </a:prstGeom>
          <a:solidFill>
            <a:srgbClr val="E5EFF9"/>
          </a:solidFill>
          <a:ln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200253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1C375B"/>
                </a:solidFill>
                <a:latin typeface="Aptos"/>
              </a:defRPr>
            </a:pPr>
            <a:r>
              <a:t>CPU</a:t>
            </a:r>
          </a:p>
        </p:txBody>
      </p:sp>
      <p:sp>
        <p:nvSpPr>
          <p:cNvPr id="8" name="Oval 7"/>
          <p:cNvSpPr/>
          <p:nvPr/>
        </p:nvSpPr>
        <p:spPr>
          <a:xfrm>
            <a:off x="9875520" y="1417320"/>
            <a:ext cx="594360" cy="594360"/>
          </a:xfrm>
          <a:prstGeom prst="ellipse">
            <a:avLst/>
          </a:prstGeom>
          <a:solidFill>
            <a:srgbClr val="E5EFF9"/>
          </a:solidFill>
          <a:ln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29800" y="159105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1C375B"/>
                </a:solidFill>
                <a:latin typeface="Aptos"/>
              </a:defRPr>
            </a:pPr>
            <a:r>
              <a:t>REQ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0" y="2880360"/>
            <a:ext cx="594360" cy="594360"/>
          </a:xfrm>
          <a:prstGeom prst="ellipse">
            <a:avLst/>
          </a:prstGeom>
          <a:solidFill>
            <a:srgbClr val="E5EFF9"/>
          </a:solidFill>
          <a:ln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69880" y="305409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1C375B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0" y="3657600"/>
            <a:ext cx="594360" cy="594360"/>
          </a:xfrm>
          <a:prstGeom prst="ellipse">
            <a:avLst/>
          </a:prstGeom>
          <a:solidFill>
            <a:srgbClr val="E5EFF9"/>
          </a:solidFill>
          <a:ln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383133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1C375B"/>
                </a:solidFill>
                <a:latin typeface="Aptos"/>
              </a:defRPr>
            </a:pPr>
            <a:r>
              <a:t>NET</a:t>
            </a:r>
          </a:p>
        </p:txBody>
      </p:sp>
      <p:sp>
        <p:nvSpPr>
          <p:cNvPr id="14" name="Oval 13"/>
          <p:cNvSpPr/>
          <p:nvPr/>
        </p:nvSpPr>
        <p:spPr>
          <a:xfrm>
            <a:off x="9235440" y="2651760"/>
            <a:ext cx="594360" cy="594360"/>
          </a:xfrm>
          <a:prstGeom prst="ellipse">
            <a:avLst/>
          </a:prstGeom>
          <a:solidFill>
            <a:srgbClr val="E5EFF9"/>
          </a:solidFill>
          <a:ln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282549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1C375B"/>
                </a:solidFill>
                <a:latin typeface="Aptos"/>
              </a:defRPr>
            </a:pPr>
            <a:r>
              <a:t>MEM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522208" y="1719072"/>
            <a:ext cx="1517904" cy="402336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68128" y="1874519"/>
            <a:ext cx="603504" cy="1188721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961120" y="3200400"/>
            <a:ext cx="1554480" cy="59436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915400" y="2834640"/>
            <a:ext cx="548640" cy="82296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95360" y="2377440"/>
            <a:ext cx="868680" cy="45720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84080" y="2560320"/>
            <a:ext cx="457200" cy="50292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4846320"/>
            <a:ext cx="64008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Vian Alen Barnes • Dave V Shah • Jaswanth • Sujai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91440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0">
                <a:solidFill>
                  <a:srgbClr val="556373"/>
                </a:solidFill>
                <a:latin typeface="Aptos"/>
              </a:defRPr>
            </a:pPr>
            <a:r>
              <a:t>B.Tech Computer Engineering • Semester III • Dr. K. Rebecca Jebaseeli Edna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Problem, rationale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The statistical question in one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566160" cy="20116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73152" cy="2011680"/>
          </a:xfrm>
          <a:prstGeom prst="rect">
            <a:avLst/>
          </a:prstGeom>
          <a:solidFill>
            <a:srgbClr val="B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709928"/>
            <a:ext cx="3291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075688"/>
            <a:ext cx="3273552" cy="1481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Server response time changes with workload and system conditions. A single average cannot describe every request.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600200"/>
            <a:ext cx="3566160" cy="20116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600200"/>
            <a:ext cx="73152" cy="2011680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709928"/>
            <a:ext cx="3291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Proposed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075688"/>
            <a:ext cx="3273552" cy="1481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Represent workload as explanatory variables; use correlation and regression to estimate response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600200"/>
            <a:ext cx="3566160" cy="20116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1600200"/>
            <a:ext cx="73152" cy="2011680"/>
          </a:xfrm>
          <a:prstGeom prst="rect">
            <a:avLst/>
          </a:prstGeom>
          <a:solidFill>
            <a:srgbClr val="23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1709928"/>
            <a:ext cx="3291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075688"/>
            <a:ext cx="3273552" cy="1481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Summarise variation, explore trends, predict held-out observations and validate error statistically.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977639"/>
            <a:ext cx="10972800" cy="128016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06240"/>
            <a:ext cx="2011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160520"/>
            <a:ext cx="832104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232C37"/>
                </a:solidFill>
                <a:latin typeface="Aptos"/>
              </a:defRPr>
            </a:pPr>
            <a:r>
              <a:t>A reproducible statistical workflow—not a claim that every request can be predicted exactly.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Methodology &amp;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From performance observations to validated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2423160" cy="9601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783080"/>
            <a:ext cx="347472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238B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28800"/>
            <a:ext cx="18288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Define variables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91640"/>
            <a:ext cx="2423160" cy="9601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783080"/>
            <a:ext cx="347472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238B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828800"/>
            <a:ext cx="18288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Collect / simulate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2423160" cy="9601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783080"/>
            <a:ext cx="347472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238B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828800"/>
            <a:ext cx="18288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Clean &amp; inspect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691640"/>
            <a:ext cx="2423160" cy="9601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7" y="1783080"/>
            <a:ext cx="347472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238B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828800"/>
            <a:ext cx="18288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Descriptive stats + trend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794760"/>
            <a:ext cx="2423160" cy="9601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886200"/>
            <a:ext cx="347472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238B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931920"/>
            <a:ext cx="18288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Correlation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3794760"/>
            <a:ext cx="2423160" cy="9601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8728" y="3886200"/>
            <a:ext cx="347472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238B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931920"/>
            <a:ext cx="18288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Regression fit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794760"/>
            <a:ext cx="2423160" cy="9601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3886200"/>
            <a:ext cx="347472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238B91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931920"/>
            <a:ext cx="18288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Test-set prediction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3794760"/>
            <a:ext cx="2423160" cy="9601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08007" y="3886200"/>
            <a:ext cx="347472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238B91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3931920"/>
            <a:ext cx="18288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Error + hypothesis test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017520" y="2176272"/>
            <a:ext cx="411480" cy="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52160" y="2176272"/>
            <a:ext cx="411480" cy="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686800" y="2176272"/>
            <a:ext cx="411480" cy="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287000" y="2651760"/>
            <a:ext cx="0" cy="68580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017520" y="4279392"/>
            <a:ext cx="411480" cy="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852160" y="4279392"/>
            <a:ext cx="411480" cy="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686800" y="4279392"/>
            <a:ext cx="411480" cy="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31520" y="548640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400" b="1">
                <a:solidFill>
                  <a:srgbClr val="556373"/>
                </a:solidFill>
                <a:latin typeface="Aptos"/>
              </a:defRPr>
            </a:pPr>
            <a:r>
              <a:t>Analytical core: descriptive statistics → correlation → fitted regression → independent test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Course alignment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Probability &amp; Statistics • Units IV and V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3474720" cy="18288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73152" cy="1828800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5564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Unit IV —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21408"/>
            <a:ext cx="3182112" cy="12984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Descriptive measures, time-series trend, Pearson correlation and regression.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74720" cy="18288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45920"/>
            <a:ext cx="73152" cy="1828800"/>
          </a:xfrm>
          <a:prstGeom prst="rect">
            <a:avLst/>
          </a:prstGeom>
          <a:solidFill>
            <a:srgbClr val="23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75564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Prediction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121408"/>
            <a:ext cx="3182112" cy="12984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MAE, MSE, RMSE and R² compare predicted values with held-out observations.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45920"/>
            <a:ext cx="3474720" cy="18288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645920"/>
            <a:ext cx="73152" cy="1828800"/>
          </a:xfrm>
          <a:prstGeom prst="rect">
            <a:avLst/>
          </a:prstGeom>
          <a:solidFill>
            <a:srgbClr val="D29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75564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Unit V —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121408"/>
            <a:ext cx="3182112" cy="12984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Confidence-based reasoning and Student’s t-test, used with assumptions stated.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79392"/>
            <a:ext cx="10149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500" b="1">
                <a:solidFill>
                  <a:srgbClr val="1C375B"/>
                </a:solidFill>
                <a:latin typeface="Aptos"/>
              </a:defRPr>
            </a:pPr>
            <a:r>
              <a:t>CO2: model uncertainty • CO3: predict under uncertain workload • CO4: justify statistically • CO5: validate with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Dataset design &amp;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1,000 simulated time-series observations • seed = 42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057400" cy="150876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029968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1C375B"/>
                </a:solidFill>
                <a:latin typeface="Aptos"/>
              </a:defRPr>
            </a:pPr>
            <a:r>
              <a:t>Request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1874519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0">
                <a:solidFill>
                  <a:srgbClr val="232C37"/>
                </a:solidFill>
                <a:latin typeface="Aptos"/>
              </a:defRPr>
            </a:pPr>
            <a:r>
              <a:t>50–997 req/s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828800"/>
            <a:ext cx="2057400" cy="150876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0088" y="2029968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1C375B"/>
                </a:solidFill>
                <a:latin typeface="Aptos"/>
              </a:defRPr>
            </a:pPr>
            <a:r>
              <a:t>CPU usage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578608"/>
            <a:ext cx="1874519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0">
                <a:solidFill>
                  <a:srgbClr val="232C37"/>
                </a:solidFill>
                <a:latin typeface="Aptos"/>
              </a:defRPr>
            </a:pPr>
            <a:r>
              <a:t>1.0–99.5 %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1828800"/>
            <a:ext cx="2057400" cy="150876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029968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1C375B"/>
                </a:solidFill>
                <a:latin typeface="Aptos"/>
              </a:defRPr>
            </a:pPr>
            <a:r>
              <a:t>Memory usage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578608"/>
            <a:ext cx="1874519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0">
                <a:solidFill>
                  <a:srgbClr val="232C37"/>
                </a:solidFill>
                <a:latin typeface="Aptos"/>
              </a:defRPr>
            </a:pPr>
            <a:r>
              <a:t>mean 41.03%, SD 12.84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828800"/>
            <a:ext cx="2057400" cy="150876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2029968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1C375B"/>
                </a:solidFill>
                <a:latin typeface="Aptos"/>
              </a:defRPr>
            </a:pPr>
            <a:r>
              <a:t>Network 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578608"/>
            <a:ext cx="1874519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0">
                <a:solidFill>
                  <a:srgbClr val="232C37"/>
                </a:solidFill>
                <a:latin typeface="Aptos"/>
              </a:defRPr>
            </a:pPr>
            <a:r>
              <a:t>1.02–51.83 MB/s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1828800"/>
            <a:ext cx="2057400" cy="1508760"/>
          </a:xfrm>
          <a:prstGeom prst="roundRect">
            <a:avLst/>
          </a:prstGeom>
          <a:solidFill>
            <a:srgbClr val="E7F4EE"/>
          </a:solidFill>
          <a:ln w="13970">
            <a:solidFill>
              <a:srgbClr val="23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48088" y="2029968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1C375B"/>
                </a:solidFill>
                <a:latin typeface="Aptos"/>
              </a:defRPr>
            </a:pPr>
            <a:r>
              <a:t>Response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578608"/>
            <a:ext cx="1874519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0">
                <a:solidFill>
                  <a:srgbClr val="232C37"/>
                </a:solidFill>
                <a:latin typeface="Aptos"/>
              </a:defRPr>
            </a:pPr>
            <a:r>
              <a:t>56.72–619.18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8620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400" b="1">
                <a:solidFill>
                  <a:srgbClr val="3268B2"/>
                </a:solidFill>
                <a:latin typeface="Aptos"/>
              </a:defRPr>
            </a:pPr>
            <a:r>
              <a:t>Predictors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15968"/>
            <a:ext cx="106070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400" b="0">
                <a:solidFill>
                  <a:srgbClr val="232C37"/>
                </a:solidFill>
                <a:latin typeface="Aptos"/>
              </a:defRPr>
            </a:pPr>
            <a:r>
              <a:t>Request rate • CPU usage • memory usage • network 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98348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238B91"/>
                </a:solidFill>
                <a:latin typeface="Aptos"/>
              </a:defRPr>
            </a:pPr>
            <a:r>
              <a:t>Target variable: response time (milliseconds)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1060704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0">
                <a:solidFill>
                  <a:srgbClr val="556373"/>
                </a:solidFill>
                <a:latin typeface="Aptos"/>
              </a:defRPr>
            </a:pPr>
            <a:r>
              <a:t>Synthetic data supports reproducibility; findings describe this generated dataset, not a live production server.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Descriptive statistics: centre and spread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Response time varies substantially across the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2560320" cy="150876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23774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77440"/>
            <a:ext cx="242316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000" b="1">
                <a:solidFill>
                  <a:srgbClr val="1C375B"/>
                </a:solidFill>
                <a:latin typeface="Aptos"/>
              </a:defRPr>
            </a:pPr>
            <a:r>
              <a:t>320.41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5292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556373"/>
                </a:solidFill>
                <a:latin typeface="Aptos"/>
              </a:defRPr>
            </a:pPr>
            <a:r>
              <a:t>Arithmetic centre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783080"/>
            <a:ext cx="2560320" cy="150876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965960"/>
            <a:ext cx="23774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Standard deviation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377440"/>
            <a:ext cx="242316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000" b="1">
                <a:solidFill>
                  <a:srgbClr val="1C375B"/>
                </a:solidFill>
                <a:latin typeface="Aptos"/>
              </a:defRPr>
            </a:pPr>
            <a:r>
              <a:t>118.97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5292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556373"/>
                </a:solidFill>
                <a:latin typeface="Aptos"/>
              </a:defRPr>
            </a:pPr>
            <a:r>
              <a:t>Observed dispersion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783080"/>
            <a:ext cx="2560320" cy="150876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965960"/>
            <a:ext cx="23774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377440"/>
            <a:ext cx="242316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000" b="1">
                <a:solidFill>
                  <a:srgbClr val="1C375B"/>
                </a:solidFill>
                <a:latin typeface="Aptos"/>
              </a:defRPr>
            </a:pPr>
            <a:r>
              <a:t>56.72–619.18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5292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556373"/>
                </a:solidFill>
                <a:latin typeface="Aptos"/>
              </a:defRPr>
            </a:pPr>
            <a:r>
              <a:t>Minimum to maximum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783080"/>
            <a:ext cx="2560320" cy="150876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965960"/>
            <a:ext cx="23774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Coefficient of variation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2377440"/>
            <a:ext cx="242316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000" b="1">
                <a:solidFill>
                  <a:srgbClr val="1C375B"/>
                </a:solidFill>
                <a:latin typeface="Aptos"/>
              </a:defRPr>
            </a:pPr>
            <a:r>
              <a:t>≈ 37%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852928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556373"/>
                </a:solidFill>
                <a:latin typeface="Aptos"/>
              </a:defRPr>
            </a:pPr>
            <a:r>
              <a:t>SD relative to mean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794760"/>
            <a:ext cx="106984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How to interpret the measures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06240"/>
            <a:ext cx="10149840" cy="137160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 The standard deviation is large relative to the mean, showing meaningful spread.</a:t>
            </a:r>
          </a:p>
          <a:p>
            <a:pPr>
              <a:spcAft>
                <a:spcPts val="9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 The range spans roughly eleven times from minimum to maximum.</a:t>
            </a:r>
          </a:p>
          <a:p>
            <a:pPr>
              <a:spcAft>
                <a:spcPts val="9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 These summaries describe the observed sample; they do not alone establish prediction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Time-series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A small positive drift was engineered into the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45920"/>
          <a:ext cx="65836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43800" y="1828800"/>
            <a:ext cx="3886200" cy="13716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828800"/>
            <a:ext cx="73152" cy="1371600"/>
          </a:xfrm>
          <a:prstGeom prst="rect">
            <a:avLst/>
          </a:prstGeom>
          <a:solidFill>
            <a:srgbClr val="23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8392" y="1938528"/>
            <a:ext cx="36118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Reported trend 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2304288"/>
            <a:ext cx="3593592" cy="8412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C37"/>
                </a:solidFill>
                <a:latin typeface="Aptos"/>
              </a:defRPr>
            </a:pPr>
            <a:r>
              <a:t>+0.05 ms per time step was engineered into the generated series.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474720"/>
            <a:ext cx="3886200" cy="13716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3474720"/>
            <a:ext cx="73152" cy="1371600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08392" y="3584448"/>
            <a:ext cx="36118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Correlation with time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3950208"/>
            <a:ext cx="3593592" cy="8412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C37"/>
                </a:solidFill>
                <a:latin typeface="Aptos"/>
              </a:defRPr>
            </a:pPr>
            <a:r>
              <a:t>r = 0.1249 — weak positive association.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166360"/>
            <a:ext cx="3657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0">
                <a:solidFill>
                  <a:srgbClr val="556373"/>
                </a:solidFill>
                <a:latin typeface="Aptos"/>
              </a:defRPr>
            </a:pPr>
            <a:r>
              <a:t>Trend chart is schematic; reported statistics are from the project deck.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Pearson correlation with response time (n = 1,000)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645920"/>
          <a:ext cx="67665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26679" y="1828800"/>
            <a:ext cx="3657600" cy="13258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828800"/>
            <a:ext cx="73152" cy="1325880"/>
          </a:xfrm>
          <a:prstGeom prst="rect">
            <a:avLst/>
          </a:prstGeom>
          <a:solidFill>
            <a:srgbClr val="23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1" y="1938528"/>
            <a:ext cx="33832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Strongest association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2304288"/>
            <a:ext cx="3364992" cy="7955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CPU usage: r = 0.9637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429000"/>
            <a:ext cx="3657600" cy="13258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3429000"/>
            <a:ext cx="73152" cy="1325880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91271" y="3538728"/>
            <a:ext cx="33832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3904487"/>
            <a:ext cx="3364992" cy="7955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32C37"/>
                </a:solidFill>
                <a:latin typeface="Aptos"/>
              </a:defRPr>
            </a:pPr>
            <a:r>
              <a:t>All four workload predictors are strongly positively associated with response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074920"/>
            <a:ext cx="356616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Correlation indicates association, not causation. Correlated predictors can affect coefficient stability.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Multiple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The fitted equation estimates response time from four predictors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10972800" cy="114300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1C375B"/>
                </a:solidFill>
                <a:latin typeface="Aptos"/>
              </a:defRPr>
            </a:pPr>
            <a:r>
              <a:t>Ŷ = 73.53 + 0.052(Request Rate) + 2.416(CPU) + 1.447(Memory) + 2.220(Network)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2103120" cy="10972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19202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Intercept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9202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3268B2"/>
                </a:solidFill>
                <a:latin typeface="Aptos"/>
              </a:defRPr>
            </a:pPr>
            <a:r>
              <a:t>73.53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3337560"/>
            <a:ext cx="2103120" cy="10972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3520440"/>
            <a:ext cx="19202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Request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931920"/>
            <a:ext cx="19202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3268B2"/>
                </a:solidFill>
                <a:latin typeface="Aptos"/>
              </a:defRPr>
            </a:pPr>
            <a:r>
              <a:t>0.052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3337560"/>
            <a:ext cx="2103120" cy="10972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19" y="3520440"/>
            <a:ext cx="19202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CPU usage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19" y="3931920"/>
            <a:ext cx="19202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3268B2"/>
                </a:solidFill>
                <a:latin typeface="Aptos"/>
              </a:defRPr>
            </a:pPr>
            <a:r>
              <a:t>2.416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337560"/>
            <a:ext cx="2103120" cy="10972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3520440"/>
            <a:ext cx="19202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Memory usage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931920"/>
            <a:ext cx="19202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3268B2"/>
                </a:solidFill>
                <a:latin typeface="Aptos"/>
              </a:defRPr>
            </a:pPr>
            <a:r>
              <a:t>1.447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19" y="3337560"/>
            <a:ext cx="2103120" cy="10972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59" y="3520440"/>
            <a:ext cx="19202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Network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9" y="3931920"/>
            <a:ext cx="19202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3268B2"/>
                </a:solidFill>
                <a:latin typeface="Aptos"/>
              </a:defRPr>
            </a:pPr>
            <a:r>
              <a:t>2.220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92040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0">
                <a:solidFill>
                  <a:srgbClr val="232C37"/>
                </a:solidFill>
                <a:latin typeface="Aptos"/>
              </a:defRPr>
            </a:pPr>
            <a:r>
              <a:t>Coefficients describe fitted conditional relationships. Because predictors may be correlated, interpret individual effects cautiously.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Model fitting &amp; test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Separate model development from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846320" cy="11887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1C375B"/>
                </a:solidFill>
                <a:latin typeface="Aptos"/>
              </a:defRPr>
            </a:pPr>
            <a:r>
              <a:t>TRAINING SET • 800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0">
                <a:solidFill>
                  <a:srgbClr val="556373"/>
                </a:solidFill>
                <a:latin typeface="Aptos"/>
              </a:defRPr>
            </a:pPr>
            <a:r>
              <a:t>Fit ordinary least-squares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28800"/>
            <a:ext cx="4846320" cy="1188720"/>
          </a:xfrm>
          <a:prstGeom prst="roundRect">
            <a:avLst/>
          </a:prstGeom>
          <a:solidFill>
            <a:srgbClr val="E7F4EE"/>
          </a:solidFill>
          <a:ln w="13970">
            <a:solidFill>
              <a:srgbClr val="23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011680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1C375B"/>
                </a:solidFill>
                <a:latin typeface="Aptos"/>
              </a:defRPr>
            </a:pPr>
            <a:r>
              <a:t>TEST SET • 200 OBSERVATIONS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423160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0">
                <a:solidFill>
                  <a:srgbClr val="556373"/>
                </a:solidFill>
                <a:latin typeface="Aptos"/>
              </a:defRPr>
            </a:pPr>
            <a:r>
              <a:t>Evaluate predictions on held-out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77840" y="2423160"/>
            <a:ext cx="1005840" cy="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3794760"/>
            <a:ext cx="3108960" cy="123444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794760"/>
            <a:ext cx="73152" cy="1234440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904488"/>
            <a:ext cx="28346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Actual vs predicted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270248"/>
            <a:ext cx="2816352" cy="7040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232C37"/>
                </a:solidFill>
                <a:latin typeface="Aptos"/>
              </a:defRPr>
            </a:pPr>
            <a:r>
              <a:t>Compare each test response with its model estimate.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794760"/>
            <a:ext cx="3108960" cy="123444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3794760"/>
            <a:ext cx="73152" cy="1234440"/>
          </a:xfrm>
          <a:prstGeom prst="rect">
            <a:avLst/>
          </a:prstGeom>
          <a:solidFill>
            <a:srgbClr val="23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3904488"/>
            <a:ext cx="28346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Residual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4270248"/>
            <a:ext cx="2816352" cy="7040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232C37"/>
                </a:solidFill>
                <a:latin typeface="Aptos"/>
              </a:defRPr>
            </a:pPr>
            <a:r>
              <a:t>Residual = actual − predicted.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794760"/>
            <a:ext cx="3108960" cy="123444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794760"/>
            <a:ext cx="73152" cy="1234440"/>
          </a:xfrm>
          <a:prstGeom prst="rect">
            <a:avLst/>
          </a:prstGeom>
          <a:solidFill>
            <a:srgbClr val="D29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904488"/>
            <a:ext cx="28346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Error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270248"/>
            <a:ext cx="2816352" cy="7040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232C37"/>
                </a:solidFill>
                <a:latin typeface="Aptos"/>
              </a:defRPr>
            </a:pPr>
            <a:r>
              <a:t>Summarise typical and squared error.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Prediction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Held-out test set • 200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3200400" cy="182880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29260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500" b="1">
                <a:solidFill>
                  <a:srgbClr val="238B91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60320"/>
            <a:ext cx="29260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500" b="1">
                <a:solidFill>
                  <a:srgbClr val="1C375B"/>
                </a:solidFill>
                <a:latin typeface="Aptos"/>
              </a:defRPr>
            </a:pPr>
            <a:r>
              <a:t>20.21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29260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0">
                <a:solidFill>
                  <a:srgbClr val="556373"/>
                </a:solidFill>
                <a:latin typeface="Aptos"/>
              </a:defRPr>
            </a:pPr>
            <a:r>
              <a:t>Average absolute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828800"/>
            <a:ext cx="3200400" cy="182880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103120"/>
            <a:ext cx="29260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500" b="1">
                <a:solidFill>
                  <a:srgbClr val="238B91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560320"/>
            <a:ext cx="29260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500" b="1">
                <a:solidFill>
                  <a:srgbClr val="1C375B"/>
                </a:solidFill>
                <a:latin typeface="Aptos"/>
              </a:defRPr>
            </a:pPr>
            <a:r>
              <a:t>25.26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154680"/>
            <a:ext cx="29260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0">
                <a:solidFill>
                  <a:srgbClr val="556373"/>
                </a:solidFill>
                <a:latin typeface="Aptos"/>
              </a:defRPr>
            </a:pPr>
            <a:r>
              <a:t>Penalises larger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828800"/>
            <a:ext cx="3200400" cy="182880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103120"/>
            <a:ext cx="29260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500" b="1">
                <a:solidFill>
                  <a:srgbClr val="238B91"/>
                </a:solidFill>
                <a:latin typeface="Aptos"/>
              </a:defRPr>
            </a:pPr>
            <a:r>
              <a:t>R²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560320"/>
            <a:ext cx="29260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500" b="1">
                <a:solidFill>
                  <a:srgbClr val="1C375B"/>
                </a:solidFill>
                <a:latin typeface="Aptos"/>
              </a:defRPr>
            </a:pPr>
            <a:r>
              <a:t>0.9505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154680"/>
            <a:ext cx="29260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0">
                <a:solidFill>
                  <a:srgbClr val="556373"/>
                </a:solidFill>
                <a:latin typeface="Aptos"/>
              </a:defRPr>
            </a:pPr>
            <a:r>
              <a:t>95.05% variance explained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1005840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500" b="0">
                <a:solidFill>
                  <a:srgbClr val="232C37"/>
                </a:solidFill>
                <a:latin typeface="Aptos"/>
              </a:defRPr>
            </a:pPr>
            <a:r>
              <a:t>The reported RMSE is about 25% higher than MAE. Together with R², these metrics indicate a strong fit on this generated test set.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100584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0">
                <a:solidFill>
                  <a:srgbClr val="556373"/>
                </a:solidFill>
                <a:latin typeface="Aptos"/>
              </a:defRPr>
            </a:pPr>
            <a:r>
              <a:t>Accuracy is bounded by the simulated data design and observed workload range.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Hypothesis testing: mean residual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Student’s one-sample t-test • α = 0.05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291840" cy="128016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73152" cy="1280160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847088"/>
            <a:ext cx="3017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Null hypothesis (H₀)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212848"/>
            <a:ext cx="2999232" cy="7498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Mean prediction error =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37360"/>
            <a:ext cx="3291840" cy="128016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73152" cy="1280160"/>
          </a:xfrm>
          <a:prstGeom prst="rect">
            <a:avLst/>
          </a:prstGeom>
          <a:solidFill>
            <a:srgbClr val="23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847088"/>
            <a:ext cx="3017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Alternative (H₁)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212848"/>
            <a:ext cx="2999232" cy="7498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Mean prediction error ≠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737360"/>
            <a:ext cx="3291840" cy="128016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737360"/>
            <a:ext cx="73152" cy="1280160"/>
          </a:xfrm>
          <a:prstGeom prst="rect">
            <a:avLst/>
          </a:prstGeom>
          <a:solidFill>
            <a:srgbClr val="D29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847088"/>
            <a:ext cx="3017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Reported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212848"/>
            <a:ext cx="2999232" cy="7498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t = 0.3931 • p = 0.6947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57600"/>
            <a:ext cx="10332720" cy="1097280"/>
          </a:xfrm>
          <a:prstGeom prst="roundRect">
            <a:avLst/>
          </a:prstGeom>
          <a:solidFill>
            <a:srgbClr val="E7F4EE"/>
          </a:solidFill>
          <a:ln w="13970">
            <a:solidFill>
              <a:srgbClr val="388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91363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388461"/>
                </a:solidFill>
                <a:latin typeface="Aptos"/>
              </a:defRPr>
            </a:pPr>
            <a:r>
              <a:t>Since p &gt; 0.05, fail to reject H₀: the test does not find evidence of a non-zero mean residual.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03327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0">
                <a:solidFill>
                  <a:srgbClr val="556373"/>
                </a:solidFill>
                <a:latin typeface="Aptos"/>
              </a:defRPr>
            </a:pPr>
            <a:r>
              <a:t>This is not proof that every prediction is unbiased; the conclusion depends on test assumptions and the residual sample.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Results dashboard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Key findings in one evidence-led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1C375B"/>
                </a:solidFill>
                <a:latin typeface="Aptos"/>
              </a:defRPr>
            </a:pPr>
            <a:r>
              <a:t>CPU correlation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755648"/>
            <a:ext cx="4023360" cy="256032"/>
          </a:xfrm>
          <a:prstGeom prst="rect">
            <a:avLst/>
          </a:prstGeom>
          <a:solidFill>
            <a:srgbClr val="F6F9FC"/>
          </a:solidFill>
          <a:ln w="1397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1755648"/>
            <a:ext cx="3877312" cy="256032"/>
          </a:xfrm>
          <a:prstGeom prst="rect">
            <a:avLst/>
          </a:prstGeom>
          <a:solidFill>
            <a:srgbClr val="3268B2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737360"/>
            <a:ext cx="10972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32C37"/>
                </a:solidFill>
                <a:latin typeface="Aptos"/>
              </a:defRPr>
            </a:pPr>
            <a:r>
              <a:t>0.9637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1C375B"/>
                </a:solidFill>
                <a:latin typeface="Aptos"/>
              </a:defRPr>
            </a:pPr>
            <a:r>
              <a:t>Request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505456"/>
            <a:ext cx="4023360" cy="256032"/>
          </a:xfrm>
          <a:prstGeom prst="rect">
            <a:avLst/>
          </a:prstGeom>
          <a:solidFill>
            <a:srgbClr val="F6F9FC"/>
          </a:solidFill>
          <a:ln w="1397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51760" y="2505456"/>
            <a:ext cx="3791212" cy="256032"/>
          </a:xfrm>
          <a:prstGeom prst="rect">
            <a:avLst/>
          </a:prstGeom>
          <a:solidFill>
            <a:srgbClr val="238B91"/>
          </a:solidFill>
          <a:ln w="13970">
            <a:solidFill>
              <a:srgbClr val="23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487168"/>
            <a:ext cx="10972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32C37"/>
                </a:solidFill>
                <a:latin typeface="Aptos"/>
              </a:defRPr>
            </a:pPr>
            <a:r>
              <a:t>0.9423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36976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1C375B"/>
                </a:solidFill>
                <a:latin typeface="Aptos"/>
              </a:defRPr>
            </a:pPr>
            <a:r>
              <a:t>Network 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3255264"/>
            <a:ext cx="4023360" cy="256032"/>
          </a:xfrm>
          <a:prstGeom prst="rect">
            <a:avLst/>
          </a:prstGeom>
          <a:solidFill>
            <a:srgbClr val="F6F9FC"/>
          </a:solidFill>
          <a:ln w="1397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3255264"/>
            <a:ext cx="3777130" cy="256032"/>
          </a:xfrm>
          <a:prstGeom prst="rect">
            <a:avLst/>
          </a:prstGeom>
          <a:solidFill>
            <a:srgbClr val="388461"/>
          </a:solidFill>
          <a:ln w="13970">
            <a:solidFill>
              <a:srgbClr val="388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236976"/>
            <a:ext cx="10972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32C37"/>
                </a:solidFill>
                <a:latin typeface="Aptos"/>
              </a:defRPr>
            </a:pPr>
            <a:r>
              <a:t>0.9388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86783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1C375B"/>
                </a:solidFill>
                <a:latin typeface="Aptos"/>
              </a:defRPr>
            </a:pPr>
            <a:r>
              <a:t>Memory usage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4005071"/>
            <a:ext cx="4023360" cy="256032"/>
          </a:xfrm>
          <a:prstGeom prst="rect">
            <a:avLst/>
          </a:prstGeom>
          <a:solidFill>
            <a:srgbClr val="F6F9FC"/>
          </a:solidFill>
          <a:ln w="1397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51760" y="4005071"/>
            <a:ext cx="3660855" cy="256032"/>
          </a:xfrm>
          <a:prstGeom prst="rect">
            <a:avLst/>
          </a:prstGeom>
          <a:solidFill>
            <a:srgbClr val="D29F35"/>
          </a:solidFill>
          <a:ln w="13970">
            <a:solidFill>
              <a:srgbClr val="D29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986783"/>
            <a:ext cx="10972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32C37"/>
                </a:solidFill>
                <a:latin typeface="Aptos"/>
              </a:defRPr>
            </a:pPr>
            <a:r>
              <a:t>0.9099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828800"/>
            <a:ext cx="3108960" cy="118872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828800"/>
            <a:ext cx="73152" cy="1188720"/>
          </a:xfrm>
          <a:prstGeom prst="rect">
            <a:avLst/>
          </a:prstGeom>
          <a:solidFill>
            <a:srgbClr val="23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1938528"/>
            <a:ext cx="28346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Model 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304288"/>
            <a:ext cx="2816352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R² = 0.9505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337560"/>
            <a:ext cx="3108960" cy="118872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3337560"/>
            <a:ext cx="73152" cy="1188720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3447288"/>
            <a:ext cx="28346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Average miss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813048"/>
            <a:ext cx="2816352" cy="658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MAE = 20.21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16636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400" b="1">
                <a:solidFill>
                  <a:srgbClr val="1C375B"/>
                </a:solidFill>
                <a:latin typeface="Aptos"/>
              </a:defRPr>
            </a:pPr>
            <a:r>
              <a:t>Interpretation: strong linear signal in the simulated data; validate further on real telemetry before operational 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Limitations, applications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What the project supports—and what it does not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566160" cy="20574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73152" cy="2057400"/>
          </a:xfrm>
          <a:prstGeom prst="rect">
            <a:avLst/>
          </a:prstGeom>
          <a:solidFill>
            <a:srgbClr val="388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801368"/>
            <a:ext cx="3291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67128"/>
            <a:ext cx="3273552" cy="1527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232C37"/>
                </a:solidFill>
                <a:latin typeface="Aptos"/>
              </a:defRPr>
            </a:pPr>
            <a:r>
              <a:t>• Reproducible 1,000-row simulated dataset</a:t>
            </a:r>
            <a:br/>
            <a:r>
              <a:t>• Correlation and multiple regression</a:t>
            </a:r>
            <a:br/>
            <a:r>
              <a:t>• Held-out error evaluation</a:t>
            </a:r>
            <a:br/>
            <a:r>
              <a:t>• Residual hypothesis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691640"/>
            <a:ext cx="3566160" cy="20574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691640"/>
            <a:ext cx="73152" cy="2057400"/>
          </a:xfrm>
          <a:prstGeom prst="rect">
            <a:avLst/>
          </a:prstGeom>
          <a:solidFill>
            <a:srgbClr val="B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801368"/>
            <a:ext cx="3291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167128"/>
            <a:ext cx="3273552" cy="1527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232C37"/>
                </a:solidFill>
                <a:latin typeface="Aptos"/>
              </a:defRPr>
            </a:pPr>
            <a:r>
              <a:t>• Synthetic rather than live server data</a:t>
            </a:r>
            <a:br/>
            <a:r>
              <a:t>• Engineered predictor relationships</a:t>
            </a:r>
            <a:br/>
            <a:r>
              <a:t>• Correlation is not causation</a:t>
            </a:r>
            <a:br/>
            <a:r>
              <a:t>• Generalisation beyond range is unknown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691640"/>
            <a:ext cx="3566160" cy="20574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691640"/>
            <a:ext cx="73152" cy="2057400"/>
          </a:xfrm>
          <a:prstGeom prst="rect">
            <a:avLst/>
          </a:prstGeom>
          <a:solidFill>
            <a:srgbClr val="D29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3" y="1801368"/>
            <a:ext cx="3291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3" y="2167128"/>
            <a:ext cx="3273552" cy="1527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232C37"/>
                </a:solidFill>
                <a:latin typeface="Aptos"/>
              </a:defRPr>
            </a:pPr>
            <a:r>
              <a:t>• Collect validated real measurements</a:t>
            </a:r>
            <a:br/>
            <a:r>
              <a:t>• Compare alternative regression models</a:t>
            </a:r>
            <a:br/>
            <a:r>
              <a:t>• Check residual assumptions</a:t>
            </a:r>
            <a:br/>
            <a:r>
              <a:t>• Test temporal holdout and drift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251960"/>
            <a:ext cx="10652760" cy="77724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43484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500" b="1">
                <a:solidFill>
                  <a:srgbClr val="1C375B"/>
                </a:solidFill>
                <a:latin typeface="Aptos"/>
              </a:defRPr>
            </a:pPr>
            <a:r>
              <a:t>Potential use: performance monitoring baselines and capacity-planning experiments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Statistics turns observed variation into an interpretable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6583680" cy="210312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 Four workload variables show strong positive correlation with response time.</a:t>
            </a:r>
          </a:p>
          <a:p>
            <a:pPr>
              <a:spcAft>
                <a:spcPts val="9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 The fitted regression reports R² = 0.9505 on the 200-observation test set.</a:t>
            </a:r>
          </a:p>
          <a:p>
            <a:pPr>
              <a:spcAft>
                <a:spcPts val="9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 MAE = 20.21 ms and RMSE = 25.26 ms summarise prediction error.</a:t>
            </a:r>
          </a:p>
          <a:p>
            <a:pPr>
              <a:spcAft>
                <a:spcPts val="9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 The t-test does not reject a zero mean residual at α = 0.05.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91640"/>
            <a:ext cx="3749039" cy="20574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874519"/>
            <a:ext cx="3291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REFERENCES /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286000"/>
            <a:ext cx="324612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232C37"/>
                </a:solidFill>
                <a:latin typeface="Aptos"/>
              </a:defRPr>
            </a:pPr>
            <a:r>
              <a:t>25DC210 course syllabus and supplied proposal.</a:t>
            </a:r>
            <a:br/>
            <a:r>
              <a:t>Montgomery, Peck &amp; Vining, Introduction to Linear Regression Analysis.</a:t>
            </a:r>
            <a:br/>
            <a:r>
              <a:t>Project dataset and reported experiment outputs.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51960"/>
            <a:ext cx="10652760" cy="77724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25696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1C375B"/>
                </a:solidFill>
                <a:latin typeface="Aptos"/>
              </a:defRPr>
            </a:pPr>
            <a:r>
              <a:t>THANK YOU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