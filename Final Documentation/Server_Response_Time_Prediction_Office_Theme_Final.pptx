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886200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94360"/>
            <a:ext cx="2926080" cy="457200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ptos"/>
              </a:defRPr>
            </a:pPr>
            <a:r>
              <a:t>MICRO-PROJECT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508760"/>
            <a:ext cx="2926080" cy="1828800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 algn="l">
              <a:defRPr sz="2900" b="1">
                <a:solidFill>
                  <a:srgbClr val="FFFFFF"/>
                </a:solidFill>
                <a:latin typeface="Aptos"/>
              </a:defRPr>
            </a:pPr>
            <a:r>
              <a:t>SERVER</a:t>
            </a:r>
            <a:br/>
            <a:r>
              <a:t>RESPONSE TIME</a:t>
            </a:r>
            <a:br/>
            <a:r>
              <a:t>PREDICTION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3840480"/>
            <a:ext cx="2834640" cy="914400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Aptos"/>
              </a:defRPr>
            </a:pPr>
            <a:r>
              <a:t>Probability &amp; Statistics</a:t>
            </a:r>
            <a:br/>
            <a:r>
              <a:t>Course 25DC210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1097280"/>
            <a:ext cx="7040880" cy="685800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 algn="l">
              <a:defRPr sz="2700" b="1">
                <a:solidFill>
                  <a:srgbClr val="1F4E79"/>
                </a:solidFill>
                <a:latin typeface="Aptos"/>
              </a:defRPr>
            </a:pPr>
            <a:r>
              <a:t>Using Regression Models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34840" y="1874519"/>
            <a:ext cx="6675120" cy="731520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 algn="l">
              <a:defRPr sz="1700" b="0">
                <a:solidFill>
                  <a:srgbClr val="595959"/>
                </a:solidFill>
                <a:latin typeface="Aptos"/>
              </a:defRPr>
            </a:pPr>
            <a:r>
              <a:t>Predicting uncertainty in web-service performance</a:t>
            </a:r>
          </a:p>
        </p:txBody>
      </p:sp>
      <p:sp>
        <p:nvSpPr>
          <p:cNvPr id="8" name="Oval 7"/>
          <p:cNvSpPr/>
          <p:nvPr/>
        </p:nvSpPr>
        <p:spPr>
          <a:xfrm>
            <a:off x="4754880" y="3200400"/>
            <a:ext cx="822960" cy="822960"/>
          </a:xfrm>
          <a:prstGeom prst="ellipse">
            <a:avLst/>
          </a:prstGeom>
          <a:solidFill>
            <a:srgbClr val="DDEBF7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0" y="3474720"/>
            <a:ext cx="822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000" b="1">
                <a:solidFill>
                  <a:srgbClr val="1F4E79"/>
                </a:solidFill>
                <a:latin typeface="Aptos"/>
              </a:defRPr>
            </a:pPr>
            <a:r>
              <a:t>CPU</a:t>
            </a:r>
          </a:p>
        </p:txBody>
      </p:sp>
      <p:sp>
        <p:nvSpPr>
          <p:cNvPr id="10" name="Oval 9"/>
          <p:cNvSpPr/>
          <p:nvPr/>
        </p:nvSpPr>
        <p:spPr>
          <a:xfrm>
            <a:off x="6400800" y="3840480"/>
            <a:ext cx="822960" cy="822960"/>
          </a:xfrm>
          <a:prstGeom prst="ellipse">
            <a:avLst/>
          </a:prstGeom>
          <a:solidFill>
            <a:srgbClr val="DDEBF7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4114800"/>
            <a:ext cx="822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000" b="1">
                <a:solidFill>
                  <a:srgbClr val="1F4E79"/>
                </a:solidFill>
                <a:latin typeface="Aptos"/>
              </a:defRPr>
            </a:pPr>
            <a:r>
              <a:t>REQ</a:t>
            </a:r>
          </a:p>
        </p:txBody>
      </p:sp>
      <p:sp>
        <p:nvSpPr>
          <p:cNvPr id="12" name="Oval 11"/>
          <p:cNvSpPr/>
          <p:nvPr/>
        </p:nvSpPr>
        <p:spPr>
          <a:xfrm>
            <a:off x="8046720" y="3063240"/>
            <a:ext cx="822960" cy="822960"/>
          </a:xfrm>
          <a:prstGeom prst="ellipse">
            <a:avLst/>
          </a:prstGeom>
          <a:solidFill>
            <a:srgbClr val="DDEBF7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0" y="3337560"/>
            <a:ext cx="822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000" b="1">
                <a:solidFill>
                  <a:srgbClr val="1F4E79"/>
                </a:solidFill>
                <a:latin typeface="Aptos"/>
              </a:defRPr>
            </a:pPr>
            <a:r>
              <a:t>MEM</a:t>
            </a:r>
          </a:p>
        </p:txBody>
      </p:sp>
      <p:sp>
        <p:nvSpPr>
          <p:cNvPr id="14" name="Oval 13"/>
          <p:cNvSpPr/>
          <p:nvPr/>
        </p:nvSpPr>
        <p:spPr>
          <a:xfrm>
            <a:off x="9784080" y="3749039"/>
            <a:ext cx="822960" cy="822960"/>
          </a:xfrm>
          <a:prstGeom prst="ellipse">
            <a:avLst/>
          </a:prstGeom>
          <a:solidFill>
            <a:srgbClr val="DDEBF7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0" y="4023359"/>
            <a:ext cx="822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000" b="1">
                <a:solidFill>
                  <a:srgbClr val="1F4E79"/>
                </a:solidFill>
                <a:latin typeface="Aptos"/>
              </a:defRPr>
            </a:pPr>
            <a:r>
              <a:t>TIME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577840" y="3611880"/>
            <a:ext cx="822960" cy="54864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7223760" y="3474720"/>
            <a:ext cx="822960" cy="68580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869680" y="3474720"/>
            <a:ext cx="914400" cy="59436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434840" y="4892040"/>
            <a:ext cx="7132320" cy="685800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 algn="l">
              <a:defRPr sz="1300" b="1">
                <a:solidFill>
                  <a:srgbClr val="1F4E79"/>
                </a:solidFill>
                <a:latin typeface="Aptos"/>
              </a:defRPr>
            </a:pPr>
            <a:r>
              <a:t>Vian Alen Barnes  •  Dave V Shah  •  Project Team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5577840"/>
            <a:ext cx="7132320" cy="502920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 algn="l">
              <a:defRPr sz="1100" b="0">
                <a:solidFill>
                  <a:srgbClr val="595959"/>
                </a:solidFill>
                <a:latin typeface="Aptos"/>
              </a:defRPr>
            </a:pPr>
            <a:r>
              <a:t>Faculty: Dr. K. Rebecca Jebaseeli Edna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47120" y="6519672"/>
            <a:ext cx="411480" cy="182880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 algn="r">
              <a:defRPr sz="900" b="0">
                <a:solidFill>
                  <a:srgbClr val="595959"/>
                </a:solidFill>
                <a:latin typeface="Aptos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6400800" cy="201168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 algn="l">
              <a:defRPr sz="900" b="1">
                <a:solidFill>
                  <a:srgbClr val="0070C0"/>
                </a:solidFill>
                <a:latin typeface="Aptos"/>
              </a:defRPr>
            </a:pPr>
            <a:r>
              <a:t>MICRO-PROJECT 13  |  25DC210  |  PROBABILITY &amp; STATISTICS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38912"/>
            <a:ext cx="11155680" cy="502920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 algn="l">
              <a:defRPr sz="2600" b="1">
                <a:solidFill>
                  <a:srgbClr val="1F4E79"/>
                </a:solidFill>
                <a:latin typeface="Aptos"/>
              </a:defRPr>
            </a:pPr>
            <a:r>
              <a:t>Presentation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960120"/>
            <a:ext cx="10972800" cy="256032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 algn="l">
              <a:defRPr sz="1100" b="0">
                <a:solidFill>
                  <a:srgbClr val="595959"/>
                </a:solidFill>
                <a:latin typeface="Aptos"/>
              </a:defRPr>
            </a:pPr>
            <a:r>
              <a:t>Problem → statistical methods → model → evidence → interpretation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" y="1271016"/>
            <a:ext cx="1051560" cy="4114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912" y="6537960"/>
            <a:ext cx="7315200" cy="164592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 algn="l">
              <a:defRPr sz="800" b="0">
                <a:solidFill>
                  <a:srgbClr val="595959"/>
                </a:solidFill>
                <a:latin typeface="Aptos"/>
              </a:defRPr>
            </a:pPr>
            <a:r>
              <a:t>Karunya Institute of Technology and Sciences  •  Academic Year 2025–2026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519672"/>
            <a:ext cx="411480" cy="182880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 algn="r">
              <a:defRPr sz="900" b="0">
                <a:solidFill>
                  <a:srgbClr val="595959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691640"/>
            <a:ext cx="521208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691640"/>
            <a:ext cx="64008" cy="128016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801368"/>
            <a:ext cx="4956048" cy="292608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 algn="l">
              <a:defRPr sz="1400" b="1">
                <a:solidFill>
                  <a:srgbClr val="1F4E79"/>
                </a:solidFill>
                <a:latin typeface="Aptos"/>
              </a:defRPr>
            </a:pPr>
            <a:r>
              <a:t>01  Problem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148840"/>
            <a:ext cx="4937760" cy="768095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  <a:latin typeface="Aptos"/>
              </a:defRPr>
            </a:pPr>
            <a:r>
              <a:t>Response time varies with workload.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691640"/>
            <a:ext cx="521208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691640"/>
            <a:ext cx="64008" cy="128016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73368" y="1801368"/>
            <a:ext cx="4956048" cy="292608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 algn="l">
              <a:defRPr sz="1400" b="1">
                <a:solidFill>
                  <a:srgbClr val="1F4E79"/>
                </a:solidFill>
                <a:latin typeface="Aptos"/>
              </a:defRPr>
            </a:pPr>
            <a:r>
              <a:t>02  Statistical toolkit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3368" y="2148840"/>
            <a:ext cx="4937760" cy="768095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  <a:latin typeface="Aptos"/>
              </a:defRPr>
            </a:pPr>
            <a:r>
              <a:t>Descriptive statistics, correlation, regression.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3383280"/>
            <a:ext cx="521208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4360" y="3383280"/>
            <a:ext cx="64008" cy="128016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3493008"/>
            <a:ext cx="4956048" cy="292608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 algn="l">
              <a:defRPr sz="1400" b="1">
                <a:solidFill>
                  <a:srgbClr val="1F4E79"/>
                </a:solidFill>
                <a:latin typeface="Aptos"/>
              </a:defRPr>
            </a:pPr>
            <a:r>
              <a:t>03  Dataset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3840480"/>
            <a:ext cx="4937760" cy="768095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  <a:latin typeface="Aptos"/>
              </a:defRPr>
            </a:pPr>
            <a:r>
              <a:t>1,000 simulated time-series observations.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3383280"/>
            <a:ext cx="521208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3383280"/>
            <a:ext cx="64008" cy="128016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73368" y="3493008"/>
            <a:ext cx="4956048" cy="292608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 algn="l">
              <a:defRPr sz="1400" b="1">
                <a:solidFill>
                  <a:srgbClr val="1F4E79"/>
                </a:solidFill>
                <a:latin typeface="Aptos"/>
              </a:defRPr>
            </a:pPr>
            <a:r>
              <a:t>04  Evaluation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73368" y="3840480"/>
            <a:ext cx="4937760" cy="768095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  <a:latin typeface="Aptos"/>
              </a:defRPr>
            </a:pPr>
            <a:r>
              <a:t>Held-out errors and hypothesis test.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6400800" cy="201168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 algn="l">
              <a:defRPr sz="900" b="1">
                <a:solidFill>
                  <a:srgbClr val="0070C0"/>
                </a:solidFill>
                <a:latin typeface="Aptos"/>
              </a:defRPr>
            </a:pPr>
            <a:r>
              <a:t>MICRO-PROJECT 13  |  25DC210  |  PROBABILITY &amp; STATISTICS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38912"/>
            <a:ext cx="11155680" cy="502920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 algn="l">
              <a:defRPr sz="2600" b="1">
                <a:solidFill>
                  <a:srgbClr val="1F4E79"/>
                </a:solidFill>
                <a:latin typeface="Aptos"/>
              </a:defRPr>
            </a:pPr>
            <a:r>
              <a:t>Problem &amp; rationale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960120"/>
            <a:ext cx="10972800" cy="256032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 algn="l">
              <a:defRPr sz="1100" b="0">
                <a:solidFill>
                  <a:srgbClr val="595959"/>
                </a:solidFill>
                <a:latin typeface="Aptos"/>
              </a:defRPr>
            </a:pPr>
            <a:r>
              <a:t>Response time is a random variable—not a fixed constant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" y="1271016"/>
            <a:ext cx="1051560" cy="4114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912" y="6537960"/>
            <a:ext cx="7315200" cy="164592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 algn="l">
              <a:defRPr sz="800" b="0">
                <a:solidFill>
                  <a:srgbClr val="595959"/>
                </a:solidFill>
                <a:latin typeface="Aptos"/>
              </a:defRPr>
            </a:pPr>
            <a:r>
              <a:t>Karunya Institute of Technology and Sciences  •  Academic Year 2025–2026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519672"/>
            <a:ext cx="411480" cy="182880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 algn="r">
              <a:defRPr sz="900" b="0">
                <a:solidFill>
                  <a:srgbClr val="595959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645920"/>
            <a:ext cx="347472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645920"/>
            <a:ext cx="64008" cy="196596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755648"/>
            <a:ext cx="3218687" cy="292608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 algn="l">
              <a:defRPr sz="1400" b="1">
                <a:solidFill>
                  <a:srgbClr val="1F4E79"/>
                </a:solidFill>
                <a:latin typeface="Aptos"/>
              </a:defRPr>
            </a:pPr>
            <a:r>
              <a:t>Problem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103120"/>
            <a:ext cx="3200400" cy="1453895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  <a:latin typeface="Aptos"/>
              </a:defRPr>
            </a:pPr>
            <a:r>
              <a:t>Web-service response times fluctuate as request rate, CPU, memory and network load change.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645920"/>
            <a:ext cx="347472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1645920"/>
            <a:ext cx="64008" cy="196596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98848" y="1755648"/>
            <a:ext cx="3218687" cy="292608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 algn="l">
              <a:defRPr sz="1400" b="1">
                <a:solidFill>
                  <a:srgbClr val="1F4E79"/>
                </a:solidFill>
                <a:latin typeface="Aptos"/>
              </a:defRPr>
            </a:pPr>
            <a:r>
              <a:t>Question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98848" y="2103120"/>
            <a:ext cx="3200400" cy="1453895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  <a:latin typeface="Aptos"/>
              </a:defRPr>
            </a:pPr>
            <a:r>
              <a:t>Can statistical regression estimate response time from measurable workload variables?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1645920"/>
            <a:ext cx="347472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92440" y="1645920"/>
            <a:ext cx="64008" cy="196596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47888" y="1755648"/>
            <a:ext cx="3218687" cy="292608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 algn="l">
              <a:defRPr sz="1400" b="1">
                <a:solidFill>
                  <a:srgbClr val="1F4E79"/>
                </a:solidFill>
                <a:latin typeface="Aptos"/>
              </a:defRPr>
            </a:pPr>
            <a:r>
              <a:t>Value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2103120"/>
            <a:ext cx="3200400" cy="1453895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  <a:latin typeface="Aptos"/>
              </a:defRPr>
            </a:pPr>
            <a:r>
              <a:t>A quantitative model can support analysis of uncertainty and workload-related patterns.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4160520"/>
            <a:ext cx="10607040" cy="914400"/>
          </a:xfrm>
          <a:prstGeom prst="roundRect">
            <a:avLst/>
          </a:prstGeom>
          <a:solidFill>
            <a:srgbClr val="DDEBF7"/>
          </a:solidFill>
          <a:ln w="1270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4389120"/>
            <a:ext cx="10241280" cy="457200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 algn="ctr">
              <a:defRPr sz="1500" b="1">
                <a:solidFill>
                  <a:srgbClr val="1F4E79"/>
                </a:solidFill>
                <a:latin typeface="Aptos"/>
              </a:defRPr>
            </a:pPr>
            <a:r>
              <a:t>Scope: an educational analysis of simulated data—not a validated production monitoring system.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6400800" cy="201168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 algn="l">
              <a:defRPr sz="900" b="1">
                <a:solidFill>
                  <a:srgbClr val="0070C0"/>
                </a:solidFill>
                <a:latin typeface="Aptos"/>
              </a:defRPr>
            </a:pPr>
            <a:r>
              <a:t>MICRO-PROJECT 13  |  25DC210  |  PROBABILITY &amp; STATISTICS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38912"/>
            <a:ext cx="11155680" cy="502920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 algn="l">
              <a:defRPr sz="2600" b="1">
                <a:solidFill>
                  <a:srgbClr val="1F4E79"/>
                </a:solidFill>
                <a:latin typeface="Aptos"/>
              </a:defRPr>
            </a:pPr>
            <a:r>
              <a:t>Aim &amp;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960120"/>
            <a:ext cx="10972800" cy="256032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 algn="l">
              <a:defRPr sz="1100" b="0">
                <a:solidFill>
                  <a:srgbClr val="595959"/>
                </a:solidFill>
                <a:latin typeface="Aptos"/>
              </a:defRPr>
            </a:pPr>
            <a:r>
              <a:t>The project turns a dataset into a testable statistical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" y="1271016"/>
            <a:ext cx="1051560" cy="4114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912" y="6537960"/>
            <a:ext cx="7315200" cy="164592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 algn="l">
              <a:defRPr sz="800" b="0">
                <a:solidFill>
                  <a:srgbClr val="595959"/>
                </a:solidFill>
                <a:latin typeface="Aptos"/>
              </a:defRPr>
            </a:pPr>
            <a:r>
              <a:t>Karunya Institute of Technology and Sciences  •  Academic Year 2025–2026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519672"/>
            <a:ext cx="411480" cy="182880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 algn="r">
              <a:defRPr sz="900" b="0">
                <a:solidFill>
                  <a:srgbClr val="595959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91640"/>
            <a:ext cx="320040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691640"/>
            <a:ext cx="64008" cy="310896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" y="1801368"/>
            <a:ext cx="2944368" cy="292608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 algn="l">
              <a:defRPr sz="1400" b="1">
                <a:solidFill>
                  <a:srgbClr val="1F4E79"/>
                </a:solidFill>
                <a:latin typeface="Aptos"/>
              </a:defRPr>
            </a:pPr>
            <a:r>
              <a:t>Aim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2148840"/>
            <a:ext cx="2926080" cy="2596896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 algn="l">
              <a:defRPr sz="1500" b="0">
                <a:solidFill>
                  <a:srgbClr val="2D2D2D"/>
                </a:solidFill>
                <a:latin typeface="Aptos"/>
              </a:defRPr>
            </a:pPr>
            <a:r>
              <a:t>Develop and statistically evaluate a regression model that predicts server response time from workload variables.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1664208"/>
            <a:ext cx="6949440" cy="320040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 algn="l">
              <a:defRPr sz="1200" b="1">
                <a:solidFill>
                  <a:srgbClr val="0070C0"/>
                </a:solidFill>
                <a:latin typeface="Aptos"/>
              </a:defRPr>
            </a:pPr>
            <a:r>
              <a:t>OBJECTIVES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1960" y="2084831"/>
            <a:ext cx="6858000" cy="393192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  <a:latin typeface="Aptos"/>
              </a:defRPr>
            </a:pPr>
            <a:r>
              <a:t>•  Organise 1,000 workload and response-time observations.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51960" y="2523744"/>
            <a:ext cx="6858000" cy="393192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  <a:latin typeface="Aptos"/>
              </a:defRPr>
            </a:pPr>
            <a:r>
              <a:t>•  Summarise centre, spread and range.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2962656"/>
            <a:ext cx="6858000" cy="393192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  <a:latin typeface="Aptos"/>
              </a:defRPr>
            </a:pPr>
            <a:r>
              <a:t>•  Measure relationships using Pearson correlation.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51960" y="3401568"/>
            <a:ext cx="6858000" cy="393192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  <a:latin typeface="Aptos"/>
              </a:defRPr>
            </a:pPr>
            <a:r>
              <a:t>•  Fit multiple linear regression.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51960" y="3840479"/>
            <a:ext cx="6858000" cy="393192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  <a:latin typeface="Aptos"/>
              </a:defRPr>
            </a:pPr>
            <a:r>
              <a:t>•  Evaluate predictions on 200 held-out observations.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51960" y="4279392"/>
            <a:ext cx="6858000" cy="393192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  <a:latin typeface="Aptos"/>
              </a:defRPr>
            </a:pPr>
            <a:r>
              <a:t>•  Test whether mean residual differs from zero.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6400800" cy="201168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 algn="l">
              <a:defRPr sz="900" b="1">
                <a:solidFill>
                  <a:srgbClr val="0070C0"/>
                </a:solidFill>
                <a:latin typeface="Aptos"/>
              </a:defRPr>
            </a:pPr>
            <a:r>
              <a:t>MICRO-PROJECT 13  |  25DC210  |  PROBABILITY &amp; STATISTICS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38912"/>
            <a:ext cx="11155680" cy="502920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 algn="l">
              <a:defRPr sz="2600" b="1">
                <a:solidFill>
                  <a:srgbClr val="1F4E79"/>
                </a:solidFill>
                <a:latin typeface="Aptos"/>
              </a:defRPr>
            </a:pPr>
            <a:r>
              <a:t>Course alignment &amp; statistical toolkit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960120"/>
            <a:ext cx="10972800" cy="256032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 algn="l">
              <a:defRPr sz="1100" b="0">
                <a:solidFill>
                  <a:srgbClr val="595959"/>
                </a:solidFill>
                <a:latin typeface="Aptos"/>
              </a:defRPr>
            </a:pPr>
            <a:r>
              <a:t>Probability &amp; Statistics • Units IV and V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" y="1271016"/>
            <a:ext cx="1051560" cy="4114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912" y="6537960"/>
            <a:ext cx="7315200" cy="164592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 algn="l">
              <a:defRPr sz="800" b="0">
                <a:solidFill>
                  <a:srgbClr val="595959"/>
                </a:solidFill>
                <a:latin typeface="Aptos"/>
              </a:defRPr>
            </a:pPr>
            <a:r>
              <a:t>Karunya Institute of Technology and Sciences  •  Academic Year 2025–2026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519672"/>
            <a:ext cx="411480" cy="182880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 algn="r">
              <a:defRPr sz="900" b="0">
                <a:solidFill>
                  <a:srgbClr val="595959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828800"/>
            <a:ext cx="260604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828800"/>
            <a:ext cx="64008" cy="20574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938528"/>
            <a:ext cx="2350008" cy="292608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 algn="l">
              <a:defRPr sz="1400" b="1">
                <a:solidFill>
                  <a:srgbClr val="1F4E79"/>
                </a:solidFill>
                <a:latin typeface="Aptos"/>
              </a:defRPr>
            </a:pPr>
            <a:r>
              <a:t>Descriptive statistics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286000"/>
            <a:ext cx="2331720" cy="1545336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Aptos"/>
              </a:defRPr>
            </a:pPr>
            <a:r>
              <a:t>Mean, standard deviation, range and coefficient of variation.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74720" y="1828800"/>
            <a:ext cx="260604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74720" y="1828800"/>
            <a:ext cx="64008" cy="20574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30168" y="1938528"/>
            <a:ext cx="2350008" cy="292608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 algn="l">
              <a:defRPr sz="1400" b="1">
                <a:solidFill>
                  <a:srgbClr val="1F4E79"/>
                </a:solidFill>
                <a:latin typeface="Aptos"/>
              </a:defRPr>
            </a:pPr>
            <a:r>
              <a:t>Correlation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30168" y="2286000"/>
            <a:ext cx="2331720" cy="1545336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Aptos"/>
              </a:defRPr>
            </a:pPr>
            <a:r>
              <a:t>Pearson r measures linear association between variables.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5080" y="1828800"/>
            <a:ext cx="260604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5080" y="1828800"/>
            <a:ext cx="64008" cy="205740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10528" y="1938528"/>
            <a:ext cx="2350008" cy="292608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 algn="l">
              <a:defRPr sz="1400" b="1">
                <a:solidFill>
                  <a:srgbClr val="1F4E79"/>
                </a:solidFill>
                <a:latin typeface="Aptos"/>
              </a:defRPr>
            </a:pPr>
            <a:r>
              <a:t>Regression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0528" y="2286000"/>
            <a:ext cx="2331720" cy="1545336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Aptos"/>
              </a:defRPr>
            </a:pPr>
            <a:r>
              <a:t>Estimate response time from several workload predictors.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35440" y="1828800"/>
            <a:ext cx="260604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235440" y="1828800"/>
            <a:ext cx="64008" cy="20574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90888" y="1938528"/>
            <a:ext cx="2350008" cy="292608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 algn="l">
              <a:defRPr sz="1400" b="1">
                <a:solidFill>
                  <a:srgbClr val="1F4E79"/>
                </a:solidFill>
                <a:latin typeface="Aptos"/>
              </a:defRPr>
            </a:pPr>
            <a:r>
              <a:t>Validation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90888" y="2286000"/>
            <a:ext cx="2331720" cy="1545336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Aptos"/>
              </a:defRPr>
            </a:pPr>
            <a:r>
              <a:t>MAE, RMSE, R² and a one-sample t-test on residuals.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" y="4389120"/>
            <a:ext cx="10561320" cy="777240"/>
          </a:xfrm>
          <a:prstGeom prst="roundRect">
            <a:avLst/>
          </a:prstGeom>
          <a:solidFill>
            <a:srgbClr val="F2F6FA"/>
          </a:solidFill>
          <a:ln w="1270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4590288"/>
            <a:ext cx="10149840" cy="365760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 algn="ctr">
              <a:defRPr sz="1500" b="1">
                <a:solidFill>
                  <a:srgbClr val="1F4E79"/>
                </a:solidFill>
                <a:latin typeface="Aptos"/>
              </a:defRPr>
            </a:pPr>
            <a:r>
              <a:t>The analysis combines description, association, prediction and statistical validation.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6400800" cy="201168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 algn="l">
              <a:defRPr sz="900" b="1">
                <a:solidFill>
                  <a:srgbClr val="0070C0"/>
                </a:solidFill>
                <a:latin typeface="Aptos"/>
              </a:defRPr>
            </a:pPr>
            <a:r>
              <a:t>MICRO-PROJECT 13  |  25DC210  |  PROBABILITY &amp; STATISTICS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38912"/>
            <a:ext cx="11155680" cy="502920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 algn="l">
              <a:defRPr sz="2600" b="1">
                <a:solidFill>
                  <a:srgbClr val="1F4E79"/>
                </a:solidFill>
                <a:latin typeface="Aptos"/>
              </a:defRPr>
            </a:pPr>
            <a:r>
              <a:t>Methodology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960120"/>
            <a:ext cx="10972800" cy="256032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 algn="l">
              <a:defRPr sz="1100" b="0">
                <a:solidFill>
                  <a:srgbClr val="595959"/>
                </a:solidFill>
                <a:latin typeface="Aptos"/>
              </a:defRPr>
            </a:pPr>
            <a:r>
              <a:t>A reproducible pipeline from data preparation to interpretation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" y="1271016"/>
            <a:ext cx="1051560" cy="4114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912" y="6537960"/>
            <a:ext cx="7315200" cy="164592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 algn="l">
              <a:defRPr sz="800" b="0">
                <a:solidFill>
                  <a:srgbClr val="595959"/>
                </a:solidFill>
                <a:latin typeface="Aptos"/>
              </a:defRPr>
            </a:pPr>
            <a:r>
              <a:t>Karunya Institute of Technology and Sciences  •  Academic Year 2025–2026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519672"/>
            <a:ext cx="411480" cy="182880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 algn="r">
              <a:defRPr sz="900" b="0">
                <a:solidFill>
                  <a:srgbClr val="595959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240280"/>
            <a:ext cx="1417320" cy="1005840"/>
          </a:xfrm>
          <a:prstGeom prst="roundRect">
            <a:avLst/>
          </a:prstGeom>
          <a:solidFill>
            <a:srgbClr val="DDEBF7"/>
          </a:solidFill>
          <a:ln w="1270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6072" y="2359152"/>
            <a:ext cx="1261872" cy="228600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 algn="ctr">
              <a:defRPr sz="1300" b="1">
                <a:solidFill>
                  <a:srgbClr val="0070C0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7784" y="2697480"/>
            <a:ext cx="1307592" cy="411480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 algn="ctr">
              <a:defRPr sz="1100" b="1">
                <a:solidFill>
                  <a:srgbClr val="1F4E79"/>
                </a:solidFill>
                <a:latin typeface="Aptos"/>
              </a:defRPr>
            </a:pPr>
            <a:r>
              <a:t>Dataset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920240" y="2743200"/>
            <a:ext cx="228600" cy="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167128" y="2240280"/>
            <a:ext cx="1417320" cy="1005840"/>
          </a:xfrm>
          <a:prstGeom prst="roundRect">
            <a:avLst/>
          </a:prstGeom>
          <a:solidFill>
            <a:srgbClr val="DDEBF7"/>
          </a:solidFill>
          <a:ln w="1270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40280" y="2359152"/>
            <a:ext cx="1261872" cy="228600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 algn="ctr">
              <a:defRPr sz="1300" b="1">
                <a:solidFill>
                  <a:srgbClr val="0070C0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21992" y="2697480"/>
            <a:ext cx="1307592" cy="411480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 algn="ctr">
              <a:defRPr sz="1100" b="1">
                <a:solidFill>
                  <a:srgbClr val="1F4E79"/>
                </a:solidFill>
                <a:latin typeface="Aptos"/>
              </a:defRPr>
            </a:pPr>
            <a:r>
              <a:t>Clean &amp; inspect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584448" y="2743200"/>
            <a:ext cx="228600" cy="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831336" y="2240280"/>
            <a:ext cx="1417320" cy="1005840"/>
          </a:xfrm>
          <a:prstGeom prst="roundRect">
            <a:avLst/>
          </a:prstGeom>
          <a:solidFill>
            <a:srgbClr val="DDEBF7"/>
          </a:solidFill>
          <a:ln w="1270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04488" y="2359152"/>
            <a:ext cx="1261872" cy="228600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 algn="ctr">
              <a:defRPr sz="1300" b="1">
                <a:solidFill>
                  <a:srgbClr val="0070C0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86200" y="2697480"/>
            <a:ext cx="1307592" cy="411480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 algn="ctr">
              <a:defRPr sz="1100" b="1">
                <a:solidFill>
                  <a:srgbClr val="1F4E79"/>
                </a:solidFill>
                <a:latin typeface="Aptos"/>
              </a:defRPr>
            </a:pPr>
            <a:r>
              <a:t>Descriptive stats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248656" y="2743200"/>
            <a:ext cx="228600" cy="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495544" y="2240280"/>
            <a:ext cx="1417320" cy="1005840"/>
          </a:xfrm>
          <a:prstGeom prst="roundRect">
            <a:avLst/>
          </a:prstGeom>
          <a:solidFill>
            <a:srgbClr val="DDEBF7"/>
          </a:solidFill>
          <a:ln w="1270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568696" y="2359152"/>
            <a:ext cx="1261872" cy="228600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 algn="ctr">
              <a:defRPr sz="1300" b="1">
                <a:solidFill>
                  <a:srgbClr val="0070C0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50407" y="2697480"/>
            <a:ext cx="1307592" cy="411480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 algn="ctr">
              <a:defRPr sz="1100" b="1">
                <a:solidFill>
                  <a:srgbClr val="1F4E79"/>
                </a:solidFill>
                <a:latin typeface="Aptos"/>
              </a:defRPr>
            </a:pPr>
            <a:r>
              <a:t>Correlation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912864" y="2743200"/>
            <a:ext cx="228600" cy="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159752" y="2240280"/>
            <a:ext cx="1417320" cy="1005840"/>
          </a:xfrm>
          <a:prstGeom prst="roundRect">
            <a:avLst/>
          </a:prstGeom>
          <a:solidFill>
            <a:srgbClr val="DDEBF7"/>
          </a:solidFill>
          <a:ln w="1270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232904" y="2359152"/>
            <a:ext cx="1261872" cy="228600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 algn="ctr">
              <a:defRPr sz="1300" b="1">
                <a:solidFill>
                  <a:srgbClr val="0070C0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4616" y="2697480"/>
            <a:ext cx="1307592" cy="411480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 algn="ctr">
              <a:defRPr sz="1100" b="1">
                <a:solidFill>
                  <a:srgbClr val="1F4E79"/>
                </a:solidFill>
                <a:latin typeface="Aptos"/>
              </a:defRPr>
            </a:pPr>
            <a:r>
              <a:t>Regression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577072" y="2743200"/>
            <a:ext cx="228600" cy="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8823960" y="2240280"/>
            <a:ext cx="1417320" cy="1005840"/>
          </a:xfrm>
          <a:prstGeom prst="roundRect">
            <a:avLst/>
          </a:prstGeom>
          <a:solidFill>
            <a:srgbClr val="DDEBF7"/>
          </a:solidFill>
          <a:ln w="1270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97112" y="2359152"/>
            <a:ext cx="1261872" cy="228600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 algn="ctr">
              <a:defRPr sz="1300" b="1">
                <a:solidFill>
                  <a:srgbClr val="0070C0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78824" y="2697480"/>
            <a:ext cx="1307592" cy="411480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 algn="ctr">
              <a:defRPr sz="1100" b="1">
                <a:solidFill>
                  <a:srgbClr val="1F4E79"/>
                </a:solidFill>
                <a:latin typeface="Aptos"/>
              </a:defRPr>
            </a:pPr>
            <a:r>
              <a:t>Test set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10241280" y="2743200"/>
            <a:ext cx="228600" cy="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10488168" y="2240280"/>
            <a:ext cx="1417320" cy="1005840"/>
          </a:xfrm>
          <a:prstGeom prst="roundRect">
            <a:avLst/>
          </a:prstGeom>
          <a:solidFill>
            <a:srgbClr val="DDEBF7"/>
          </a:solidFill>
          <a:ln w="1270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61320" y="2359152"/>
            <a:ext cx="1261872" cy="228600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 algn="ctr">
              <a:defRPr sz="1300" b="1">
                <a:solidFill>
                  <a:srgbClr val="0070C0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43032" y="2697480"/>
            <a:ext cx="1307592" cy="411480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 algn="ctr">
              <a:defRPr sz="1100" b="1">
                <a:solidFill>
                  <a:srgbClr val="1F4E79"/>
                </a:solidFill>
                <a:latin typeface="Aptos"/>
              </a:defRPr>
            </a:pPr>
            <a:r>
              <a:t>Residual test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05840" y="3977639"/>
            <a:ext cx="10149840" cy="777240"/>
          </a:xfrm>
          <a:prstGeom prst="roundRect">
            <a:avLst/>
          </a:prstGeom>
          <a:solidFill>
            <a:srgbClr val="F2F6FA"/>
          </a:solidFill>
          <a:ln w="1270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234440" y="4178808"/>
            <a:ext cx="9692640" cy="365760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 algn="ctr">
              <a:defRPr sz="1500" b="1">
                <a:solidFill>
                  <a:srgbClr val="1F4E79"/>
                </a:solidFill>
                <a:latin typeface="Aptos"/>
              </a:defRPr>
            </a:pPr>
            <a:r>
              <a:t>80% training data (800 rows)  →  20% held-out test data (200 rows)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6400800" cy="201168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 algn="l">
              <a:defRPr sz="900" b="1">
                <a:solidFill>
                  <a:srgbClr val="0070C0"/>
                </a:solidFill>
                <a:latin typeface="Aptos"/>
              </a:defRPr>
            </a:pPr>
            <a:r>
              <a:t>MICRO-PROJECT 13  |  25DC210  |  PROBABILITY &amp; STATISTICS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38912"/>
            <a:ext cx="11155680" cy="502920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 algn="l">
              <a:defRPr sz="2600" b="1">
                <a:solidFill>
                  <a:srgbClr val="1F4E79"/>
                </a:solidFill>
                <a:latin typeface="Aptos"/>
              </a:defRPr>
            </a:pPr>
            <a:r>
              <a:t>Dataset &amp; variables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960120"/>
            <a:ext cx="10972800" cy="256032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 algn="l">
              <a:defRPr sz="1100" b="0">
                <a:solidFill>
                  <a:srgbClr val="595959"/>
                </a:solidFill>
                <a:latin typeface="Aptos"/>
              </a:defRPr>
            </a:pPr>
            <a:r>
              <a:t>1,000 simulated observations • random seed 42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" y="1271016"/>
            <a:ext cx="1051560" cy="4114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912" y="6537960"/>
            <a:ext cx="7315200" cy="164592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 algn="l">
              <a:defRPr sz="800" b="0">
                <a:solidFill>
                  <a:srgbClr val="595959"/>
                </a:solidFill>
                <a:latin typeface="Aptos"/>
              </a:defRPr>
            </a:pPr>
            <a:r>
              <a:t>Karunya Institute of Technology and Sciences  •  Academic Year 2025–2026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519672"/>
            <a:ext cx="411480" cy="182880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 algn="r">
              <a:defRPr sz="900" b="0">
                <a:solidFill>
                  <a:srgbClr val="595959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828800"/>
            <a:ext cx="210312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828800"/>
            <a:ext cx="64008" cy="16002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938528"/>
            <a:ext cx="1847087" cy="292608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 algn="l">
              <a:defRPr sz="1400" b="1">
                <a:solidFill>
                  <a:srgbClr val="1F4E79"/>
                </a:solidFill>
                <a:latin typeface="Aptos"/>
              </a:defRPr>
            </a:pPr>
            <a:r>
              <a:t>Request rate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286000"/>
            <a:ext cx="1828799" cy="1088136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Aptos"/>
              </a:defRPr>
            </a:pPr>
            <a:r>
              <a:t>50–997 req/s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34639" y="1828800"/>
            <a:ext cx="210312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834639" y="1828800"/>
            <a:ext cx="64008" cy="16002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90087" y="1938528"/>
            <a:ext cx="1847087" cy="292608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 algn="l">
              <a:defRPr sz="1400" b="1">
                <a:solidFill>
                  <a:srgbClr val="1F4E79"/>
                </a:solidFill>
                <a:latin typeface="Aptos"/>
              </a:defRPr>
            </a:pPr>
            <a:r>
              <a:t>CPU usage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90087" y="2286000"/>
            <a:ext cx="1828799" cy="1088136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Aptos"/>
              </a:defRPr>
            </a:pPr>
            <a:r>
              <a:t>1.0–99.5%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66359" y="1828800"/>
            <a:ext cx="210312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166359" y="1828800"/>
            <a:ext cx="64008" cy="160020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21807" y="1938528"/>
            <a:ext cx="1847087" cy="292608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 algn="l">
              <a:defRPr sz="1400" b="1">
                <a:solidFill>
                  <a:srgbClr val="1F4E79"/>
                </a:solidFill>
                <a:latin typeface="Aptos"/>
              </a:defRPr>
            </a:pPr>
            <a:r>
              <a:t>Memory usage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21807" y="2286000"/>
            <a:ext cx="1828799" cy="1088136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Aptos"/>
              </a:defRPr>
            </a:pPr>
            <a:r>
              <a:t>Mean 41.0%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79" y="1828800"/>
            <a:ext cx="210312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98079" y="1828800"/>
            <a:ext cx="64008" cy="16002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53527" y="1938528"/>
            <a:ext cx="1847087" cy="292608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 algn="l">
              <a:defRPr sz="1400" b="1">
                <a:solidFill>
                  <a:srgbClr val="1F4E79"/>
                </a:solidFill>
                <a:latin typeface="Aptos"/>
              </a:defRPr>
            </a:pPr>
            <a:r>
              <a:t>Network load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53527" y="2286000"/>
            <a:ext cx="1828799" cy="1088136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Aptos"/>
              </a:defRPr>
            </a:pPr>
            <a:r>
              <a:t>Workload predictor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829800" y="1828800"/>
            <a:ext cx="210312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829800" y="1828800"/>
            <a:ext cx="64008" cy="16002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985248" y="1938528"/>
            <a:ext cx="1847087" cy="292608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 algn="l">
              <a:defRPr sz="1400" b="1">
                <a:solidFill>
                  <a:srgbClr val="1F4E79"/>
                </a:solidFill>
                <a:latin typeface="Aptos"/>
              </a:defRPr>
            </a:pPr>
            <a:r>
              <a:t>Response time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85248" y="2286000"/>
            <a:ext cx="1828799" cy="1088136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Aptos"/>
              </a:defRPr>
            </a:pPr>
            <a:r>
              <a:t>56.72–619.18 ms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4069080"/>
            <a:ext cx="10515600" cy="411480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 algn="ctr">
              <a:defRPr sz="1400" b="1">
                <a:solidFill>
                  <a:srgbClr val="1F4E79"/>
                </a:solidFill>
                <a:latin typeface="Aptos"/>
              </a:defRPr>
            </a:pPr>
            <a:r>
              <a:t>Predictors: request rate • CPU usage • memory usage • network load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4617720"/>
            <a:ext cx="10515600" cy="502920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 algn="ctr">
              <a:defRPr sz="1200" b="0">
                <a:solidFill>
                  <a:srgbClr val="595959"/>
                </a:solidFill>
                <a:latin typeface="Aptos"/>
              </a:defRPr>
            </a:pPr>
            <a:r>
              <a:t>Target: response time (milliseconds). The dataset is simulated; conclusions are specific to this generated data.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6400800" cy="201168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 algn="l">
              <a:defRPr sz="900" b="1">
                <a:solidFill>
                  <a:srgbClr val="0070C0"/>
                </a:solidFill>
                <a:latin typeface="Aptos"/>
              </a:defRPr>
            </a:pPr>
            <a:r>
              <a:t>MICRO-PROJECT 13  |  25DC210  |  PROBABILITY &amp; STATISTICS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38912"/>
            <a:ext cx="11155680" cy="502920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 algn="l">
              <a:defRPr sz="2600" b="1">
                <a:solidFill>
                  <a:srgbClr val="1F4E79"/>
                </a:solidFill>
                <a:latin typeface="Aptos"/>
              </a:defRPr>
            </a:pPr>
            <a:r>
              <a:t>Descriptive statistics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960120"/>
            <a:ext cx="10972800" cy="256032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 algn="l">
              <a:defRPr sz="1100" b="0">
                <a:solidFill>
                  <a:srgbClr val="595959"/>
                </a:solidFill>
                <a:latin typeface="Aptos"/>
              </a:defRPr>
            </a:pPr>
            <a:r>
              <a:t>Response time: centre, spread and range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" y="1271016"/>
            <a:ext cx="1051560" cy="4114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912" y="6537960"/>
            <a:ext cx="7315200" cy="164592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 algn="l">
              <a:defRPr sz="800" b="0">
                <a:solidFill>
                  <a:srgbClr val="595959"/>
                </a:solidFill>
                <a:latin typeface="Aptos"/>
              </a:defRPr>
            </a:pPr>
            <a:r>
              <a:t>Karunya Institute of Technology and Sciences  •  Academic Year 2025–2026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519672"/>
            <a:ext cx="411480" cy="182880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 algn="r">
              <a:defRPr sz="900" b="0">
                <a:solidFill>
                  <a:srgbClr val="595959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828800"/>
            <a:ext cx="2560320" cy="1645920"/>
          </a:xfrm>
          <a:prstGeom prst="roundRect">
            <a:avLst/>
          </a:prstGeom>
          <a:solidFill>
            <a:srgbClr val="DDEBF7"/>
          </a:solidFill>
          <a:ln w="1270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029968"/>
            <a:ext cx="2377440" cy="256032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 algn="ctr">
              <a:defRPr sz="1200" b="1">
                <a:solidFill>
                  <a:srgbClr val="0070C0"/>
                </a:solidFill>
                <a:latin typeface="Aptos"/>
              </a:defRPr>
            </a:pPr>
            <a:r>
              <a:t>MEAN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2468880"/>
            <a:ext cx="2423160" cy="411480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 algn="ctr">
              <a:defRPr sz="1900" b="1">
                <a:solidFill>
                  <a:srgbClr val="1F4E79"/>
                </a:solidFill>
                <a:latin typeface="Aptos"/>
              </a:defRPr>
            </a:pPr>
            <a:r>
              <a:t>320.41 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971800"/>
            <a:ext cx="2377440" cy="274320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 algn="ctr">
              <a:defRPr sz="1000" b="0">
                <a:solidFill>
                  <a:srgbClr val="595959"/>
                </a:solidFill>
                <a:latin typeface="Aptos"/>
              </a:defRPr>
            </a:pPr>
            <a:r>
              <a:t>Average response time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74720" y="1828800"/>
            <a:ext cx="2560320" cy="1645920"/>
          </a:xfrm>
          <a:prstGeom prst="roundRect">
            <a:avLst/>
          </a:prstGeom>
          <a:solidFill>
            <a:srgbClr val="DDEBF7"/>
          </a:solidFill>
          <a:ln w="1270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66160" y="2029968"/>
            <a:ext cx="2377440" cy="256032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 algn="ctr">
              <a:defRPr sz="1200" b="1">
                <a:solidFill>
                  <a:srgbClr val="0070C0"/>
                </a:solidFill>
                <a:latin typeface="Aptos"/>
              </a:defRPr>
            </a:pPr>
            <a:r>
              <a:t>STD DEV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47872" y="2468880"/>
            <a:ext cx="2423160" cy="411480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 algn="ctr">
              <a:defRPr sz="1900" b="1">
                <a:solidFill>
                  <a:srgbClr val="1F4E79"/>
                </a:solidFill>
                <a:latin typeface="Aptos"/>
              </a:defRPr>
            </a:pPr>
            <a:r>
              <a:t>118.97 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2971800"/>
            <a:ext cx="2377440" cy="274320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 algn="ctr">
              <a:defRPr sz="1000" b="0">
                <a:solidFill>
                  <a:srgbClr val="595959"/>
                </a:solidFill>
                <a:latin typeface="Aptos"/>
              </a:defRPr>
            </a:pPr>
            <a:r>
              <a:t>Observed spread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5080" y="1828800"/>
            <a:ext cx="2560320" cy="1645920"/>
          </a:xfrm>
          <a:prstGeom prst="roundRect">
            <a:avLst/>
          </a:prstGeom>
          <a:solidFill>
            <a:srgbClr val="DDEBF7"/>
          </a:solidFill>
          <a:ln w="1270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2029968"/>
            <a:ext cx="2377440" cy="256032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 algn="ctr">
              <a:defRPr sz="1200" b="1">
                <a:solidFill>
                  <a:srgbClr val="0070C0"/>
                </a:solidFill>
                <a:latin typeface="Aptos"/>
              </a:defRPr>
            </a:pPr>
            <a:r>
              <a:t>RANGE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8232" y="2468880"/>
            <a:ext cx="2423160" cy="411480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 algn="ctr">
              <a:defRPr sz="1900" b="1">
                <a:solidFill>
                  <a:srgbClr val="1F4E79"/>
                </a:solidFill>
                <a:latin typeface="Aptos"/>
              </a:defRPr>
            </a:pPr>
            <a:r>
              <a:t>56.72–619.18 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2971800"/>
            <a:ext cx="2377440" cy="274320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 algn="ctr">
              <a:defRPr sz="1000" b="0">
                <a:solidFill>
                  <a:srgbClr val="595959"/>
                </a:solidFill>
                <a:latin typeface="Aptos"/>
              </a:defRPr>
            </a:pPr>
            <a:r>
              <a:t>Minimum to maximum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35440" y="1828800"/>
            <a:ext cx="2560320" cy="1645920"/>
          </a:xfrm>
          <a:prstGeom prst="roundRect">
            <a:avLst/>
          </a:prstGeom>
          <a:solidFill>
            <a:srgbClr val="DDEBF7"/>
          </a:solidFill>
          <a:ln w="1270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0" y="2029968"/>
            <a:ext cx="2377440" cy="256032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 algn="ctr">
              <a:defRPr sz="1200" b="1">
                <a:solidFill>
                  <a:srgbClr val="0070C0"/>
                </a:solidFill>
                <a:latin typeface="Aptos"/>
              </a:defRPr>
            </a:pPr>
            <a:r>
              <a:t>CV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08592" y="2468880"/>
            <a:ext cx="2423160" cy="411480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 algn="ctr">
              <a:defRPr sz="1900" b="1">
                <a:solidFill>
                  <a:srgbClr val="1F4E79"/>
                </a:solidFill>
                <a:latin typeface="Aptos"/>
              </a:defRPr>
            </a:pPr>
            <a:r>
              <a:t>≈ 37%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0" y="2971800"/>
            <a:ext cx="2377440" cy="274320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 algn="ctr">
              <a:defRPr sz="1000" b="0">
                <a:solidFill>
                  <a:srgbClr val="595959"/>
                </a:solidFill>
                <a:latin typeface="Aptos"/>
              </a:defRPr>
            </a:pPr>
            <a:r>
              <a:t>SD relative to mean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4160520"/>
            <a:ext cx="10515600" cy="594360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 algn="ctr">
              <a:defRPr sz="1500" b="1">
                <a:solidFill>
                  <a:srgbClr val="1F4E79"/>
                </a:solidFill>
                <a:latin typeface="Aptos"/>
              </a:defRPr>
            </a:pPr>
            <a:r>
              <a:t>Interpretation: response time varies substantially, so the model must explain more than the average alone.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6400800" cy="201168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 algn="l">
              <a:defRPr sz="900" b="1">
                <a:solidFill>
                  <a:srgbClr val="0070C0"/>
                </a:solidFill>
                <a:latin typeface="Aptos"/>
              </a:defRPr>
            </a:pPr>
            <a:r>
              <a:t>MICRO-PROJECT 13  |  25DC210  |  PROBABILITY &amp; STATISTICS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38912"/>
            <a:ext cx="11155680" cy="502920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 algn="l">
              <a:defRPr sz="2600" b="1">
                <a:solidFill>
                  <a:srgbClr val="1F4E79"/>
                </a:solidFill>
                <a:latin typeface="Aptos"/>
              </a:defRPr>
            </a:pPr>
            <a:r>
              <a:t>Time-series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960120"/>
            <a:ext cx="10972800" cy="256032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 algn="l">
              <a:defRPr sz="1100" b="0">
                <a:solidFill>
                  <a:srgbClr val="595959"/>
                </a:solidFill>
                <a:latin typeface="Aptos"/>
              </a:defRPr>
            </a:pPr>
            <a:r>
              <a:t>Original project output • generated response-time sequence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" y="1271016"/>
            <a:ext cx="1051560" cy="4114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912" y="6537960"/>
            <a:ext cx="7315200" cy="164592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 algn="l">
              <a:defRPr sz="800" b="0">
                <a:solidFill>
                  <a:srgbClr val="595959"/>
                </a:solidFill>
                <a:latin typeface="Aptos"/>
              </a:defRPr>
            </a:pPr>
            <a:r>
              <a:t>Karunya Institute of Technology and Sciences  •  Academic Year 2025–2026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519672"/>
            <a:ext cx="411480" cy="182880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 algn="r">
              <a:defRPr sz="900" b="0">
                <a:solidFill>
                  <a:srgbClr val="595959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600200"/>
            <a:ext cx="667512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783080"/>
            <a:ext cx="6355080" cy="393192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543800" y="1828800"/>
            <a:ext cx="388620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543800" y="1828800"/>
            <a:ext cx="64008" cy="132588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99248" y="1938528"/>
            <a:ext cx="3630168" cy="292608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 algn="l">
              <a:defRPr sz="1400" b="1">
                <a:solidFill>
                  <a:srgbClr val="1F4E79"/>
                </a:solidFill>
                <a:latin typeface="Aptos"/>
              </a:defRPr>
            </a:pPr>
            <a:r>
              <a:t>Engineered drift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99248" y="2286000"/>
            <a:ext cx="3611880" cy="813815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Aptos"/>
              </a:defRPr>
            </a:pPr>
            <a:r>
              <a:t>+0.05 ms per observation was added to the generated series.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43800" y="3429000"/>
            <a:ext cx="388620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543800" y="3429000"/>
            <a:ext cx="64008" cy="132588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99248" y="3538728"/>
            <a:ext cx="3630168" cy="292608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 algn="l">
              <a:defRPr sz="1400" b="1">
                <a:solidFill>
                  <a:srgbClr val="1F4E79"/>
                </a:solidFill>
                <a:latin typeface="Aptos"/>
              </a:defRPr>
            </a:pPr>
            <a:r>
              <a:t>Time correlation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99248" y="3886200"/>
            <a:ext cx="3611880" cy="813815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Aptos"/>
              </a:defRPr>
            </a:pPr>
            <a:r>
              <a:t>r = 0.1249 — weak positive association.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0" y="5074920"/>
            <a:ext cx="3749039" cy="502920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 algn="l">
              <a:defRPr sz="1000" b="0">
                <a:solidFill>
                  <a:srgbClr val="595959"/>
                </a:solidFill>
                <a:latin typeface="Aptos"/>
              </a:defRPr>
            </a:pPr>
            <a:r>
              <a:t>Screenshot from the original project deck.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6400800" cy="201168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 algn="l">
              <a:defRPr sz="900" b="1">
                <a:solidFill>
                  <a:srgbClr val="0070C0"/>
                </a:solidFill>
                <a:latin typeface="Aptos"/>
              </a:defRPr>
            </a:pPr>
            <a:r>
              <a:t>MICRO-PROJECT 13  |  25DC210  |  PROBABILITY &amp; STATISTICS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38912"/>
            <a:ext cx="11155680" cy="502920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 algn="l">
              <a:defRPr sz="2600" b="1">
                <a:solidFill>
                  <a:srgbClr val="1F4E79"/>
                </a:solidFill>
                <a:latin typeface="Aptos"/>
              </a:defRPr>
            </a:pPr>
            <a:r>
              <a:t>Correlation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960120"/>
            <a:ext cx="10972800" cy="256032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 algn="l">
              <a:defRPr sz="1100" b="0">
                <a:solidFill>
                  <a:srgbClr val="595959"/>
                </a:solidFill>
                <a:latin typeface="Aptos"/>
              </a:defRPr>
            </a:pPr>
            <a:r>
              <a:t>Pearson correlation with response time (n = 1,000)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" y="1271016"/>
            <a:ext cx="1051560" cy="4114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912" y="6537960"/>
            <a:ext cx="7315200" cy="164592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 algn="l">
              <a:defRPr sz="800" b="0">
                <a:solidFill>
                  <a:srgbClr val="595959"/>
                </a:solidFill>
                <a:latin typeface="Aptos"/>
              </a:defRPr>
            </a:pPr>
            <a:r>
              <a:t>Karunya Institute of Technology and Sciences  •  Academic Year 2025–2026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519672"/>
            <a:ext cx="411480" cy="182880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 algn="r">
              <a:defRPr sz="900" b="0">
                <a:solidFill>
                  <a:srgbClr val="595959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27632"/>
            <a:ext cx="1828800" cy="320040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 algn="l">
              <a:defRPr sz="1300" b="1">
                <a:solidFill>
                  <a:srgbClr val="1F4E79"/>
                </a:solidFill>
                <a:latin typeface="Aptos"/>
              </a:defRPr>
            </a:pPr>
            <a:r>
              <a:t>CPU usage</a:t>
            </a:r>
          </a:p>
        </p:txBody>
      </p:sp>
      <p:sp>
        <p:nvSpPr>
          <p:cNvPr id="9" name="Rectangle 8"/>
          <p:cNvSpPr/>
          <p:nvPr/>
        </p:nvSpPr>
        <p:spPr>
          <a:xfrm>
            <a:off x="2560320" y="1682496"/>
            <a:ext cx="3291840" cy="219456"/>
          </a:xfrm>
          <a:prstGeom prst="rect">
            <a:avLst/>
          </a:prstGeom>
          <a:solidFill>
            <a:srgbClr val="F2F6FA"/>
          </a:solidFill>
          <a:ln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560320" y="1682496"/>
            <a:ext cx="3172346" cy="21945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89320" y="1627632"/>
            <a:ext cx="914400" cy="320040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 algn="l">
              <a:defRPr sz="1200" b="1">
                <a:solidFill>
                  <a:srgbClr val="2D2D2D"/>
                </a:solidFill>
                <a:latin typeface="Aptos"/>
              </a:defRPr>
            </a:pPr>
            <a:r>
              <a:t>0.9637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313432"/>
            <a:ext cx="1828800" cy="320040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 algn="l">
              <a:defRPr sz="1300" b="1">
                <a:solidFill>
                  <a:srgbClr val="1F4E79"/>
                </a:solidFill>
                <a:latin typeface="Aptos"/>
              </a:defRPr>
            </a:pPr>
            <a:r>
              <a:t>Request rate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60320" y="2368296"/>
            <a:ext cx="3291840" cy="219456"/>
          </a:xfrm>
          <a:prstGeom prst="rect">
            <a:avLst/>
          </a:prstGeom>
          <a:solidFill>
            <a:srgbClr val="F2F6FA"/>
          </a:solidFill>
          <a:ln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560320" y="2368296"/>
            <a:ext cx="3101900" cy="21945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89320" y="2313432"/>
            <a:ext cx="914400" cy="320040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 algn="l">
              <a:defRPr sz="1200" b="1">
                <a:solidFill>
                  <a:srgbClr val="2D2D2D"/>
                </a:solidFill>
                <a:latin typeface="Aptos"/>
              </a:defRPr>
            </a:pPr>
            <a:r>
              <a:t>0.9423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2999232"/>
            <a:ext cx="1828800" cy="320040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 algn="l">
              <a:defRPr sz="1300" b="1">
                <a:solidFill>
                  <a:srgbClr val="1F4E79"/>
                </a:solidFill>
                <a:latin typeface="Aptos"/>
              </a:defRPr>
            </a:pPr>
            <a:r>
              <a:t>Network load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60320" y="3054096"/>
            <a:ext cx="3291840" cy="219456"/>
          </a:xfrm>
          <a:prstGeom prst="rect">
            <a:avLst/>
          </a:prstGeom>
          <a:solidFill>
            <a:srgbClr val="F2F6FA"/>
          </a:solidFill>
          <a:ln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560320" y="3054096"/>
            <a:ext cx="3090379" cy="21945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89320" y="2999232"/>
            <a:ext cx="914400" cy="320040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 algn="l">
              <a:defRPr sz="1200" b="1">
                <a:solidFill>
                  <a:srgbClr val="2D2D2D"/>
                </a:solidFill>
                <a:latin typeface="Aptos"/>
              </a:defRPr>
            </a:pPr>
            <a:r>
              <a:t>0.9388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685032"/>
            <a:ext cx="1828800" cy="320040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 algn="l">
              <a:defRPr sz="1300" b="1">
                <a:solidFill>
                  <a:srgbClr val="1F4E79"/>
                </a:solidFill>
                <a:latin typeface="Aptos"/>
              </a:defRPr>
            </a:pPr>
            <a:r>
              <a:t>Memory usage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560320" y="3739896"/>
            <a:ext cx="3291840" cy="219456"/>
          </a:xfrm>
          <a:prstGeom prst="rect">
            <a:avLst/>
          </a:prstGeom>
          <a:solidFill>
            <a:srgbClr val="F2F6FA"/>
          </a:solidFill>
          <a:ln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560320" y="3739896"/>
            <a:ext cx="2995245" cy="21945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89320" y="3685032"/>
            <a:ext cx="914400" cy="320040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 algn="l">
              <a:defRPr sz="1200" b="1">
                <a:solidFill>
                  <a:srgbClr val="2D2D2D"/>
                </a:solidFill>
                <a:latin typeface="Aptos"/>
              </a:defRPr>
            </a:pPr>
            <a:r>
              <a:t>0.9099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4370832"/>
            <a:ext cx="1828800" cy="320040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 algn="l">
              <a:defRPr sz="1300" b="1">
                <a:solidFill>
                  <a:srgbClr val="1F4E79"/>
                </a:solidFill>
                <a:latin typeface="Aptos"/>
              </a:defRPr>
            </a:pPr>
            <a:r>
              <a:t>Time step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560320" y="4425696"/>
            <a:ext cx="3291840" cy="219456"/>
          </a:xfrm>
          <a:prstGeom prst="rect">
            <a:avLst/>
          </a:prstGeom>
          <a:solidFill>
            <a:srgbClr val="F2F6FA"/>
          </a:solidFill>
          <a:ln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560320" y="4425696"/>
            <a:ext cx="411150" cy="219456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89320" y="4370832"/>
            <a:ext cx="914400" cy="320040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 algn="l">
              <a:defRPr sz="1200" b="1">
                <a:solidFill>
                  <a:srgbClr val="2D2D2D"/>
                </a:solidFill>
                <a:latin typeface="Aptos"/>
              </a:defRPr>
            </a:pPr>
            <a:r>
              <a:t>0.1249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132320" y="1645920"/>
            <a:ext cx="4434840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9480" y="1828800"/>
            <a:ext cx="4160520" cy="27432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7315200" y="4754880"/>
            <a:ext cx="4069080" cy="502920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 algn="ctr">
              <a:defRPr sz="1000" b="0">
                <a:solidFill>
                  <a:srgbClr val="595959"/>
                </a:solidFill>
                <a:latin typeface="Aptos"/>
              </a:defRPr>
            </a:pPr>
            <a:r>
              <a:t>Original CPU vs response-time plot.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5532120"/>
            <a:ext cx="6035040" cy="320040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 algn="l">
              <a:defRPr sz="1100" b="0">
                <a:solidFill>
                  <a:srgbClr val="595959"/>
                </a:solidFill>
                <a:latin typeface="Aptos"/>
              </a:defRPr>
            </a:pPr>
            <a:r>
              <a:t>Strong association is not proof of causation.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6400800" cy="201168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 algn="l">
              <a:defRPr sz="900" b="1">
                <a:solidFill>
                  <a:srgbClr val="0070C0"/>
                </a:solidFill>
                <a:latin typeface="Aptos"/>
              </a:defRPr>
            </a:pPr>
            <a:r>
              <a:t>MICRO-PROJECT 13  |  25DC210  |  PROBABILITY &amp; STATISTICS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38912"/>
            <a:ext cx="11155680" cy="502920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 algn="l">
              <a:defRPr sz="2600" b="1">
                <a:solidFill>
                  <a:srgbClr val="1F4E79"/>
                </a:solidFill>
                <a:latin typeface="Aptos"/>
              </a:defRPr>
            </a:pPr>
            <a:r>
              <a:t>Multiple linear regression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960120"/>
            <a:ext cx="10972800" cy="256032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 algn="l">
              <a:defRPr sz="1100" b="0">
                <a:solidFill>
                  <a:srgbClr val="595959"/>
                </a:solidFill>
                <a:latin typeface="Aptos"/>
              </a:defRPr>
            </a:pPr>
            <a:r>
              <a:t>Fitted model using four workload predictors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" y="1271016"/>
            <a:ext cx="1051560" cy="4114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912" y="6537960"/>
            <a:ext cx="7315200" cy="164592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 algn="l">
              <a:defRPr sz="800" b="0">
                <a:solidFill>
                  <a:srgbClr val="595959"/>
                </a:solidFill>
                <a:latin typeface="Aptos"/>
              </a:defRPr>
            </a:pPr>
            <a:r>
              <a:t>Karunya Institute of Technology and Sciences  •  Academic Year 2025–2026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519672"/>
            <a:ext cx="411480" cy="182880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 algn="r">
              <a:defRPr sz="900" b="0">
                <a:solidFill>
                  <a:srgbClr val="595959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737360"/>
            <a:ext cx="10835640" cy="1051560"/>
          </a:xfrm>
          <a:prstGeom prst="roundRect">
            <a:avLst/>
          </a:prstGeom>
          <a:solidFill>
            <a:srgbClr val="DDEBF7"/>
          </a:solidFill>
          <a:ln w="1270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993392"/>
            <a:ext cx="10332720" cy="502920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 algn="ctr">
              <a:defRPr sz="1600" b="1">
                <a:solidFill>
                  <a:srgbClr val="1F4E79"/>
                </a:solidFill>
                <a:latin typeface="Aptos"/>
              </a:defRPr>
            </a:pPr>
            <a:r>
              <a:t>Ŷ = 73.53 + 0.052(Request Rate) + 2.416(CPU) + 1.447(Memory) + 2.220(Network)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3246120"/>
            <a:ext cx="21031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" y="3246120"/>
            <a:ext cx="64008" cy="12344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3355848"/>
            <a:ext cx="1847087" cy="292608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 algn="l">
              <a:defRPr sz="1400" b="1">
                <a:solidFill>
                  <a:srgbClr val="1F4E79"/>
                </a:solidFill>
                <a:latin typeface="Aptos"/>
              </a:defRPr>
            </a:pPr>
            <a:r>
              <a:t>Intercept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3703320"/>
            <a:ext cx="1828799" cy="722376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Aptos"/>
              </a:defRPr>
            </a:pPr>
            <a:r>
              <a:t>73.53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926079" y="3246120"/>
            <a:ext cx="21031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26079" y="3246120"/>
            <a:ext cx="64008" cy="123444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81527" y="3355848"/>
            <a:ext cx="1847087" cy="292608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 algn="l">
              <a:defRPr sz="1400" b="1">
                <a:solidFill>
                  <a:srgbClr val="1F4E79"/>
                </a:solidFill>
                <a:latin typeface="Aptos"/>
              </a:defRPr>
            </a:pPr>
            <a:r>
              <a:t>Request rate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81527" y="3703320"/>
            <a:ext cx="1828799" cy="722376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Aptos"/>
              </a:defRPr>
            </a:pPr>
            <a:r>
              <a:t>0.052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257800" y="3246120"/>
            <a:ext cx="21031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257800" y="3246120"/>
            <a:ext cx="64008" cy="123444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13248" y="3355848"/>
            <a:ext cx="1847087" cy="292608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 algn="l">
              <a:defRPr sz="1400" b="1">
                <a:solidFill>
                  <a:srgbClr val="1F4E79"/>
                </a:solidFill>
                <a:latin typeface="Aptos"/>
              </a:defRPr>
            </a:pPr>
            <a:r>
              <a:t>CPU usage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13248" y="3703320"/>
            <a:ext cx="1828799" cy="722376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Aptos"/>
              </a:defRPr>
            </a:pPr>
            <a:r>
              <a:t>2.416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89519" y="3246120"/>
            <a:ext cx="21031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589519" y="3246120"/>
            <a:ext cx="64008" cy="123444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44967" y="3355848"/>
            <a:ext cx="1847087" cy="292608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 algn="l">
              <a:defRPr sz="1400" b="1">
                <a:solidFill>
                  <a:srgbClr val="1F4E79"/>
                </a:solidFill>
                <a:latin typeface="Aptos"/>
              </a:defRPr>
            </a:pPr>
            <a:r>
              <a:t>Memory usage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44967" y="3703320"/>
            <a:ext cx="1828799" cy="722376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Aptos"/>
              </a:defRPr>
            </a:pPr>
            <a:r>
              <a:t>1.447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921240" y="3246120"/>
            <a:ext cx="21031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921240" y="3246120"/>
            <a:ext cx="64008" cy="12344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76688" y="3355848"/>
            <a:ext cx="1847087" cy="292608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 algn="l">
              <a:defRPr sz="1400" b="1">
                <a:solidFill>
                  <a:srgbClr val="1F4E79"/>
                </a:solidFill>
                <a:latin typeface="Aptos"/>
              </a:defRPr>
            </a:pPr>
            <a:r>
              <a:t>Network load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76688" y="3703320"/>
            <a:ext cx="1828799" cy="722376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Aptos"/>
              </a:defRPr>
            </a:pPr>
            <a:r>
              <a:t>2.220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" y="4983480"/>
            <a:ext cx="10424160" cy="594360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 algn="ctr">
              <a:defRPr sz="1300" b="0">
                <a:solidFill>
                  <a:srgbClr val="595959"/>
                </a:solidFill>
                <a:latin typeface="Aptos"/>
              </a:defRPr>
            </a:pPr>
            <a:r>
              <a:t>Coefficients describe fitted relationships. Correlated predictors can make individual coefficients harder to interpret.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6400800" cy="201168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 algn="l">
              <a:defRPr sz="900" b="1">
                <a:solidFill>
                  <a:srgbClr val="0070C0"/>
                </a:solidFill>
                <a:latin typeface="Aptos"/>
              </a:defRPr>
            </a:pPr>
            <a:r>
              <a:t>MICRO-PROJECT 13  |  25DC210  |  PROBABILITY &amp; STATISTICS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38912"/>
            <a:ext cx="11155680" cy="502920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 algn="l">
              <a:defRPr sz="2600" b="1">
                <a:solidFill>
                  <a:srgbClr val="1F4E79"/>
                </a:solidFill>
                <a:latin typeface="Aptos"/>
              </a:defRPr>
            </a:pPr>
            <a:r>
              <a:t>Prediction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960120"/>
            <a:ext cx="10972800" cy="256032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 algn="l">
              <a:defRPr sz="1100" b="0">
                <a:solidFill>
                  <a:srgbClr val="595959"/>
                </a:solidFill>
                <a:latin typeface="Aptos"/>
              </a:defRPr>
            </a:pPr>
            <a:r>
              <a:t>Held-out test set • 200 observations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" y="1271016"/>
            <a:ext cx="1051560" cy="4114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912" y="6537960"/>
            <a:ext cx="7315200" cy="164592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 algn="l">
              <a:defRPr sz="800" b="0">
                <a:solidFill>
                  <a:srgbClr val="595959"/>
                </a:solidFill>
                <a:latin typeface="Aptos"/>
              </a:defRPr>
            </a:pPr>
            <a:r>
              <a:t>Karunya Institute of Technology and Sciences  •  Academic Year 2025–2026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519672"/>
            <a:ext cx="411480" cy="182880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 algn="r">
              <a:defRPr sz="900" b="0">
                <a:solidFill>
                  <a:srgbClr val="595959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691640"/>
            <a:ext cx="1874519" cy="1143000"/>
          </a:xfrm>
          <a:prstGeom prst="roundRect">
            <a:avLst/>
          </a:prstGeom>
          <a:solidFill>
            <a:srgbClr val="DDEBF7"/>
          </a:solidFill>
          <a:ln w="1270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847088"/>
            <a:ext cx="1691640" cy="228600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 algn="ctr">
              <a:defRPr sz="1100" b="1">
                <a:solidFill>
                  <a:srgbClr val="0070C0"/>
                </a:solidFill>
                <a:latin typeface="Aptos"/>
              </a:defRPr>
            </a:pPr>
            <a:r>
              <a:t>MAE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2148840"/>
            <a:ext cx="1737360" cy="320040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 algn="ctr">
              <a:defRPr sz="1600" b="1">
                <a:solidFill>
                  <a:srgbClr val="1F4E79"/>
                </a:solidFill>
                <a:latin typeface="Aptos"/>
              </a:defRPr>
            </a:pPr>
            <a:r>
              <a:t>20.21 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496312"/>
            <a:ext cx="1691640" cy="228600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 algn="ctr">
              <a:defRPr sz="900" b="0">
                <a:solidFill>
                  <a:srgbClr val="595959"/>
                </a:solidFill>
                <a:latin typeface="Aptos"/>
              </a:defRPr>
            </a:pPr>
            <a:r>
              <a:t>Average absolute error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51760" y="1691640"/>
            <a:ext cx="1874519" cy="1143000"/>
          </a:xfrm>
          <a:prstGeom prst="roundRect">
            <a:avLst/>
          </a:prstGeom>
          <a:solidFill>
            <a:srgbClr val="DDEBF7"/>
          </a:solidFill>
          <a:ln w="1270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0" y="1847088"/>
            <a:ext cx="1691640" cy="228600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 algn="ctr">
              <a:defRPr sz="1100" b="1">
                <a:solidFill>
                  <a:srgbClr val="0070C0"/>
                </a:solidFill>
                <a:latin typeface="Aptos"/>
              </a:defRPr>
            </a:pPr>
            <a:r>
              <a:t>RMSE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24912" y="2148840"/>
            <a:ext cx="1737360" cy="320040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 algn="ctr">
              <a:defRPr sz="1600" b="1">
                <a:solidFill>
                  <a:srgbClr val="1F4E79"/>
                </a:solidFill>
                <a:latin typeface="Aptos"/>
              </a:defRPr>
            </a:pPr>
            <a:r>
              <a:t>25.26 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2496312"/>
            <a:ext cx="1691640" cy="228600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 algn="ctr">
              <a:defRPr sz="900" b="0">
                <a:solidFill>
                  <a:srgbClr val="595959"/>
                </a:solidFill>
                <a:latin typeface="Aptos"/>
              </a:defRPr>
            </a:pPr>
            <a:r>
              <a:t>Penalises larger errors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09160" y="1691640"/>
            <a:ext cx="1874519" cy="1143000"/>
          </a:xfrm>
          <a:prstGeom prst="roundRect">
            <a:avLst/>
          </a:prstGeom>
          <a:solidFill>
            <a:srgbClr val="DDEBF7"/>
          </a:solidFill>
          <a:ln w="1270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00600" y="1847088"/>
            <a:ext cx="1691640" cy="228600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 algn="ctr">
              <a:defRPr sz="1100" b="1">
                <a:solidFill>
                  <a:srgbClr val="0070C0"/>
                </a:solidFill>
                <a:latin typeface="Aptos"/>
              </a:defRPr>
            </a:pPr>
            <a:r>
              <a:t>R²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82312" y="2148840"/>
            <a:ext cx="1737360" cy="320040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 algn="ctr">
              <a:defRPr sz="1600" b="1">
                <a:solidFill>
                  <a:srgbClr val="1F4E79"/>
                </a:solidFill>
                <a:latin typeface="Aptos"/>
              </a:defRPr>
            </a:pPr>
            <a:r>
              <a:t>0.9505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00600" y="2496312"/>
            <a:ext cx="1691640" cy="228600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 algn="ctr">
              <a:defRPr sz="900" b="0">
                <a:solidFill>
                  <a:srgbClr val="595959"/>
                </a:solidFill>
                <a:latin typeface="Aptos"/>
              </a:defRPr>
            </a:pPr>
            <a:r>
              <a:t>95.05% variance explained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86600" y="1600200"/>
            <a:ext cx="448056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0" y="1783080"/>
            <a:ext cx="4206240" cy="32004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7269480" y="5074920"/>
            <a:ext cx="4114800" cy="411480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 algn="ctr">
              <a:defRPr sz="1000" b="0">
                <a:solidFill>
                  <a:srgbClr val="595959"/>
                </a:solidFill>
                <a:latin typeface="Aptos"/>
              </a:defRPr>
            </a:pPr>
            <a:r>
              <a:t>Original predicted-vs-actual output plot.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3657600"/>
            <a:ext cx="5943600" cy="731520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 algn="l">
              <a:defRPr sz="1500" b="1">
                <a:solidFill>
                  <a:srgbClr val="1F4E79"/>
                </a:solidFill>
                <a:latin typeface="Aptos"/>
              </a:defRPr>
            </a:pPr>
            <a:r>
              <a:t>The reported R² indicates a strong fit on the simulated test set.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617720"/>
            <a:ext cx="5943600" cy="594360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Aptos"/>
              </a:defRPr>
            </a:pPr>
            <a:r>
              <a:t>MAE and RMSE summarise the typical prediction error in milliseconds.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6400800" cy="201168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 algn="l">
              <a:defRPr sz="900" b="1">
                <a:solidFill>
                  <a:srgbClr val="0070C0"/>
                </a:solidFill>
                <a:latin typeface="Aptos"/>
              </a:defRPr>
            </a:pPr>
            <a:r>
              <a:t>MICRO-PROJECT 13  |  25DC210  |  PROBABILITY &amp; STATISTICS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38912"/>
            <a:ext cx="11155680" cy="502920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 algn="l">
              <a:defRPr sz="2600" b="1">
                <a:solidFill>
                  <a:srgbClr val="1F4E79"/>
                </a:solidFill>
                <a:latin typeface="Aptos"/>
              </a:defRPr>
            </a:pPr>
            <a:r>
              <a:t>Hypothesis test: mean residual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960120"/>
            <a:ext cx="10972800" cy="256032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 algn="l">
              <a:defRPr sz="1100" b="0">
                <a:solidFill>
                  <a:srgbClr val="595959"/>
                </a:solidFill>
                <a:latin typeface="Aptos"/>
              </a:defRPr>
            </a:pPr>
            <a:r>
              <a:t>One-sample Student’s t-test • α = 0.05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" y="1271016"/>
            <a:ext cx="1051560" cy="4114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912" y="6537960"/>
            <a:ext cx="7315200" cy="164592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 algn="l">
              <a:defRPr sz="800" b="0">
                <a:solidFill>
                  <a:srgbClr val="595959"/>
                </a:solidFill>
                <a:latin typeface="Aptos"/>
              </a:defRPr>
            </a:pPr>
            <a:r>
              <a:t>Karunya Institute of Technology and Sciences  •  Academic Year 2025–2026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519672"/>
            <a:ext cx="411480" cy="182880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 algn="r">
              <a:defRPr sz="900" b="0">
                <a:solidFill>
                  <a:srgbClr val="595959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645920"/>
            <a:ext cx="29260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645920"/>
            <a:ext cx="64008" cy="1143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755648"/>
            <a:ext cx="2670048" cy="292608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 algn="l">
              <a:defRPr sz="1400" b="1">
                <a:solidFill>
                  <a:srgbClr val="1F4E79"/>
                </a:solidFill>
                <a:latin typeface="Aptos"/>
              </a:defRPr>
            </a:pPr>
            <a:r>
              <a:t>H₀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103120"/>
            <a:ext cx="2651760" cy="630936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Aptos"/>
              </a:defRPr>
            </a:pPr>
            <a:r>
              <a:t>Mean prediction error = 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03320" y="1645920"/>
            <a:ext cx="29260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703320" y="1645920"/>
            <a:ext cx="64008" cy="1143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58768" y="1755648"/>
            <a:ext cx="2670048" cy="292608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 algn="l">
              <a:defRPr sz="1400" b="1">
                <a:solidFill>
                  <a:srgbClr val="1F4E79"/>
                </a:solidFill>
                <a:latin typeface="Aptos"/>
              </a:defRPr>
            </a:pPr>
            <a:r>
              <a:t>H₁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58768" y="2103120"/>
            <a:ext cx="2651760" cy="630936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Aptos"/>
              </a:defRPr>
            </a:pPr>
            <a:r>
              <a:t>Mean error ≠ 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12280" y="1645920"/>
            <a:ext cx="45720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812280" y="1645920"/>
            <a:ext cx="64008" cy="1143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67728" y="1755648"/>
            <a:ext cx="4315968" cy="292608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 algn="l">
              <a:defRPr sz="1400" b="1">
                <a:solidFill>
                  <a:srgbClr val="1F4E79"/>
                </a:solidFill>
                <a:latin typeface="Aptos"/>
              </a:defRPr>
            </a:pPr>
            <a:r>
              <a:t>Reported test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67728" y="2103120"/>
            <a:ext cx="4297680" cy="630936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Aptos"/>
              </a:defRPr>
            </a:pPr>
            <a:r>
              <a:t>t = 0.3931  •  p = 0.6947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246120"/>
            <a:ext cx="548640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3401568"/>
            <a:ext cx="5120640" cy="1783080"/>
          </a:xfrm>
          <a:prstGeom prst="rect">
            <a:avLst/>
          </a:prstGeom>
        </p:spPr>
      </p:pic>
      <p:sp>
        <p:nvSpPr>
          <p:cNvPr id="22" name="Rounded Rectangle 21"/>
          <p:cNvSpPr/>
          <p:nvPr/>
        </p:nvSpPr>
        <p:spPr>
          <a:xfrm>
            <a:off x="6400800" y="3246120"/>
            <a:ext cx="4983480" cy="2240280"/>
          </a:xfrm>
          <a:prstGeom prst="roundRect">
            <a:avLst/>
          </a:prstGeom>
          <a:solidFill>
            <a:srgbClr val="DDEBF7"/>
          </a:solidFill>
          <a:ln w="1270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29400" y="3520440"/>
            <a:ext cx="4526280" cy="320040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 algn="l">
              <a:defRPr sz="1200" b="1">
                <a:solidFill>
                  <a:srgbClr val="0070C0"/>
                </a:solidFill>
                <a:latin typeface="Aptos"/>
              </a:defRPr>
            </a:pPr>
            <a:r>
              <a:t>INTERPRETATION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9400" y="3977639"/>
            <a:ext cx="4480560" cy="1005840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 algn="l">
              <a:defRPr sz="1300" b="0">
                <a:solidFill>
                  <a:srgbClr val="1F4E79"/>
                </a:solidFill>
                <a:latin typeface="Aptos"/>
              </a:defRPr>
            </a:pPr>
            <a:r>
              <a:t>p &gt; 0.05: fail to reject H₀. The test finds no evidence of a non-zero mean residual; it does not prove every prediction is unbiased.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6400800" cy="201168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 algn="l">
              <a:defRPr sz="900" b="1">
                <a:solidFill>
                  <a:srgbClr val="0070C0"/>
                </a:solidFill>
                <a:latin typeface="Aptos"/>
              </a:defRPr>
            </a:pPr>
            <a:r>
              <a:t>MICRO-PROJECT 13  |  25DC210  |  PROBABILITY &amp; STATISTICS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38912"/>
            <a:ext cx="11155680" cy="502920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 algn="l">
              <a:defRPr sz="2600" b="1">
                <a:solidFill>
                  <a:srgbClr val="1F4E79"/>
                </a:solidFill>
                <a:latin typeface="Aptos"/>
              </a:defRPr>
            </a:pPr>
            <a:r>
              <a:t>Limitations &amp; 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960120"/>
            <a:ext cx="10972800" cy="256032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 algn="l">
              <a:defRPr sz="1100" b="0">
                <a:solidFill>
                  <a:srgbClr val="595959"/>
                </a:solidFill>
                <a:latin typeface="Aptos"/>
              </a:defRPr>
            </a:pPr>
            <a:r>
              <a:t>Interpret results within the evidence available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" y="1271016"/>
            <a:ext cx="1051560" cy="4114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912" y="6537960"/>
            <a:ext cx="7315200" cy="164592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 algn="l">
              <a:defRPr sz="800" b="0">
                <a:solidFill>
                  <a:srgbClr val="595959"/>
                </a:solidFill>
                <a:latin typeface="Aptos"/>
              </a:defRPr>
            </a:pPr>
            <a:r>
              <a:t>Karunya Institute of Technology and Sciences  •  Academic Year 2025–2026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519672"/>
            <a:ext cx="411480" cy="182880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 algn="r">
              <a:defRPr sz="900" b="0">
                <a:solidFill>
                  <a:srgbClr val="595959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691640"/>
            <a:ext cx="352044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691640"/>
            <a:ext cx="64008" cy="242316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801368"/>
            <a:ext cx="3264408" cy="292608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 algn="l">
              <a:defRPr sz="1400" b="1">
                <a:solidFill>
                  <a:srgbClr val="1F4E79"/>
                </a:solidFill>
                <a:latin typeface="Aptos"/>
              </a:defRPr>
            </a:pPr>
            <a:r>
              <a:t>What this shows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148840"/>
            <a:ext cx="3246120" cy="1911095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Aptos"/>
              </a:defRPr>
            </a:pPr>
            <a:r>
              <a:t>• Strong correlations in generated data</a:t>
            </a:r>
            <a:br/>
            <a:r>
              <a:t>• Regression prediction and held-out metrics</a:t>
            </a:r>
            <a:br/>
            <a:r>
              <a:t>• Residual mean test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691640"/>
            <a:ext cx="352044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1691640"/>
            <a:ext cx="64008" cy="242316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98848" y="1801368"/>
            <a:ext cx="3264408" cy="292608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 algn="l">
              <a:defRPr sz="1400" b="1">
                <a:solidFill>
                  <a:srgbClr val="1F4E79"/>
                </a:solidFill>
                <a:latin typeface="Aptos"/>
              </a:defRPr>
            </a:pPr>
            <a:r>
              <a:t>Limitations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98848" y="2148840"/>
            <a:ext cx="3246120" cy="1911095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Aptos"/>
              </a:defRPr>
            </a:pPr>
            <a:r>
              <a:t>• Simulated rather than live telemetry</a:t>
            </a:r>
            <a:br/>
            <a:r>
              <a:t>• Relationships are data-generation dependent</a:t>
            </a:r>
            <a:br/>
            <a:r>
              <a:t>• No proof of causation or external validity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1691640"/>
            <a:ext cx="352044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92440" y="1691640"/>
            <a:ext cx="64008" cy="242316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47888" y="1801368"/>
            <a:ext cx="3264408" cy="292608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 algn="l">
              <a:defRPr sz="1400" b="1">
                <a:solidFill>
                  <a:srgbClr val="1F4E79"/>
                </a:solidFill>
                <a:latin typeface="Aptos"/>
              </a:defRPr>
            </a:pPr>
            <a:r>
              <a:t>Next steps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2148840"/>
            <a:ext cx="3246120" cy="1911095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Aptos"/>
              </a:defRPr>
            </a:pPr>
            <a:r>
              <a:t>• Collect real server measurements</a:t>
            </a:r>
            <a:br/>
            <a:r>
              <a:t>• Check residual assumptions</a:t>
            </a:r>
            <a:br/>
            <a:r>
              <a:t>• Test time-based holdout and drift</a:t>
            </a:r>
            <a:br/>
            <a:r>
              <a:t>• Compare alternative models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8680" y="4663440"/>
            <a:ext cx="10424160" cy="685800"/>
          </a:xfrm>
          <a:prstGeom prst="roundRect">
            <a:avLst/>
          </a:prstGeom>
          <a:solidFill>
            <a:srgbClr val="F2F6FA"/>
          </a:solidFill>
          <a:ln w="1270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4846320"/>
            <a:ext cx="10058400" cy="274320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 algn="ctr">
              <a:defRPr sz="1400" b="1">
                <a:solidFill>
                  <a:srgbClr val="1F4E79"/>
                </a:solidFill>
                <a:latin typeface="Aptos"/>
              </a:defRPr>
            </a:pPr>
            <a:r>
              <a:t>Potential application: performance baselines and capacity-planning experiments.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6400800" cy="201168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 algn="l">
              <a:defRPr sz="900" b="1">
                <a:solidFill>
                  <a:srgbClr val="0070C0"/>
                </a:solidFill>
                <a:latin typeface="Aptos"/>
              </a:defRPr>
            </a:pPr>
            <a:r>
              <a:t>MICRO-PROJECT 13  |  25DC210  |  PROBABILITY &amp; STATISTICS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38912"/>
            <a:ext cx="11155680" cy="502920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 algn="l">
              <a:defRPr sz="2600" b="1">
                <a:solidFill>
                  <a:srgbClr val="1F4E79"/>
                </a:solidFill>
                <a:latin typeface="Aptos"/>
              </a:defRPr>
            </a:pPr>
            <a:r>
              <a:t>Conclusion &amp; 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960120"/>
            <a:ext cx="10972800" cy="256032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 algn="l">
              <a:defRPr sz="1100" b="0">
                <a:solidFill>
                  <a:srgbClr val="595959"/>
                </a:solidFill>
                <a:latin typeface="Aptos"/>
              </a:defRPr>
            </a:pPr>
            <a:r>
              <a:t>Statistical modelling makes workload-related variation measurable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" y="1271016"/>
            <a:ext cx="1051560" cy="4114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912" y="6537960"/>
            <a:ext cx="7315200" cy="164592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 algn="l">
              <a:defRPr sz="800" b="0">
                <a:solidFill>
                  <a:srgbClr val="595959"/>
                </a:solidFill>
                <a:latin typeface="Aptos"/>
              </a:defRPr>
            </a:pPr>
            <a:r>
              <a:t>Karunya Institute of Technology and Sciences  •  Academic Year 2025–2026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519672"/>
            <a:ext cx="411480" cy="182880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 algn="r">
              <a:defRPr sz="900" b="0">
                <a:solidFill>
                  <a:srgbClr val="595959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600200"/>
            <a:ext cx="6400800" cy="393192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Aptos"/>
              </a:defRPr>
            </a:pPr>
            <a:r>
              <a:t>•  Four workload variables show strong positive correlations with response time.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039112"/>
            <a:ext cx="6400800" cy="393192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Aptos"/>
              </a:defRPr>
            </a:pPr>
            <a:r>
              <a:t>•  Reported test-set R² = 0.9505; MAE = 20.21 ms; RMSE = 25.26 ms.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78024"/>
            <a:ext cx="6400800" cy="393192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Aptos"/>
              </a:defRPr>
            </a:pPr>
            <a:r>
              <a:t>•  The t-test reports p = 0.6947; the null hypothesis is not rejected.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916936"/>
            <a:ext cx="6400800" cy="393192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Aptos"/>
              </a:defRPr>
            </a:pPr>
            <a:r>
              <a:t>•  Results are specific to the generated dataset; live validation remains future work.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52360" y="1645920"/>
            <a:ext cx="388620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452360" y="1645920"/>
            <a:ext cx="64008" cy="23774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07808" y="1755648"/>
            <a:ext cx="3630168" cy="292608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 algn="l">
              <a:defRPr sz="1400" b="1">
                <a:solidFill>
                  <a:srgbClr val="1F4E79"/>
                </a:solidFill>
                <a:latin typeface="Aptos"/>
              </a:defRPr>
            </a:pPr>
            <a:r>
              <a:t>References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07808" y="2103120"/>
            <a:ext cx="3611880" cy="1865376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 algn="l">
              <a:defRPr sz="1100" b="0">
                <a:solidFill>
                  <a:srgbClr val="2D2D2D"/>
                </a:solidFill>
                <a:latin typeface="Aptos"/>
              </a:defRPr>
            </a:pPr>
            <a:r>
              <a:t>25DC210 course materials and supplied project files.</a:t>
            </a:r>
            <a:br/>
            <a:br/>
            <a:r>
              <a:t>Montgomery, Peck &amp; Vining, Introduction to Linear Regression Analysis.</a:t>
            </a:r>
            <a:br/>
            <a:br/>
            <a:r>
              <a:t>Original project dataset and analytical outputs.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4663440"/>
            <a:ext cx="10607040" cy="731520"/>
          </a:xfrm>
          <a:prstGeom prst="roundRect">
            <a:avLst/>
          </a:prstGeom>
          <a:solidFill>
            <a:srgbClr val="DDEBF7"/>
          </a:solidFill>
          <a:ln w="1270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4846320"/>
            <a:ext cx="10241280" cy="320040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 algn="ctr">
              <a:defRPr sz="1800" b="1">
                <a:solidFill>
                  <a:srgbClr val="1F4E79"/>
                </a:solidFill>
                <a:latin typeface="Aptos"/>
              </a:defRPr>
            </a:pPr>
            <a:r>
              <a:t>THANK YOU  •  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