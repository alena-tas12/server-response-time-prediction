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37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88257559951-uv0sp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500438"/>
            <a:ext cx="9144000" cy="164306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7922" y="389334"/>
            <a:ext cx="2602669" cy="282177"/>
          </a:xfrm>
          <a:prstGeom prst="roundRect">
            <a:avLst>
              <a:gd name="adj" fmla="val 4515246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778669" y="442913"/>
            <a:ext cx="6478712" cy="139654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MICRO-PROJECT 13 · COURSE 25DC210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621506" y="44469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8" name="Text 3"/>
          <p:cNvSpPr/>
          <p:nvPr/>
        </p:nvSpPr>
        <p:spPr>
          <a:xfrm>
            <a:off x="7271668" y="435769"/>
            <a:ext cx="17248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94A3B8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PROBABILITY &amp; STATISTICS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514350" y="1089422"/>
            <a:ext cx="8629650" cy="124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32"/>
              </a:lnSpc>
              <a:buNone/>
            </a:pPr>
            <a:r>
              <a:rPr lang="en-US" sz="4275" b="1" kern="0" spc="-6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 RESPONSE TIME</a:t>
            </a:r>
            <a:endParaRPr lang="en-US" sz="4275" dirty="0"/>
          </a:p>
          <a:p>
            <a:pPr marL="0" indent="0" algn="l">
              <a:lnSpc>
                <a:spcPts val="4532"/>
              </a:lnSpc>
              <a:buNone/>
            </a:pPr>
            <a:r>
              <a:rPr lang="en-US" sz="4275" b="1" kern="0" spc="-64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PREDICTION</a:t>
            </a:r>
            <a:endParaRPr lang="en-US" sz="4275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2397398"/>
            <a:ext cx="2428875" cy="214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4350" y="2561704"/>
            <a:ext cx="4857750" cy="43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9"/>
              </a:lnSpc>
              <a:buNone/>
            </a:pPr>
            <a:r>
              <a:rPr lang="en-US" sz="1013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Using Regression Models — applying </a:t>
            </a: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Probability &amp; Statistics</a:t>
            </a:r>
            <a:r>
              <a:rPr lang="en-US" sz="1013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model and predict uncertainty in web-service performance.</a:t>
            </a:r>
            <a:endParaRPr lang="en-US" sz="1013" dirty="0"/>
          </a:p>
        </p:txBody>
      </p:sp>
      <p:sp>
        <p:nvSpPr>
          <p:cNvPr id="12" name="Text 6"/>
          <p:cNvSpPr/>
          <p:nvPr/>
        </p:nvSpPr>
        <p:spPr>
          <a:xfrm>
            <a:off x="517922" y="3711959"/>
            <a:ext cx="2602669" cy="595722"/>
          </a:xfrm>
          <a:prstGeom prst="roundRect">
            <a:avLst>
              <a:gd name="adj" fmla="val 22385"/>
            </a:avLst>
          </a:prstGeom>
          <a:solidFill>
            <a:srgbClr val="16213B">
              <a:alpha val="5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692944" y="390975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14" name="Text 8"/>
          <p:cNvSpPr/>
          <p:nvPr/>
        </p:nvSpPr>
        <p:spPr>
          <a:xfrm>
            <a:off x="1007269" y="3829831"/>
            <a:ext cx="1212652" cy="2146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94"/>
              </a:lnSpc>
              <a:buNone/>
            </a:pPr>
            <a:r>
              <a:rPr lang="en-US" sz="163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1,000</a:t>
            </a:r>
            <a:endParaRPr lang="en-US" sz="1631" dirty="0"/>
          </a:p>
        </p:txBody>
      </p:sp>
      <p:sp>
        <p:nvSpPr>
          <p:cNvPr id="15" name="Text 9"/>
          <p:cNvSpPr/>
          <p:nvPr/>
        </p:nvSpPr>
        <p:spPr>
          <a:xfrm>
            <a:off x="1007269" y="4071938"/>
            <a:ext cx="98205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OBSERVATIONS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3270610" y="3711959"/>
            <a:ext cx="2602781" cy="595722"/>
          </a:xfrm>
          <a:prstGeom prst="roundRect">
            <a:avLst>
              <a:gd name="adj" fmla="val 22385"/>
            </a:avLst>
          </a:prstGeom>
          <a:solidFill>
            <a:srgbClr val="16213B">
              <a:alpha val="5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3445632" y="390975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969" dirty="0"/>
          </a:p>
        </p:txBody>
      </p:sp>
      <p:sp>
        <p:nvSpPr>
          <p:cNvPr id="18" name="Text 12"/>
          <p:cNvSpPr/>
          <p:nvPr/>
        </p:nvSpPr>
        <p:spPr>
          <a:xfrm>
            <a:off x="3759957" y="3829831"/>
            <a:ext cx="1938412" cy="2146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94"/>
              </a:lnSpc>
              <a:buNone/>
            </a:pPr>
            <a:r>
              <a:rPr lang="en-US" sz="163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631" dirty="0"/>
          </a:p>
        </p:txBody>
      </p:sp>
      <p:sp>
        <p:nvSpPr>
          <p:cNvPr id="19" name="Text 13"/>
          <p:cNvSpPr/>
          <p:nvPr/>
        </p:nvSpPr>
        <p:spPr>
          <a:xfrm>
            <a:off x="3759957" y="4071938"/>
            <a:ext cx="159761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WORKLOAD PREDICTORS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6023409" y="3711959"/>
            <a:ext cx="2602669" cy="595722"/>
          </a:xfrm>
          <a:prstGeom prst="roundRect">
            <a:avLst>
              <a:gd name="adj" fmla="val 22385"/>
            </a:avLst>
          </a:prstGeom>
          <a:solidFill>
            <a:srgbClr val="16213B">
              <a:alpha val="5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6198431" y="390975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22" name="Text 16"/>
          <p:cNvSpPr/>
          <p:nvPr/>
        </p:nvSpPr>
        <p:spPr>
          <a:xfrm>
            <a:off x="6438982" y="3829831"/>
            <a:ext cx="1448814" cy="2146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94"/>
              </a:lnSpc>
              <a:buNone/>
            </a:pPr>
            <a:r>
              <a:rPr lang="en-US" sz="163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R² = 0.9505</a:t>
            </a:r>
            <a:endParaRPr lang="en-US" sz="1631" dirty="0"/>
          </a:p>
        </p:txBody>
      </p:sp>
      <p:sp>
        <p:nvSpPr>
          <p:cNvPr id="23" name="Text 17"/>
          <p:cNvSpPr/>
          <p:nvPr/>
        </p:nvSpPr>
        <p:spPr>
          <a:xfrm>
            <a:off x="6512756" y="4071938"/>
            <a:ext cx="143866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VARIANCE EXPLAINED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514350" y="4471988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14350" y="4575572"/>
            <a:ext cx="8115300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Karunya Institute of Technology and Sciences · School of Computer Science and Technology · Division of Data Science and Cyber Security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514350" y="4738092"/>
            <a:ext cx="81153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Academic Year 2026–27 · Semester III · Batch 1 · Course Faculty: Dr. K. Rebecca Jebaseeli Edna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2286000" cy="2143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0" y="0"/>
            <a:ext cx="2286000" cy="2143125"/>
          </a:xfrm>
          <a:prstGeom prst="rect">
            <a:avLst/>
          </a:prstGeom>
          <a:solidFill>
            <a:srgbClr val="22D3EE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71813"/>
            <a:ext cx="2143125" cy="2071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071813"/>
            <a:ext cx="2143125" cy="2071688"/>
          </a:xfrm>
          <a:prstGeom prst="rect">
            <a:avLst/>
          </a:prstGeom>
          <a:solidFill>
            <a:srgbClr val="FBBF24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34340" y="358673"/>
            <a:ext cx="756746" cy="243488"/>
          </a:xfrm>
          <a:prstGeom prst="roundRect">
            <a:avLst>
              <a:gd name="adj" fmla="val 3907985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05073" y="428625"/>
            <a:ext cx="37244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13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619" dirty="0"/>
          </a:p>
        </p:txBody>
      </p:sp>
      <p:sp>
        <p:nvSpPr>
          <p:cNvPr id="8" name="Text 4"/>
          <p:cNvSpPr/>
          <p:nvPr/>
        </p:nvSpPr>
        <p:spPr>
          <a:xfrm>
            <a:off x="564356" y="43041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sp>
        <p:nvSpPr>
          <p:cNvPr id="9" name="Text 5"/>
          <p:cNvSpPr/>
          <p:nvPr/>
        </p:nvSpPr>
        <p:spPr>
          <a:xfrm>
            <a:off x="457200" y="689372"/>
            <a:ext cx="3271698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2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Deck Covers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7282607" y="932259"/>
            <a:ext cx="1579601" cy="237744"/>
          </a:xfrm>
          <a:prstGeom prst="rect">
            <a:avLst/>
          </a:prstGeom>
          <a:noFill/>
          <a:ln/>
        </p:spPr>
        <p:txBody>
          <a:bodyPr wrap="square" lIns="0" tIns="0" rIns="0" bIns="5715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95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MICRO-PROJECT 13 · 25DC210</a:t>
            </a:r>
            <a:endParaRPr lang="en-US" sz="675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32297"/>
            <a:ext cx="1571625" cy="214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0772" y="1443038"/>
            <a:ext cx="2640732" cy="1609130"/>
          </a:xfrm>
          <a:prstGeom prst="roundRect">
            <a:avLst>
              <a:gd name="adj" fmla="val 9471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35794" y="1603772"/>
            <a:ext cx="197636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2025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" dirty="0"/>
          </a:p>
        </p:txBody>
      </p:sp>
      <p:sp>
        <p:nvSpPr>
          <p:cNvPr id="14" name="Text 9"/>
          <p:cNvSpPr/>
          <p:nvPr/>
        </p:nvSpPr>
        <p:spPr>
          <a:xfrm>
            <a:off x="2626444" y="1603772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125" dirty="0"/>
          </a:p>
        </p:txBody>
      </p:sp>
      <p:sp>
        <p:nvSpPr>
          <p:cNvPr id="15" name="Text 10"/>
          <p:cNvSpPr/>
          <p:nvPr/>
        </p:nvSpPr>
        <p:spPr>
          <a:xfrm>
            <a:off x="635794" y="2018109"/>
            <a:ext cx="2290688" cy="358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36"/>
              </a:lnSpc>
              <a:buNone/>
            </a:pPr>
            <a:r>
              <a:rPr lang="en-US" sz="106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1069" dirty="0"/>
          </a:p>
        </p:txBody>
      </p:sp>
      <p:sp>
        <p:nvSpPr>
          <p:cNvPr id="16" name="Text 11"/>
          <p:cNvSpPr/>
          <p:nvPr/>
        </p:nvSpPr>
        <p:spPr>
          <a:xfrm>
            <a:off x="635794" y="2403872"/>
            <a:ext cx="2290688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 time is a random variable, not a constant.</a:t>
            </a:r>
            <a:endParaRPr lang="en-US" sz="731" dirty="0"/>
          </a:p>
        </p:txBody>
      </p:sp>
      <p:sp>
        <p:nvSpPr>
          <p:cNvPr id="17" name="Text 12"/>
          <p:cNvSpPr/>
          <p:nvPr/>
        </p:nvSpPr>
        <p:spPr>
          <a:xfrm>
            <a:off x="3251522" y="1443038"/>
            <a:ext cx="2640843" cy="1609130"/>
          </a:xfrm>
          <a:prstGeom prst="roundRect">
            <a:avLst>
              <a:gd name="adj" fmla="val 9471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3426544" y="1603772"/>
            <a:ext cx="1976475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2025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" dirty="0"/>
          </a:p>
        </p:txBody>
      </p:sp>
      <p:sp>
        <p:nvSpPr>
          <p:cNvPr id="19" name="Text 14"/>
          <p:cNvSpPr/>
          <p:nvPr/>
        </p:nvSpPr>
        <p:spPr>
          <a:xfrm>
            <a:off x="5417307" y="1603772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0" name="Text 15"/>
          <p:cNvSpPr/>
          <p:nvPr/>
        </p:nvSpPr>
        <p:spPr>
          <a:xfrm>
            <a:off x="3426544" y="2018109"/>
            <a:ext cx="2290800" cy="358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36"/>
              </a:lnSpc>
              <a:buNone/>
            </a:pPr>
            <a:r>
              <a:rPr lang="en-US" sz="106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Statistical Toolkit</a:t>
            </a:r>
            <a:endParaRPr lang="en-US" sz="1069" dirty="0"/>
          </a:p>
        </p:txBody>
      </p:sp>
      <p:sp>
        <p:nvSpPr>
          <p:cNvPr id="21" name="Text 16"/>
          <p:cNvSpPr/>
          <p:nvPr/>
        </p:nvSpPr>
        <p:spPr>
          <a:xfrm>
            <a:off x="3426544" y="2403872"/>
            <a:ext cx="2290800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Methods drawn from Syllabus Units IV &amp; V of 25DC210.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042385" y="1443038"/>
            <a:ext cx="2640732" cy="1609130"/>
          </a:xfrm>
          <a:prstGeom prst="roundRect">
            <a:avLst>
              <a:gd name="adj" fmla="val 9471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217407" y="1603772"/>
            <a:ext cx="197636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2025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025" dirty="0"/>
          </a:p>
        </p:txBody>
      </p:sp>
      <p:sp>
        <p:nvSpPr>
          <p:cNvPr id="24" name="Text 19"/>
          <p:cNvSpPr/>
          <p:nvPr/>
        </p:nvSpPr>
        <p:spPr>
          <a:xfrm>
            <a:off x="8208057" y="1603772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5" name="Text 20"/>
          <p:cNvSpPr/>
          <p:nvPr/>
        </p:nvSpPr>
        <p:spPr>
          <a:xfrm>
            <a:off x="6217407" y="2018109"/>
            <a:ext cx="2290688" cy="358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6"/>
              </a:lnSpc>
              <a:buNone/>
            </a:pPr>
            <a:r>
              <a:rPr lang="en-US" sz="106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Dataset &amp; Descriptive Statistics</a:t>
            </a:r>
            <a:endParaRPr lang="en-US" sz="1069" dirty="0"/>
          </a:p>
        </p:txBody>
      </p:sp>
      <p:sp>
        <p:nvSpPr>
          <p:cNvPr id="26" name="Text 21"/>
          <p:cNvSpPr/>
          <p:nvPr/>
        </p:nvSpPr>
        <p:spPr>
          <a:xfrm>
            <a:off x="6217407" y="2403872"/>
            <a:ext cx="2290688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1,000 time-series observations of server workload.</a:t>
            </a:r>
            <a:endParaRPr lang="en-US" sz="731" dirty="0"/>
          </a:p>
        </p:txBody>
      </p:sp>
      <p:sp>
        <p:nvSpPr>
          <p:cNvPr id="27" name="Text 22"/>
          <p:cNvSpPr/>
          <p:nvPr/>
        </p:nvSpPr>
        <p:spPr>
          <a:xfrm>
            <a:off x="460772" y="3202186"/>
            <a:ext cx="2640732" cy="1609130"/>
          </a:xfrm>
          <a:prstGeom prst="roundRect">
            <a:avLst>
              <a:gd name="adj" fmla="val 9471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635794" y="3362920"/>
            <a:ext cx="197636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2025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025" dirty="0"/>
          </a:p>
        </p:txBody>
      </p:sp>
      <p:sp>
        <p:nvSpPr>
          <p:cNvPr id="29" name="Text 24"/>
          <p:cNvSpPr/>
          <p:nvPr/>
        </p:nvSpPr>
        <p:spPr>
          <a:xfrm>
            <a:off x="2626444" y="3362920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125" dirty="0"/>
          </a:p>
        </p:txBody>
      </p:sp>
      <p:sp>
        <p:nvSpPr>
          <p:cNvPr id="30" name="Text 25"/>
          <p:cNvSpPr/>
          <p:nvPr/>
        </p:nvSpPr>
        <p:spPr>
          <a:xfrm>
            <a:off x="635794" y="3777258"/>
            <a:ext cx="2290688" cy="358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36"/>
              </a:lnSpc>
              <a:buNone/>
            </a:pPr>
            <a:r>
              <a:rPr lang="en-US" sz="106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Trend &amp; Correlation</a:t>
            </a:r>
            <a:endParaRPr lang="en-US" sz="1069" dirty="0"/>
          </a:p>
        </p:txBody>
      </p:sp>
      <p:sp>
        <p:nvSpPr>
          <p:cNvPr id="31" name="Text 26"/>
          <p:cNvSpPr/>
          <p:nvPr/>
        </p:nvSpPr>
        <p:spPr>
          <a:xfrm>
            <a:off x="635794" y="4163020"/>
            <a:ext cx="2290688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strongly each workload parameter moves with response time.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3251522" y="3202186"/>
            <a:ext cx="2640843" cy="1609130"/>
          </a:xfrm>
          <a:prstGeom prst="roundRect">
            <a:avLst>
              <a:gd name="adj" fmla="val 9471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3426544" y="3362920"/>
            <a:ext cx="1976475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2025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2025" dirty="0"/>
          </a:p>
        </p:txBody>
      </p:sp>
      <p:sp>
        <p:nvSpPr>
          <p:cNvPr id="34" name="Text 29"/>
          <p:cNvSpPr/>
          <p:nvPr/>
        </p:nvSpPr>
        <p:spPr>
          <a:xfrm>
            <a:off x="5417307" y="3362920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125" dirty="0"/>
          </a:p>
        </p:txBody>
      </p:sp>
      <p:sp>
        <p:nvSpPr>
          <p:cNvPr id="35" name="Text 30"/>
          <p:cNvSpPr/>
          <p:nvPr/>
        </p:nvSpPr>
        <p:spPr>
          <a:xfrm>
            <a:off x="3426544" y="3777258"/>
            <a:ext cx="2290800" cy="358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36"/>
              </a:lnSpc>
              <a:buNone/>
            </a:pPr>
            <a:r>
              <a:rPr lang="en-US" sz="106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Regression &amp; Prediction</a:t>
            </a:r>
            <a:endParaRPr lang="en-US" sz="1069" dirty="0"/>
          </a:p>
        </p:txBody>
      </p:sp>
      <p:sp>
        <p:nvSpPr>
          <p:cNvPr id="36" name="Text 31"/>
          <p:cNvSpPr/>
          <p:nvPr/>
        </p:nvSpPr>
        <p:spPr>
          <a:xfrm>
            <a:off x="3426544" y="4163020"/>
            <a:ext cx="2290800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Multiple Linear Regression, coefficients and error metrics.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6042385" y="3202186"/>
            <a:ext cx="2640732" cy="1609130"/>
          </a:xfrm>
          <a:prstGeom prst="roundRect">
            <a:avLst>
              <a:gd name="adj" fmla="val 9471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6217407" y="3362920"/>
            <a:ext cx="197636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2025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2025" dirty="0"/>
          </a:p>
        </p:txBody>
      </p:sp>
      <p:sp>
        <p:nvSpPr>
          <p:cNvPr id="39" name="Text 34"/>
          <p:cNvSpPr/>
          <p:nvPr/>
        </p:nvSpPr>
        <p:spPr>
          <a:xfrm>
            <a:off x="8208057" y="3362920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0" name="Text 35"/>
          <p:cNvSpPr/>
          <p:nvPr/>
        </p:nvSpPr>
        <p:spPr>
          <a:xfrm>
            <a:off x="6217407" y="3777258"/>
            <a:ext cx="2290688" cy="358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36"/>
              </a:lnSpc>
              <a:buNone/>
            </a:pPr>
            <a:r>
              <a:rPr lang="en-US" sz="106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&amp; Conclusion</a:t>
            </a:r>
            <a:endParaRPr lang="en-US" sz="1069" dirty="0"/>
          </a:p>
        </p:txBody>
      </p:sp>
      <p:sp>
        <p:nvSpPr>
          <p:cNvPr id="41" name="Text 36"/>
          <p:cNvSpPr/>
          <p:nvPr/>
        </p:nvSpPr>
        <p:spPr>
          <a:xfrm>
            <a:off x="6217407" y="4163020"/>
            <a:ext cx="2290688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Student's t-test, Course Outcome mapping and takeaways.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2286000" cy="2143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0" y="0"/>
            <a:ext cx="2286000" cy="2143125"/>
          </a:xfrm>
          <a:prstGeom prst="rect">
            <a:avLst/>
          </a:prstGeom>
          <a:solidFill>
            <a:srgbClr val="22D3EE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71813"/>
            <a:ext cx="2143125" cy="2071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071813"/>
            <a:ext cx="2143125" cy="2071688"/>
          </a:xfrm>
          <a:prstGeom prst="rect">
            <a:avLst/>
          </a:prstGeom>
          <a:solidFill>
            <a:srgbClr val="FBBF24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34340" y="358673"/>
            <a:ext cx="1492218" cy="243488"/>
          </a:xfrm>
          <a:prstGeom prst="roundRect">
            <a:avLst>
              <a:gd name="adj" fmla="val 3907985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21519" y="428625"/>
            <a:ext cx="1075023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13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RATIONALE</a:t>
            </a:r>
            <a:endParaRPr lang="en-US" sz="619" dirty="0"/>
          </a:p>
        </p:txBody>
      </p:sp>
      <p:sp>
        <p:nvSpPr>
          <p:cNvPr id="8" name="Text 4"/>
          <p:cNvSpPr/>
          <p:nvPr/>
        </p:nvSpPr>
        <p:spPr>
          <a:xfrm>
            <a:off x="564356" y="43041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984" dirty="0"/>
          </a:p>
        </p:txBody>
      </p:sp>
      <p:sp>
        <p:nvSpPr>
          <p:cNvPr id="9" name="Text 5"/>
          <p:cNvSpPr/>
          <p:nvPr/>
        </p:nvSpPr>
        <p:spPr>
          <a:xfrm>
            <a:off x="457200" y="689372"/>
            <a:ext cx="8636000" cy="67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8"/>
              </a:lnSpc>
              <a:buNone/>
            </a:pPr>
            <a:r>
              <a:rPr lang="en-US" sz="2138" b="1" kern="0" spc="-2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 Time Is Not a Constant —</a:t>
            </a:r>
            <a:endParaRPr lang="en-US" sz="2138" dirty="0"/>
          </a:p>
          <a:p>
            <a:pPr marL="0" indent="0" algn="l">
              <a:lnSpc>
                <a:spcPts val="2458"/>
              </a:lnSpc>
              <a:buNone/>
            </a:pPr>
            <a:r>
              <a:rPr lang="en-US" sz="2138" b="1" kern="0" spc="-2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 Is a </a:t>
            </a:r>
            <a:r>
              <a:rPr lang="en-US" sz="2138" b="1" kern="0" spc="-21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Variable</a:t>
            </a:r>
            <a:endParaRPr lang="en-US" sz="2138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13570"/>
            <a:ext cx="1571625" cy="214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1606451"/>
            <a:ext cx="4443971" cy="573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872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web services operate under continuous uncertainty. The response time a client experiences fluctuates heavily with workload and server conditions: </a:t>
            </a:r>
            <a:r>
              <a:rPr lang="en-US" sz="872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rate, CPU utilisation, memory pressure and network activity.</a:t>
            </a:r>
            <a:endParaRPr lang="en-US" sz="872" dirty="0"/>
          </a:p>
        </p:txBody>
      </p:sp>
      <p:sp>
        <p:nvSpPr>
          <p:cNvPr id="12" name="Text 7"/>
          <p:cNvSpPr/>
          <p:nvPr/>
        </p:nvSpPr>
        <p:spPr>
          <a:xfrm>
            <a:off x="457200" y="2266466"/>
            <a:ext cx="4443971" cy="926902"/>
          </a:xfrm>
          <a:prstGeom prst="roundRect">
            <a:avLst>
              <a:gd name="adj" fmla="val 16442"/>
            </a:avLst>
          </a:prstGeom>
          <a:solidFill>
            <a:srgbClr val="1621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457200" y="2270038"/>
            <a:ext cx="4443971" cy="0"/>
          </a:xfrm>
          <a:prstGeom prst="line">
            <a:avLst/>
          </a:prstGeom>
          <a:noFill/>
          <a:ln w="7144">
            <a:solidFill>
              <a:srgbClr val="263552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897599" y="2266466"/>
            <a:ext cx="0" cy="926902"/>
          </a:xfrm>
          <a:prstGeom prst="line">
            <a:avLst/>
          </a:prstGeom>
          <a:noFill/>
          <a:ln w="7144">
            <a:solidFill>
              <a:srgbClr val="26355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57200" y="3189796"/>
            <a:ext cx="4443971" cy="0"/>
          </a:xfrm>
          <a:prstGeom prst="line">
            <a:avLst/>
          </a:prstGeom>
          <a:noFill/>
          <a:ln w="7144">
            <a:solidFill>
              <a:srgbClr val="26355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1488" y="2266466"/>
            <a:ext cx="0" cy="926902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2938" y="238791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18" name="Text 13"/>
          <p:cNvSpPr/>
          <p:nvPr/>
        </p:nvSpPr>
        <p:spPr>
          <a:xfrm>
            <a:off x="828675" y="2393268"/>
            <a:ext cx="39081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42938" y="2573648"/>
            <a:ext cx="4093927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can statistical regression models capture the uncertainty in server response time, predict it from measurable workload parameters, and provide statistical evidence that the model is reliable?</a:t>
            </a:r>
            <a:endParaRPr lang="en-US" sz="844" dirty="0"/>
          </a:p>
        </p:txBody>
      </p:sp>
      <p:sp>
        <p:nvSpPr>
          <p:cNvPr id="20" name="Text 15"/>
          <p:cNvSpPr/>
          <p:nvPr/>
        </p:nvSpPr>
        <p:spPr>
          <a:xfrm>
            <a:off x="460772" y="3325527"/>
            <a:ext cx="4436827" cy="517922"/>
          </a:xfrm>
          <a:prstGeom prst="roundRect">
            <a:avLst>
              <a:gd name="adj" fmla="val 29425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92233" y="3429112"/>
            <a:ext cx="1923065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47"/>
              </a:lnSpc>
              <a:buNone/>
            </a:pPr>
            <a:r>
              <a:rPr lang="en-US" sz="163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56.7 </a:t>
            </a:r>
            <a:r>
              <a:rPr lang="en-US" sz="123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sz="163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619.2 </a:t>
            </a: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1631" dirty="0"/>
          </a:p>
        </p:txBody>
      </p:sp>
      <p:sp>
        <p:nvSpPr>
          <p:cNvPr id="22" name="Text 17"/>
          <p:cNvSpPr/>
          <p:nvPr/>
        </p:nvSpPr>
        <p:spPr>
          <a:xfrm>
            <a:off x="2264569" y="3429112"/>
            <a:ext cx="7144" cy="310753"/>
          </a:xfrm>
          <a:prstGeom prst="rect">
            <a:avLst/>
          </a:prstGeom>
          <a:solidFill>
            <a:srgbClr val="2635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2414588" y="3445185"/>
            <a:ext cx="2336564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TIME RANGE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414588" y="3584488"/>
            <a:ext cx="197968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across 1,000 observations — an </a:t>
            </a:r>
            <a:r>
              <a:rPr lang="en-US" sz="731" b="1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~11×</a:t>
            </a:r>
            <a:r>
              <a:rPr lang="en-US" sz="731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range</a:t>
            </a:r>
            <a:endParaRPr lang="en-US" sz="731" dirty="0"/>
          </a:p>
        </p:txBody>
      </p:sp>
      <p:sp>
        <p:nvSpPr>
          <p:cNvPr id="25" name="Text 20"/>
          <p:cNvSpPr/>
          <p:nvPr/>
        </p:nvSpPr>
        <p:spPr>
          <a:xfrm>
            <a:off x="460772" y="4650929"/>
            <a:ext cx="2246598" cy="250759"/>
          </a:xfrm>
          <a:prstGeom prst="roundRect">
            <a:avLst>
              <a:gd name="adj" fmla="val 34043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57200" y="4654153"/>
            <a:ext cx="2250170" cy="243966"/>
          </a:xfrm>
          <a:prstGeom prst="rect">
            <a:avLst/>
          </a:prstGeom>
          <a:noFill/>
          <a:ln/>
        </p:spPr>
        <p:txBody>
          <a:bodyPr wrap="square" lIns="71438" tIns="21431" rIns="71438" bIns="21431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FOCUS: statistical reasoning, not black-box AI</a:t>
            </a:r>
            <a:endParaRPr lang="en-US" sz="619" dirty="0"/>
          </a:p>
        </p:txBody>
      </p:sp>
      <p:sp>
        <p:nvSpPr>
          <p:cNvPr id="27" name="Text 22"/>
          <p:cNvSpPr/>
          <p:nvPr/>
        </p:nvSpPr>
        <p:spPr>
          <a:xfrm>
            <a:off x="5133342" y="1610023"/>
            <a:ext cx="3549886" cy="3215580"/>
          </a:xfrm>
          <a:prstGeom prst="roundRect">
            <a:avLst>
              <a:gd name="adj" fmla="val 4739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5294077" y="1742182"/>
            <a:ext cx="32284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statistical pipeline </a:t>
            </a: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(Section 1.0 of the project)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5297649" y="1951137"/>
            <a:ext cx="3221273" cy="276820"/>
          </a:xfrm>
          <a:prstGeom prst="roundRect">
            <a:avLst>
              <a:gd name="adj" fmla="val 34409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5408573" y="2030611"/>
            <a:ext cx="142484" cy="13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19" dirty="0"/>
          </a:p>
        </p:txBody>
      </p:sp>
      <p:sp>
        <p:nvSpPr>
          <p:cNvPr id="31" name="Text 26"/>
          <p:cNvSpPr/>
          <p:nvPr/>
        </p:nvSpPr>
        <p:spPr>
          <a:xfrm>
            <a:off x="5594114" y="2011859"/>
            <a:ext cx="28069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Uncertainty</a:t>
            </a:r>
            <a:endParaRPr lang="en-US" sz="816" dirty="0"/>
          </a:p>
        </p:txBody>
      </p:sp>
      <p:sp>
        <p:nvSpPr>
          <p:cNvPr id="32" name="Text 27"/>
          <p:cNvSpPr/>
          <p:nvPr/>
        </p:nvSpPr>
        <p:spPr>
          <a:xfrm>
            <a:off x="5294077" y="227148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33" name="Text 28"/>
          <p:cNvSpPr/>
          <p:nvPr/>
        </p:nvSpPr>
        <p:spPr>
          <a:xfrm>
            <a:off x="5297649" y="2443497"/>
            <a:ext cx="3221273" cy="276820"/>
          </a:xfrm>
          <a:prstGeom prst="roundRect">
            <a:avLst>
              <a:gd name="adj" fmla="val 34409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5408573" y="2522972"/>
            <a:ext cx="142484" cy="13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  <p:sp>
        <p:nvSpPr>
          <p:cNvPr id="35" name="Text 30"/>
          <p:cNvSpPr/>
          <p:nvPr/>
        </p:nvSpPr>
        <p:spPr>
          <a:xfrm>
            <a:off x="5594114" y="2504219"/>
            <a:ext cx="28069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Statistical Modelling</a:t>
            </a:r>
            <a:endParaRPr lang="en-US" sz="816" dirty="0"/>
          </a:p>
        </p:txBody>
      </p:sp>
      <p:sp>
        <p:nvSpPr>
          <p:cNvPr id="36" name="Text 31"/>
          <p:cNvSpPr/>
          <p:nvPr/>
        </p:nvSpPr>
        <p:spPr>
          <a:xfrm>
            <a:off x="5294077" y="27638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37" name="Text 32"/>
          <p:cNvSpPr/>
          <p:nvPr/>
        </p:nvSpPr>
        <p:spPr>
          <a:xfrm>
            <a:off x="5297649" y="2935858"/>
            <a:ext cx="3221273" cy="276820"/>
          </a:xfrm>
          <a:prstGeom prst="roundRect">
            <a:avLst>
              <a:gd name="adj" fmla="val 34409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5408573" y="3015332"/>
            <a:ext cx="142484" cy="13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  <p:sp>
        <p:nvSpPr>
          <p:cNvPr id="39" name="Text 34"/>
          <p:cNvSpPr/>
          <p:nvPr/>
        </p:nvSpPr>
        <p:spPr>
          <a:xfrm>
            <a:off x="5594114" y="2996580"/>
            <a:ext cx="28069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Correlation</a:t>
            </a:r>
            <a:endParaRPr lang="en-US" sz="816" dirty="0"/>
          </a:p>
        </p:txBody>
      </p:sp>
      <p:sp>
        <p:nvSpPr>
          <p:cNvPr id="40" name="Text 35"/>
          <p:cNvSpPr/>
          <p:nvPr/>
        </p:nvSpPr>
        <p:spPr>
          <a:xfrm>
            <a:off x="5294077" y="32562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41" name="Text 36"/>
          <p:cNvSpPr/>
          <p:nvPr/>
        </p:nvSpPr>
        <p:spPr>
          <a:xfrm>
            <a:off x="5297649" y="3428330"/>
            <a:ext cx="3221273" cy="276820"/>
          </a:xfrm>
          <a:prstGeom prst="roundRect">
            <a:avLst>
              <a:gd name="adj" fmla="val 34409"/>
            </a:avLst>
          </a:prstGeom>
          <a:solidFill>
            <a:srgbClr val="16213B"/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5408573" y="3507804"/>
            <a:ext cx="142484" cy="13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19" dirty="0"/>
          </a:p>
        </p:txBody>
      </p:sp>
      <p:sp>
        <p:nvSpPr>
          <p:cNvPr id="43" name="Text 38"/>
          <p:cNvSpPr/>
          <p:nvPr/>
        </p:nvSpPr>
        <p:spPr>
          <a:xfrm>
            <a:off x="5594114" y="3489052"/>
            <a:ext cx="28069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Regression</a:t>
            </a:r>
            <a:endParaRPr lang="en-US" sz="816" dirty="0"/>
          </a:p>
        </p:txBody>
      </p:sp>
      <p:sp>
        <p:nvSpPr>
          <p:cNvPr id="44" name="Text 39"/>
          <p:cNvSpPr/>
          <p:nvPr/>
        </p:nvSpPr>
        <p:spPr>
          <a:xfrm>
            <a:off x="5294077" y="37485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45" name="Text 40"/>
          <p:cNvSpPr/>
          <p:nvPr/>
        </p:nvSpPr>
        <p:spPr>
          <a:xfrm>
            <a:off x="5297649" y="3920691"/>
            <a:ext cx="3221273" cy="276820"/>
          </a:xfrm>
          <a:prstGeom prst="roundRect">
            <a:avLst>
              <a:gd name="adj" fmla="val 34409"/>
            </a:avLst>
          </a:prstGeom>
          <a:solidFill>
            <a:srgbClr val="16213B"/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5408573" y="4000165"/>
            <a:ext cx="142484" cy="13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19" dirty="0"/>
          </a:p>
        </p:txBody>
      </p:sp>
      <p:sp>
        <p:nvSpPr>
          <p:cNvPr id="47" name="Text 42"/>
          <p:cNvSpPr/>
          <p:nvPr/>
        </p:nvSpPr>
        <p:spPr>
          <a:xfrm>
            <a:off x="5594114" y="3981413"/>
            <a:ext cx="28069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Prediction</a:t>
            </a:r>
            <a:endParaRPr lang="en-US" sz="816" dirty="0"/>
          </a:p>
        </p:txBody>
      </p:sp>
      <p:sp>
        <p:nvSpPr>
          <p:cNvPr id="48" name="Text 43"/>
          <p:cNvSpPr/>
          <p:nvPr/>
        </p:nvSpPr>
        <p:spPr>
          <a:xfrm>
            <a:off x="5294077" y="42409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49" name="Text 44"/>
          <p:cNvSpPr/>
          <p:nvPr/>
        </p:nvSpPr>
        <p:spPr>
          <a:xfrm>
            <a:off x="5297649" y="4413052"/>
            <a:ext cx="3221273" cy="276820"/>
          </a:xfrm>
          <a:prstGeom prst="roundRect">
            <a:avLst>
              <a:gd name="adj" fmla="val 34409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5408573" y="4492526"/>
            <a:ext cx="142484" cy="13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19" dirty="0"/>
          </a:p>
        </p:txBody>
      </p:sp>
      <p:sp>
        <p:nvSpPr>
          <p:cNvPr id="51" name="Text 46"/>
          <p:cNvSpPr/>
          <p:nvPr/>
        </p:nvSpPr>
        <p:spPr>
          <a:xfrm>
            <a:off x="5594114" y="4473773"/>
            <a:ext cx="28069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2286000" cy="2143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0" y="0"/>
            <a:ext cx="2286000" cy="2143125"/>
          </a:xfrm>
          <a:prstGeom prst="rect">
            <a:avLst/>
          </a:prstGeom>
          <a:solidFill>
            <a:srgbClr val="22D3EE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71813"/>
            <a:ext cx="2143125" cy="2071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071813"/>
            <a:ext cx="2143125" cy="2071688"/>
          </a:xfrm>
          <a:prstGeom prst="rect">
            <a:avLst/>
          </a:prstGeom>
          <a:solidFill>
            <a:srgbClr val="FBBF24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34340" y="358673"/>
            <a:ext cx="1528383" cy="243488"/>
          </a:xfrm>
          <a:prstGeom prst="roundRect">
            <a:avLst>
              <a:gd name="adj" fmla="val 3907985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21519" y="428625"/>
            <a:ext cx="1111188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136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3.0 · REPORT</a:t>
            </a:r>
            <a:endParaRPr lang="en-US" sz="619" dirty="0"/>
          </a:p>
        </p:txBody>
      </p:sp>
      <p:sp>
        <p:nvSpPr>
          <p:cNvPr id="8" name="Text 4"/>
          <p:cNvSpPr/>
          <p:nvPr/>
        </p:nvSpPr>
        <p:spPr>
          <a:xfrm>
            <a:off x="564356" y="43041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84" dirty="0"/>
          </a:p>
        </p:txBody>
      </p:sp>
      <p:sp>
        <p:nvSpPr>
          <p:cNvPr id="9" name="Text 5"/>
          <p:cNvSpPr/>
          <p:nvPr/>
        </p:nvSpPr>
        <p:spPr>
          <a:xfrm>
            <a:off x="457200" y="689372"/>
            <a:ext cx="2419873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2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Aim &amp; Objectives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7611777" y="932259"/>
            <a:ext cx="1386914" cy="237744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95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AIM · 6 OBJECTIVES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18009"/>
            <a:ext cx="1571625" cy="214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1382316"/>
            <a:ext cx="8229600" cy="792956"/>
          </a:xfrm>
          <a:prstGeom prst="roundRect">
            <a:avLst>
              <a:gd name="adj" fmla="val 19219"/>
            </a:avLst>
          </a:prstGeom>
          <a:solidFill>
            <a:srgbClr val="1621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457200" y="1385888"/>
            <a:ext cx="8229600" cy="0"/>
          </a:xfrm>
          <a:prstGeom prst="line">
            <a:avLst/>
          </a:prstGeom>
          <a:noFill/>
          <a:ln w="7144">
            <a:solidFill>
              <a:srgbClr val="263552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683228" y="1382316"/>
            <a:ext cx="0" cy="792956"/>
          </a:xfrm>
          <a:prstGeom prst="line">
            <a:avLst/>
          </a:prstGeom>
          <a:noFill/>
          <a:ln w="7144">
            <a:solidFill>
              <a:srgbClr val="26355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57200" y="2171700"/>
            <a:ext cx="8229600" cy="0"/>
          </a:xfrm>
          <a:prstGeom prst="line">
            <a:avLst/>
          </a:prstGeom>
          <a:noFill/>
          <a:ln w="7144">
            <a:solidFill>
              <a:srgbClr val="26355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1488" y="1382316"/>
            <a:ext cx="0" cy="792956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71513" y="1614488"/>
            <a:ext cx="28932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125" dirty="0"/>
          </a:p>
        </p:txBody>
      </p:sp>
      <p:sp>
        <p:nvSpPr>
          <p:cNvPr id="18" name="Text 13"/>
          <p:cNvSpPr/>
          <p:nvPr/>
        </p:nvSpPr>
        <p:spPr>
          <a:xfrm>
            <a:off x="1117997" y="1518047"/>
            <a:ext cx="737592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149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AIM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1117997" y="1675209"/>
            <a:ext cx="7375922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Develop and statistically validate a regression-based model that predicts server response time from relevant workload and system-performance parameters.</a:t>
            </a:r>
            <a:endParaRPr lang="en-US" sz="956" dirty="0"/>
          </a:p>
        </p:txBody>
      </p:sp>
      <p:sp>
        <p:nvSpPr>
          <p:cNvPr id="20" name="Text 15"/>
          <p:cNvSpPr/>
          <p:nvPr/>
        </p:nvSpPr>
        <p:spPr>
          <a:xfrm>
            <a:off x="460772" y="2307431"/>
            <a:ext cx="2659819" cy="969764"/>
          </a:xfrm>
          <a:prstGeom prst="roundRect">
            <a:avLst>
              <a:gd name="adj" fmla="val 15715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92931" y="2425303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2" name="Text 17"/>
          <p:cNvSpPr/>
          <p:nvPr/>
        </p:nvSpPr>
        <p:spPr>
          <a:xfrm>
            <a:off x="2857802" y="2505670"/>
            <a:ext cx="1683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23" name="Text 18"/>
          <p:cNvSpPr/>
          <p:nvPr/>
        </p:nvSpPr>
        <p:spPr>
          <a:xfrm>
            <a:off x="592931" y="2811066"/>
            <a:ext cx="2395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Collect repeated observations of workload and measured response time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242035" y="2307431"/>
            <a:ext cx="2659819" cy="969764"/>
          </a:xfrm>
          <a:prstGeom prst="roundRect">
            <a:avLst>
              <a:gd name="adj" fmla="val 15715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3374194" y="2425303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6" name="Text 21"/>
          <p:cNvSpPr/>
          <p:nvPr/>
        </p:nvSpPr>
        <p:spPr>
          <a:xfrm>
            <a:off x="5639065" y="2505670"/>
            <a:ext cx="1683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27" name="Text 22"/>
          <p:cNvSpPr/>
          <p:nvPr/>
        </p:nvSpPr>
        <p:spPr>
          <a:xfrm>
            <a:off x="3374194" y="2811066"/>
            <a:ext cx="2395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Prepare and organise data for statistical analysis</a:t>
            </a:r>
            <a:endParaRPr lang="en-US" sz="759" dirty="0"/>
          </a:p>
        </p:txBody>
      </p:sp>
      <p:sp>
        <p:nvSpPr>
          <p:cNvPr id="28" name="Text 23"/>
          <p:cNvSpPr/>
          <p:nvPr/>
        </p:nvSpPr>
        <p:spPr>
          <a:xfrm>
            <a:off x="6023297" y="2307431"/>
            <a:ext cx="2659931" cy="969764"/>
          </a:xfrm>
          <a:prstGeom prst="roundRect">
            <a:avLst>
              <a:gd name="adj" fmla="val 15715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155457" y="2425303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0" name="Text 25"/>
          <p:cNvSpPr/>
          <p:nvPr/>
        </p:nvSpPr>
        <p:spPr>
          <a:xfrm>
            <a:off x="8420440" y="2505670"/>
            <a:ext cx="1683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31" name="Text 26"/>
          <p:cNvSpPr/>
          <p:nvPr/>
        </p:nvSpPr>
        <p:spPr>
          <a:xfrm>
            <a:off x="6155457" y="2811066"/>
            <a:ext cx="23956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 descriptive statistics — central tendency and variation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460772" y="3398639"/>
            <a:ext cx="2659819" cy="969764"/>
          </a:xfrm>
          <a:prstGeom prst="roundRect">
            <a:avLst>
              <a:gd name="adj" fmla="val 15715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592931" y="3516511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125" dirty="0"/>
          </a:p>
        </p:txBody>
      </p:sp>
      <p:sp>
        <p:nvSpPr>
          <p:cNvPr id="34" name="Text 29"/>
          <p:cNvSpPr/>
          <p:nvPr/>
        </p:nvSpPr>
        <p:spPr>
          <a:xfrm>
            <a:off x="2857802" y="3596878"/>
            <a:ext cx="1683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35" name="Text 30"/>
          <p:cNvSpPr/>
          <p:nvPr/>
        </p:nvSpPr>
        <p:spPr>
          <a:xfrm>
            <a:off x="592931" y="3902273"/>
            <a:ext cx="2395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Examine trends and measure correlation with workload variables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3242035" y="3398639"/>
            <a:ext cx="2659819" cy="969764"/>
          </a:xfrm>
          <a:prstGeom prst="roundRect">
            <a:avLst>
              <a:gd name="adj" fmla="val 15715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3374194" y="3516511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8" name="Text 33"/>
          <p:cNvSpPr/>
          <p:nvPr/>
        </p:nvSpPr>
        <p:spPr>
          <a:xfrm>
            <a:off x="5639065" y="3596878"/>
            <a:ext cx="1683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39" name="Text 34"/>
          <p:cNvSpPr/>
          <p:nvPr/>
        </p:nvSpPr>
        <p:spPr>
          <a:xfrm>
            <a:off x="3374194" y="3902273"/>
            <a:ext cx="2395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 the regression model and predict unseen test observations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6023297" y="3398639"/>
            <a:ext cx="2659931" cy="969764"/>
          </a:xfrm>
          <a:prstGeom prst="roundRect">
            <a:avLst>
              <a:gd name="adj" fmla="val 15715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6155457" y="3516511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2" name="Text 37"/>
          <p:cNvSpPr/>
          <p:nvPr/>
        </p:nvSpPr>
        <p:spPr>
          <a:xfrm>
            <a:off x="8420440" y="3596878"/>
            <a:ext cx="1683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43" name="Text 38"/>
          <p:cNvSpPr/>
          <p:nvPr/>
        </p:nvSpPr>
        <p:spPr>
          <a:xfrm>
            <a:off x="6155457" y="3902273"/>
            <a:ext cx="23956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Evaluate with MAE, MSE, RMSE, R² and validate with hypothesis tests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460772" y="4504134"/>
            <a:ext cx="8222456" cy="321469"/>
          </a:xfrm>
          <a:prstGeom prst="roundRect">
            <a:avLst>
              <a:gd name="adj" fmla="val 47407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607219" y="459343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46" name="Text 41"/>
          <p:cNvSpPr/>
          <p:nvPr/>
        </p:nvSpPr>
        <p:spPr>
          <a:xfrm>
            <a:off x="835819" y="4597896"/>
            <a:ext cx="7700963" cy="13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703" kern="0" spc="84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r>
              <a:rPr lang="en-US" sz="70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statistical modelling of server response time; software supports the pipeline, but the academic focus stays on statistical reasoning and validation.</a:t>
            </a:r>
            <a:endParaRPr lang="en-US" sz="70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2286000" cy="2143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0" y="0"/>
            <a:ext cx="2286000" cy="2143125"/>
          </a:xfrm>
          <a:prstGeom prst="rect">
            <a:avLst/>
          </a:prstGeom>
          <a:solidFill>
            <a:srgbClr val="22D3EE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71813"/>
            <a:ext cx="2143125" cy="2071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071813"/>
            <a:ext cx="2143125" cy="2071688"/>
          </a:xfrm>
          <a:prstGeom prst="rect">
            <a:avLst/>
          </a:prstGeom>
          <a:solidFill>
            <a:srgbClr val="FBBF24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34340" y="358673"/>
            <a:ext cx="1605402" cy="243488"/>
          </a:xfrm>
          <a:prstGeom prst="roundRect">
            <a:avLst>
              <a:gd name="adj" fmla="val 3907985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21519" y="428625"/>
            <a:ext cx="1188207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13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 UNITS IV &amp; V</a:t>
            </a:r>
            <a:endParaRPr lang="en-US" sz="619" dirty="0"/>
          </a:p>
        </p:txBody>
      </p:sp>
      <p:sp>
        <p:nvSpPr>
          <p:cNvPr id="8" name="Text 4"/>
          <p:cNvSpPr/>
          <p:nvPr/>
        </p:nvSpPr>
        <p:spPr>
          <a:xfrm>
            <a:off x="564356" y="43041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9" name="Text 5"/>
          <p:cNvSpPr/>
          <p:nvPr/>
        </p:nvSpPr>
        <p:spPr>
          <a:xfrm>
            <a:off x="457200" y="689372"/>
            <a:ext cx="3009634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2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Statistical Toolkit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7754094" y="932259"/>
            <a:ext cx="1203307" cy="237744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95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METHOD FAMILIES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18009"/>
            <a:ext cx="1571625" cy="214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4340" y="1400175"/>
            <a:ext cx="1558677" cy="2961084"/>
          </a:xfrm>
          <a:prstGeom prst="roundRect">
            <a:avLst>
              <a:gd name="adj" fmla="val 9778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578644" y="1532334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4" name="Text 9"/>
          <p:cNvSpPr/>
          <p:nvPr/>
        </p:nvSpPr>
        <p:spPr>
          <a:xfrm>
            <a:off x="1797474" y="1532334"/>
            <a:ext cx="14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19" dirty="0"/>
          </a:p>
        </p:txBody>
      </p:sp>
      <p:sp>
        <p:nvSpPr>
          <p:cNvPr id="15" name="Text 10"/>
          <p:cNvSpPr/>
          <p:nvPr/>
        </p:nvSpPr>
        <p:spPr>
          <a:xfrm>
            <a:off x="578644" y="1918097"/>
            <a:ext cx="1322933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2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Descriptive Statistics</a:t>
            </a:r>
            <a:endParaRPr lang="en-US" sz="928" dirty="0"/>
          </a:p>
        </p:txBody>
      </p:sp>
      <p:sp>
        <p:nvSpPr>
          <p:cNvPr id="16" name="Text 11"/>
          <p:cNvSpPr/>
          <p:nvPr/>
        </p:nvSpPr>
        <p:spPr>
          <a:xfrm>
            <a:off x="578644" y="2260997"/>
            <a:ext cx="1402309" cy="5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2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Mean, median, min, max, standard deviation — establish central value &amp; variability.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38638" y="4049243"/>
            <a:ext cx="848087" cy="229414"/>
          </a:xfrm>
          <a:prstGeom prst="roundRect">
            <a:avLst>
              <a:gd name="adj" fmla="val 29154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78644" y="4043577"/>
            <a:ext cx="774313" cy="229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summary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2126605" y="1400175"/>
            <a:ext cx="1558789" cy="2961084"/>
          </a:xfrm>
          <a:prstGeom prst="roundRect">
            <a:avLst>
              <a:gd name="adj" fmla="val 9777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2244477" y="1532334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1" name="Text 16"/>
          <p:cNvSpPr/>
          <p:nvPr/>
        </p:nvSpPr>
        <p:spPr>
          <a:xfrm>
            <a:off x="3463419" y="1532334"/>
            <a:ext cx="14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  <p:sp>
        <p:nvSpPr>
          <p:cNvPr id="22" name="Text 17"/>
          <p:cNvSpPr/>
          <p:nvPr/>
        </p:nvSpPr>
        <p:spPr>
          <a:xfrm>
            <a:off x="2244477" y="1918097"/>
            <a:ext cx="1323045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2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Correlation</a:t>
            </a:r>
            <a:endParaRPr lang="en-US" sz="928" dirty="0"/>
          </a:p>
        </p:txBody>
      </p:sp>
      <p:sp>
        <p:nvSpPr>
          <p:cNvPr id="23" name="Text 18"/>
          <p:cNvSpPr/>
          <p:nvPr/>
        </p:nvSpPr>
        <p:spPr>
          <a:xfrm>
            <a:off x="2244477" y="2260997"/>
            <a:ext cx="1402428" cy="5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2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Pearson correlation; rank correlation when a rank-based view fits better.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225425" y="4043577"/>
            <a:ext cx="514390" cy="196025"/>
          </a:xfrm>
          <a:prstGeom prst="roundRect">
            <a:avLst>
              <a:gd name="adj" fmla="val 29154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2243048" y="4054078"/>
            <a:ext cx="4791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IV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792550" y="1400175"/>
            <a:ext cx="1558789" cy="2961084"/>
          </a:xfrm>
          <a:prstGeom prst="roundRect">
            <a:avLst>
              <a:gd name="adj" fmla="val 9777"/>
            </a:avLst>
          </a:prstGeom>
          <a:solidFill>
            <a:srgbClr val="16213B"/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3910422" y="1532334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8" name="Text 23"/>
          <p:cNvSpPr/>
          <p:nvPr/>
        </p:nvSpPr>
        <p:spPr>
          <a:xfrm>
            <a:off x="5129364" y="1532334"/>
            <a:ext cx="14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  <p:sp>
        <p:nvSpPr>
          <p:cNvPr id="29" name="Text 24"/>
          <p:cNvSpPr/>
          <p:nvPr/>
        </p:nvSpPr>
        <p:spPr>
          <a:xfrm>
            <a:off x="3910422" y="1918097"/>
            <a:ext cx="1323045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2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Regression</a:t>
            </a:r>
            <a:endParaRPr lang="en-US" sz="928" dirty="0"/>
          </a:p>
        </p:txBody>
      </p:sp>
      <p:sp>
        <p:nvSpPr>
          <p:cNvPr id="30" name="Text 25"/>
          <p:cNvSpPr/>
          <p:nvPr/>
        </p:nvSpPr>
        <p:spPr>
          <a:xfrm>
            <a:off x="3887562" y="2248888"/>
            <a:ext cx="1368765" cy="226028"/>
          </a:xfrm>
          <a:prstGeom prst="roundRect">
            <a:avLst>
              <a:gd name="adj" fmla="val 33713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3910422" y="2260997"/>
            <a:ext cx="1323045" cy="229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β</a:t>
            </a:r>
            <a:r>
              <a:rPr lang="en-US" sz="800" baseline="-400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r>
              <a:rPr lang="en-US" sz="8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β</a:t>
            </a:r>
            <a:r>
              <a:rPr lang="en-US" sz="800" baseline="-400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8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ε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3910422" y="2519958"/>
            <a:ext cx="1402428" cy="33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2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Multiple regression when several predictors are justified.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3887562" y="4043577"/>
            <a:ext cx="658743" cy="196025"/>
          </a:xfrm>
          <a:prstGeom prst="roundRect">
            <a:avLst>
              <a:gd name="adj" fmla="val 29154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895837" y="4054078"/>
            <a:ext cx="6421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model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5458495" y="1400175"/>
            <a:ext cx="1558789" cy="2961084"/>
          </a:xfrm>
          <a:prstGeom prst="roundRect">
            <a:avLst>
              <a:gd name="adj" fmla="val 9777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576367" y="1532334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7" name="Text 32"/>
          <p:cNvSpPr/>
          <p:nvPr/>
        </p:nvSpPr>
        <p:spPr>
          <a:xfrm>
            <a:off x="6795308" y="1532334"/>
            <a:ext cx="14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19" dirty="0"/>
          </a:p>
        </p:txBody>
      </p:sp>
      <p:sp>
        <p:nvSpPr>
          <p:cNvPr id="38" name="Text 33"/>
          <p:cNvSpPr/>
          <p:nvPr/>
        </p:nvSpPr>
        <p:spPr>
          <a:xfrm>
            <a:off x="5576367" y="1918097"/>
            <a:ext cx="1323045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2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Prediction Error</a:t>
            </a:r>
            <a:endParaRPr lang="en-US" sz="928" dirty="0"/>
          </a:p>
        </p:txBody>
      </p:sp>
      <p:sp>
        <p:nvSpPr>
          <p:cNvPr id="39" name="Text 34"/>
          <p:cNvSpPr/>
          <p:nvPr/>
        </p:nvSpPr>
        <p:spPr>
          <a:xfrm>
            <a:off x="5576367" y="2260997"/>
            <a:ext cx="1402428" cy="5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2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MAE, MSE, RMSE quantify misses; R² gives variance explained.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5555493" y="4043577"/>
            <a:ext cx="563575" cy="196025"/>
          </a:xfrm>
          <a:prstGeom prst="roundRect">
            <a:avLst>
              <a:gd name="adj" fmla="val 29154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5564139" y="4054078"/>
            <a:ext cx="5462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7124440" y="1400175"/>
            <a:ext cx="1558677" cy="2961084"/>
          </a:xfrm>
          <a:prstGeom prst="roundRect">
            <a:avLst>
              <a:gd name="adj" fmla="val 9778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7242311" y="1532334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44" name="Text 39"/>
          <p:cNvSpPr/>
          <p:nvPr/>
        </p:nvSpPr>
        <p:spPr>
          <a:xfrm>
            <a:off x="8461142" y="1532334"/>
            <a:ext cx="14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19" dirty="0"/>
          </a:p>
        </p:txBody>
      </p:sp>
      <p:sp>
        <p:nvSpPr>
          <p:cNvPr id="45" name="Text 40"/>
          <p:cNvSpPr/>
          <p:nvPr/>
        </p:nvSpPr>
        <p:spPr>
          <a:xfrm>
            <a:off x="7242311" y="1918097"/>
            <a:ext cx="1322933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2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</a:t>
            </a:r>
            <a:endParaRPr lang="en-US" sz="928" dirty="0"/>
          </a:p>
        </p:txBody>
      </p:sp>
      <p:sp>
        <p:nvSpPr>
          <p:cNvPr id="46" name="Text 41"/>
          <p:cNvSpPr/>
          <p:nvPr/>
        </p:nvSpPr>
        <p:spPr>
          <a:xfrm>
            <a:off x="7242311" y="2260997"/>
            <a:ext cx="1402309" cy="5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2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Confidence intervals, Student's t-test, F-test, Chi-square — applied only where assumptions hold.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7225086" y="4043577"/>
            <a:ext cx="465085" cy="196025"/>
          </a:xfrm>
          <a:prstGeom prst="roundRect">
            <a:avLst>
              <a:gd name="adj" fmla="val 29154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7242311" y="4054078"/>
            <a:ext cx="43063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V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460772" y="4496991"/>
            <a:ext cx="8222456" cy="328613"/>
          </a:xfrm>
          <a:prstGeom prst="roundRect">
            <a:avLst>
              <a:gd name="adj" fmla="val 46377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607219" y="458985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1406" dirty="0"/>
          </a:p>
        </p:txBody>
      </p:sp>
      <p:sp>
        <p:nvSpPr>
          <p:cNvPr id="51" name="Text 46"/>
          <p:cNvSpPr/>
          <p:nvPr/>
        </p:nvSpPr>
        <p:spPr>
          <a:xfrm>
            <a:off x="835819" y="4586288"/>
            <a:ext cx="77009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8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</a:t>
            </a: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Prediction alone proves nothing — reliability must be demonstrated statistically.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72961"/>
            <a:ext cx="1108799" cy="243488"/>
          </a:xfrm>
          <a:prstGeom prst="roundRect">
            <a:avLst>
              <a:gd name="adj" fmla="val 3907985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85763"/>
            <a:ext cx="106307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PIPELINE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03659"/>
            <a:ext cx="6452748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2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Raw Observations to </a:t>
            </a:r>
            <a:r>
              <a:rPr lang="en-US" sz="2250" b="1" kern="0" spc="-23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Validated Insight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329363" y="728439"/>
            <a:ext cx="2357438" cy="47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 stages — raw telemetry in, statistically validated predictions out. The analytical core (07–10) is highlighted.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46584"/>
            <a:ext cx="8229600" cy="21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0772" y="1443038"/>
            <a:ext cx="1490142" cy="678656"/>
          </a:xfrm>
          <a:prstGeom prst="roundRect">
            <a:avLst>
              <a:gd name="adj" fmla="val 19649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4356" y="1627324"/>
            <a:ext cx="128297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73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64356" y="1809490"/>
            <a:ext cx="1282973" cy="14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 / Web Service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954485" y="168949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2143795" y="1443038"/>
            <a:ext cx="1490253" cy="678656"/>
          </a:xfrm>
          <a:prstGeom prst="roundRect">
            <a:avLst>
              <a:gd name="adj" fmla="val 19649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247379" y="1627324"/>
            <a:ext cx="1283084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73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47379" y="1809490"/>
            <a:ext cx="1360070" cy="140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Observations</a:t>
            </a:r>
            <a:endParaRPr lang="en-US" sz="788" dirty="0"/>
          </a:p>
        </p:txBody>
      </p:sp>
      <p:sp>
        <p:nvSpPr>
          <p:cNvPr id="14" name="Text 11"/>
          <p:cNvSpPr/>
          <p:nvPr/>
        </p:nvSpPr>
        <p:spPr>
          <a:xfrm>
            <a:off x="3637620" y="168949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3826929" y="1443038"/>
            <a:ext cx="1490142" cy="678656"/>
          </a:xfrm>
          <a:prstGeom prst="roundRect">
            <a:avLst>
              <a:gd name="adj" fmla="val 19649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930514" y="1563365"/>
            <a:ext cx="128297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73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930514" y="1745531"/>
            <a:ext cx="1282973" cy="28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Dataset: workload + response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20643" y="168949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5509952" y="1443038"/>
            <a:ext cx="1490253" cy="678656"/>
          </a:xfrm>
          <a:prstGeom prst="roundRect">
            <a:avLst>
              <a:gd name="adj" fmla="val 19649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613536" y="1627324"/>
            <a:ext cx="1283084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73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613536" y="1809490"/>
            <a:ext cx="1283084" cy="14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Preparation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003777" y="168949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7193087" y="1443038"/>
            <a:ext cx="1490142" cy="678656"/>
          </a:xfrm>
          <a:prstGeom prst="roundRect">
            <a:avLst>
              <a:gd name="adj" fmla="val 19649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296671" y="1627324"/>
            <a:ext cx="128297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73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296671" y="1809490"/>
            <a:ext cx="1282973" cy="14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Descriptive Stats + Trend</a:t>
            </a:r>
            <a:endParaRPr lang="en-US" sz="788" dirty="0"/>
          </a:p>
        </p:txBody>
      </p:sp>
      <p:sp>
        <p:nvSpPr>
          <p:cNvPr id="26" name="Shape 23"/>
          <p:cNvSpPr/>
          <p:nvPr/>
        </p:nvSpPr>
        <p:spPr>
          <a:xfrm>
            <a:off x="7929563" y="2139553"/>
            <a:ext cx="0" cy="100013"/>
          </a:xfrm>
          <a:prstGeom prst="line">
            <a:avLst/>
          </a:prstGeom>
          <a:noFill/>
          <a:ln w="14288">
            <a:solidFill>
              <a:srgbClr val="22D3EE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1207294" y="2246709"/>
            <a:ext cx="6729413" cy="0"/>
          </a:xfrm>
          <a:prstGeom prst="line">
            <a:avLst/>
          </a:prstGeom>
          <a:noFill/>
          <a:ln w="14288">
            <a:solidFill>
              <a:srgbClr val="22D3EE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1214438" y="2239566"/>
            <a:ext cx="0" cy="100013"/>
          </a:xfrm>
          <a:prstGeom prst="line">
            <a:avLst/>
          </a:prstGeom>
          <a:noFill/>
          <a:ln w="14288">
            <a:solidFill>
              <a:srgbClr val="22D3EE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1135856" y="232529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406" dirty="0"/>
          </a:p>
        </p:txBody>
      </p:sp>
      <p:sp>
        <p:nvSpPr>
          <p:cNvPr id="30" name="Text 27"/>
          <p:cNvSpPr/>
          <p:nvPr/>
        </p:nvSpPr>
        <p:spPr>
          <a:xfrm>
            <a:off x="460772" y="2443163"/>
            <a:ext cx="1490142" cy="678656"/>
          </a:xfrm>
          <a:prstGeom prst="roundRect">
            <a:avLst>
              <a:gd name="adj" fmla="val 19649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64356" y="2627449"/>
            <a:ext cx="128297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73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64356" y="2809615"/>
            <a:ext cx="1282973" cy="14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Correlation Analysis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954485" y="268962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0223" y="2439591"/>
            <a:ext cx="1497397" cy="6858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2143795" y="2443163"/>
            <a:ext cx="1490253" cy="678656"/>
          </a:xfrm>
          <a:prstGeom prst="roundRect">
            <a:avLst>
              <a:gd name="adj" fmla="val 19649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2247379" y="2627449"/>
            <a:ext cx="1283084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73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247379" y="2809615"/>
            <a:ext cx="1283084" cy="14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Regression Model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637620" y="268962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357" y="2439591"/>
            <a:ext cx="1497285" cy="68580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3826929" y="2443163"/>
            <a:ext cx="1490142" cy="678656"/>
          </a:xfrm>
          <a:prstGeom prst="roundRect">
            <a:avLst>
              <a:gd name="adj" fmla="val 19649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3930514" y="2627449"/>
            <a:ext cx="128297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73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3930514" y="2809615"/>
            <a:ext cx="1359951" cy="140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Train (800) / Test (200) split</a:t>
            </a:r>
            <a:endParaRPr lang="en-US" sz="788" dirty="0"/>
          </a:p>
        </p:txBody>
      </p:sp>
      <p:sp>
        <p:nvSpPr>
          <p:cNvPr id="43" name="Text 38"/>
          <p:cNvSpPr/>
          <p:nvPr/>
        </p:nvSpPr>
        <p:spPr>
          <a:xfrm>
            <a:off x="5320643" y="268962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380" y="2439591"/>
            <a:ext cx="1497397" cy="68580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509952" y="2443163"/>
            <a:ext cx="1490253" cy="678656"/>
          </a:xfrm>
          <a:prstGeom prst="roundRect">
            <a:avLst>
              <a:gd name="adj" fmla="val 19649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5613536" y="2563490"/>
            <a:ext cx="1283084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73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5613536" y="2745656"/>
            <a:ext cx="1360070" cy="28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Actual vs Predicted + Error Analysis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7003777" y="268962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515" y="2439591"/>
            <a:ext cx="1497285" cy="68580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7193087" y="2443163"/>
            <a:ext cx="1490142" cy="678656"/>
          </a:xfrm>
          <a:prstGeom prst="roundRect">
            <a:avLst>
              <a:gd name="adj" fmla="val 19649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7296671" y="2627449"/>
            <a:ext cx="128297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73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7296671" y="2809615"/>
            <a:ext cx="1359951" cy="140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&amp; Interpretation</a:t>
            </a:r>
            <a:endParaRPr lang="en-US" sz="788" dirty="0"/>
          </a:p>
        </p:txBody>
      </p:sp>
      <p:sp>
        <p:nvSpPr>
          <p:cNvPr id="53" name="Text 46"/>
          <p:cNvSpPr/>
          <p:nvPr/>
        </p:nvSpPr>
        <p:spPr>
          <a:xfrm>
            <a:off x="2101066" y="4480617"/>
            <a:ext cx="1474470" cy="332784"/>
          </a:xfrm>
          <a:prstGeom prst="roundRect">
            <a:avLst>
              <a:gd name="adj" fmla="val 2859355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2288232" y="45827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5" name="Text 48"/>
          <p:cNvSpPr/>
          <p:nvPr/>
        </p:nvSpPr>
        <p:spPr>
          <a:xfrm>
            <a:off x="2488257" y="4572000"/>
            <a:ext cx="9001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1,000 observations</a:t>
            </a:r>
            <a:endParaRPr lang="en-US" sz="788" dirty="0"/>
          </a:p>
        </p:txBody>
      </p:sp>
      <p:sp>
        <p:nvSpPr>
          <p:cNvPr id="56" name="Text 49"/>
          <p:cNvSpPr/>
          <p:nvPr/>
        </p:nvSpPr>
        <p:spPr>
          <a:xfrm>
            <a:off x="3672691" y="4480617"/>
            <a:ext cx="1548475" cy="332784"/>
          </a:xfrm>
          <a:prstGeom prst="roundRect">
            <a:avLst>
              <a:gd name="adj" fmla="val 2859355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0"/>
          <p:cNvSpPr/>
          <p:nvPr/>
        </p:nvSpPr>
        <p:spPr>
          <a:xfrm>
            <a:off x="3859857" y="45827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8" name="Text 51"/>
          <p:cNvSpPr/>
          <p:nvPr/>
        </p:nvSpPr>
        <p:spPr>
          <a:xfrm>
            <a:off x="4059882" y="4572000"/>
            <a:ext cx="97411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80% train · 20% test</a:t>
            </a:r>
            <a:endParaRPr lang="en-US" sz="788" dirty="0"/>
          </a:p>
        </p:txBody>
      </p:sp>
      <p:sp>
        <p:nvSpPr>
          <p:cNvPr id="59" name="Text 52"/>
          <p:cNvSpPr/>
          <p:nvPr/>
        </p:nvSpPr>
        <p:spPr>
          <a:xfrm>
            <a:off x="5318321" y="4480617"/>
            <a:ext cx="1724501" cy="332784"/>
          </a:xfrm>
          <a:prstGeom prst="roundRect">
            <a:avLst>
              <a:gd name="adj" fmla="val 2859355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3"/>
          <p:cNvSpPr/>
          <p:nvPr/>
        </p:nvSpPr>
        <p:spPr>
          <a:xfrm>
            <a:off x="5505487" y="45827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61" name="Text 54"/>
          <p:cNvSpPr/>
          <p:nvPr/>
        </p:nvSpPr>
        <p:spPr>
          <a:xfrm>
            <a:off x="5705512" y="4572000"/>
            <a:ext cx="11501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explanatory variables</a:t>
            </a:r>
            <a:endParaRPr lang="en-US" sz="78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58673"/>
            <a:ext cx="712768" cy="243488"/>
          </a:xfrm>
          <a:prstGeom prst="roundRect">
            <a:avLst>
              <a:gd name="adj" fmla="val 3907985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66704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9372"/>
            <a:ext cx="863600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23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1,000</a:t>
            </a:r>
            <a:r>
              <a:rPr lang="en-US" sz="2250" b="1" kern="0" spc="-2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Time-Series Observations of Server Behaviour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57200" y="1189434"/>
            <a:ext cx="7715250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simulated but statistically-structured dataset: workload variables drive response time with realistic noise (</a:t>
            </a:r>
            <a:r>
              <a:rPr lang="en-US" sz="816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seed = 42</a:t>
            </a:r>
            <a:r>
              <a:rPr lang="en-US" sz="81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reproducibility), plus a slight upward trend engineered over time.</a:t>
            </a:r>
            <a:endParaRPr lang="en-US" sz="816" dirty="0"/>
          </a:p>
        </p:txBody>
      </p:sp>
      <p:sp>
        <p:nvSpPr>
          <p:cNvPr id="6" name="Text 4"/>
          <p:cNvSpPr/>
          <p:nvPr/>
        </p:nvSpPr>
        <p:spPr>
          <a:xfrm>
            <a:off x="460772" y="1660922"/>
            <a:ext cx="1547292" cy="1338002"/>
          </a:xfrm>
          <a:prstGeom prst="roundRect">
            <a:avLst>
              <a:gd name="adj" fmla="val 11390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8644" y="1793081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4720" y="182915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⇅</a:t>
            </a:r>
            <a:endParaRPr lang="en-US" sz="1547" dirty="0"/>
          </a:p>
        </p:txBody>
      </p:sp>
      <p:sp>
        <p:nvSpPr>
          <p:cNvPr id="9" name="Text 7"/>
          <p:cNvSpPr/>
          <p:nvPr/>
        </p:nvSpPr>
        <p:spPr>
          <a:xfrm>
            <a:off x="1315102" y="1851089"/>
            <a:ext cx="597209" cy="184023"/>
          </a:xfrm>
          <a:prstGeom prst="roundRect">
            <a:avLst>
              <a:gd name="adj" fmla="val 31056"/>
            </a:avLst>
          </a:prstGeom>
          <a:noFill/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61439" y="1860947"/>
            <a:ext cx="70453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PREDICTOR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78644" y="2164556"/>
            <a:ext cx="1311548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92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Rate</a:t>
            </a:r>
            <a:endParaRPr lang="en-US" sz="928" dirty="0"/>
          </a:p>
        </p:txBody>
      </p:sp>
      <p:sp>
        <p:nvSpPr>
          <p:cNvPr id="12" name="Text 10"/>
          <p:cNvSpPr/>
          <p:nvPr/>
        </p:nvSpPr>
        <p:spPr>
          <a:xfrm>
            <a:off x="578644" y="2495290"/>
            <a:ext cx="1311548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 → 997</a:t>
            </a:r>
            <a:endParaRPr lang="en-US" sz="1181" dirty="0"/>
          </a:p>
        </p:txBody>
      </p:sp>
      <p:sp>
        <p:nvSpPr>
          <p:cNvPr id="13" name="Text 11"/>
          <p:cNvSpPr/>
          <p:nvPr/>
        </p:nvSpPr>
        <p:spPr>
          <a:xfrm>
            <a:off x="578644" y="2748893"/>
            <a:ext cx="131154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req/s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29507" y="1660922"/>
            <a:ext cx="1547292" cy="1338002"/>
          </a:xfrm>
          <a:prstGeom prst="roundRect">
            <a:avLst>
              <a:gd name="adj" fmla="val 11390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47379" y="1793081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83455" y="182915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17" name="Text 15"/>
          <p:cNvSpPr/>
          <p:nvPr/>
        </p:nvSpPr>
        <p:spPr>
          <a:xfrm>
            <a:off x="2983837" y="1851089"/>
            <a:ext cx="597209" cy="184023"/>
          </a:xfrm>
          <a:prstGeom prst="roundRect">
            <a:avLst>
              <a:gd name="adj" fmla="val 31056"/>
            </a:avLst>
          </a:prstGeom>
          <a:noFill/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30174" y="1860947"/>
            <a:ext cx="70453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47379" y="2164556"/>
            <a:ext cx="1311548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92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CPU Usage %</a:t>
            </a:r>
            <a:endParaRPr lang="en-US" sz="928" dirty="0"/>
          </a:p>
        </p:txBody>
      </p:sp>
      <p:sp>
        <p:nvSpPr>
          <p:cNvPr id="20" name="Text 18"/>
          <p:cNvSpPr/>
          <p:nvPr/>
        </p:nvSpPr>
        <p:spPr>
          <a:xfrm>
            <a:off x="2247379" y="2495290"/>
            <a:ext cx="1311548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1.0 → 99.5</a:t>
            </a:r>
            <a:endParaRPr lang="en-US" sz="1181" dirty="0"/>
          </a:p>
        </p:txBody>
      </p:sp>
      <p:sp>
        <p:nvSpPr>
          <p:cNvPr id="21" name="Text 19"/>
          <p:cNvSpPr/>
          <p:nvPr/>
        </p:nvSpPr>
        <p:spPr>
          <a:xfrm>
            <a:off x="2247379" y="2748893"/>
            <a:ext cx="131154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98243" y="1660922"/>
            <a:ext cx="1547403" cy="1338002"/>
          </a:xfrm>
          <a:prstGeom prst="roundRect">
            <a:avLst>
              <a:gd name="adj" fmla="val 11390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16114" y="1793081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52190" y="182915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5" name="Text 23"/>
          <p:cNvSpPr/>
          <p:nvPr/>
        </p:nvSpPr>
        <p:spPr>
          <a:xfrm>
            <a:off x="4652684" y="1851089"/>
            <a:ext cx="597209" cy="184023"/>
          </a:xfrm>
          <a:prstGeom prst="roundRect">
            <a:avLst>
              <a:gd name="adj" fmla="val 31056"/>
            </a:avLst>
          </a:prstGeom>
          <a:noFill/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99021" y="1860947"/>
            <a:ext cx="70453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PREDICTOR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16114" y="2164556"/>
            <a:ext cx="1311659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92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Memory Usage %</a:t>
            </a:r>
            <a:endParaRPr lang="en-US" sz="928" dirty="0"/>
          </a:p>
        </p:txBody>
      </p:sp>
      <p:sp>
        <p:nvSpPr>
          <p:cNvPr id="28" name="Text 26"/>
          <p:cNvSpPr/>
          <p:nvPr/>
        </p:nvSpPr>
        <p:spPr>
          <a:xfrm>
            <a:off x="3916114" y="2377418"/>
            <a:ext cx="131165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916114" y="2495290"/>
            <a:ext cx="1311659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41.0 ± 12.8</a:t>
            </a:r>
            <a:endParaRPr lang="en-US" sz="1181" dirty="0"/>
          </a:p>
        </p:txBody>
      </p:sp>
      <p:sp>
        <p:nvSpPr>
          <p:cNvPr id="30" name="Text 28"/>
          <p:cNvSpPr/>
          <p:nvPr/>
        </p:nvSpPr>
        <p:spPr>
          <a:xfrm>
            <a:off x="3916114" y="2748893"/>
            <a:ext cx="131165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7090" y="1660922"/>
            <a:ext cx="1547292" cy="1338002"/>
          </a:xfrm>
          <a:prstGeom prst="roundRect">
            <a:avLst>
              <a:gd name="adj" fmla="val 11390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84961" y="1793081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21037" y="182915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4" name="Text 32"/>
          <p:cNvSpPr/>
          <p:nvPr/>
        </p:nvSpPr>
        <p:spPr>
          <a:xfrm>
            <a:off x="6321420" y="1851089"/>
            <a:ext cx="597209" cy="184023"/>
          </a:xfrm>
          <a:prstGeom prst="roundRect">
            <a:avLst>
              <a:gd name="adj" fmla="val 31056"/>
            </a:avLst>
          </a:prstGeom>
          <a:noFill/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67756" y="1860947"/>
            <a:ext cx="70453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PREDICTOR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84961" y="2164556"/>
            <a:ext cx="1311548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92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Network Load</a:t>
            </a:r>
            <a:endParaRPr lang="en-US" sz="928" dirty="0"/>
          </a:p>
        </p:txBody>
      </p:sp>
      <p:sp>
        <p:nvSpPr>
          <p:cNvPr id="37" name="Text 35"/>
          <p:cNvSpPr/>
          <p:nvPr/>
        </p:nvSpPr>
        <p:spPr>
          <a:xfrm>
            <a:off x="5584961" y="2495290"/>
            <a:ext cx="1311548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1.0 → 51.8</a:t>
            </a:r>
            <a:endParaRPr lang="en-US" sz="1181" dirty="0"/>
          </a:p>
        </p:txBody>
      </p:sp>
      <p:sp>
        <p:nvSpPr>
          <p:cNvPr id="38" name="Text 36"/>
          <p:cNvSpPr/>
          <p:nvPr/>
        </p:nvSpPr>
        <p:spPr>
          <a:xfrm>
            <a:off x="5584961" y="2748893"/>
            <a:ext cx="131154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MB/s</a:t>
            </a:r>
            <a:endParaRPr lang="en-US" sz="80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53" y="1657350"/>
            <a:ext cx="1554547" cy="1345146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135825" y="1660922"/>
            <a:ext cx="1547403" cy="1338002"/>
          </a:xfrm>
          <a:prstGeom prst="roundRect">
            <a:avLst>
              <a:gd name="adj" fmla="val 11390"/>
            </a:avLst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7253697" y="1793081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FBBF2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7289773" y="182915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43" name="Text 40"/>
          <p:cNvSpPr/>
          <p:nvPr/>
        </p:nvSpPr>
        <p:spPr>
          <a:xfrm>
            <a:off x="8117497" y="1845088"/>
            <a:ext cx="465085" cy="196025"/>
          </a:xfrm>
          <a:prstGeom prst="roundRect">
            <a:avLst>
              <a:gd name="adj" fmla="val 29154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8109267" y="1855589"/>
            <a:ext cx="48154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253697" y="2164556"/>
            <a:ext cx="1311659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92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 Time</a:t>
            </a:r>
            <a:endParaRPr lang="en-US" sz="928" dirty="0"/>
          </a:p>
        </p:txBody>
      </p:sp>
      <p:sp>
        <p:nvSpPr>
          <p:cNvPr id="46" name="Text 43"/>
          <p:cNvSpPr/>
          <p:nvPr/>
        </p:nvSpPr>
        <p:spPr>
          <a:xfrm>
            <a:off x="7253697" y="2495290"/>
            <a:ext cx="1311659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56.7 → 619.2</a:t>
            </a:r>
            <a:endParaRPr lang="en-US" sz="1181" dirty="0"/>
          </a:p>
        </p:txBody>
      </p:sp>
      <p:sp>
        <p:nvSpPr>
          <p:cNvPr id="47" name="Text 44"/>
          <p:cNvSpPr/>
          <p:nvPr/>
        </p:nvSpPr>
        <p:spPr>
          <a:xfrm>
            <a:off x="7253697" y="2748893"/>
            <a:ext cx="131165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60772" y="4108772"/>
            <a:ext cx="4050506" cy="688256"/>
          </a:xfrm>
          <a:prstGeom prst="roundRect">
            <a:avLst>
              <a:gd name="adj" fmla="val 22143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07219" y="4226644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643295" y="426272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51" name="Text 48"/>
          <p:cNvSpPr/>
          <p:nvPr/>
        </p:nvSpPr>
        <p:spPr>
          <a:xfrm>
            <a:off x="1007269" y="4226644"/>
            <a:ext cx="335756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RELATIONSHIP ENGINEERED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007269" y="4380235"/>
            <a:ext cx="3357563" cy="298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 ≈ </a:t>
            </a: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 + 2.5·CPU + 1.5·Mem + 3.0·Net</a:t>
            </a: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noise — the model must recover this from data alone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632722" y="4108772"/>
            <a:ext cx="4050506" cy="688256"/>
          </a:xfrm>
          <a:prstGeom prst="roundRect">
            <a:avLst>
              <a:gd name="adj" fmla="val 22143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779169" y="4226644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FBBF2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815245" y="426272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56" name="Text 53"/>
          <p:cNvSpPr/>
          <p:nvPr/>
        </p:nvSpPr>
        <p:spPr>
          <a:xfrm>
            <a:off x="5179219" y="4226644"/>
            <a:ext cx="335756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 COMPONENT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179219" y="4380235"/>
            <a:ext cx="2593963" cy="17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+0.05 ms</a:t>
            </a:r>
            <a:r>
              <a:rPr lang="en-US" sz="75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 time step exercises Unit IV time-series analysis</a:t>
            </a:r>
            <a:endParaRPr lang="en-US" sz="75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772" y="375047"/>
            <a:ext cx="1997236" cy="210741"/>
          </a:xfrm>
          <a:prstGeom prst="roundRect">
            <a:avLst>
              <a:gd name="adj" fmla="val 4515246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2004380" cy="290465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DESCRIPTIVE STATISTICS · UNIT IV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9372"/>
            <a:ext cx="863600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2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 Time: </a:t>
            </a:r>
            <a:r>
              <a:rPr lang="en-US" sz="2250" b="1" kern="0" spc="-23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Centre, Spread and Range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60772" y="1278731"/>
            <a:ext cx="2640732" cy="825103"/>
          </a:xfrm>
          <a:prstGeom prst="roundRect">
            <a:avLst>
              <a:gd name="adj" fmla="val 18470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5794" y="1425178"/>
            <a:ext cx="2290688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34122" y="1585913"/>
            <a:ext cx="168612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2925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320.41</a:t>
            </a:r>
            <a:endParaRPr lang="en-US" sz="2925" dirty="0"/>
          </a:p>
        </p:txBody>
      </p:sp>
      <p:sp>
        <p:nvSpPr>
          <p:cNvPr id="8" name="Text 6"/>
          <p:cNvSpPr/>
          <p:nvPr/>
        </p:nvSpPr>
        <p:spPr>
          <a:xfrm>
            <a:off x="1814513" y="1771650"/>
            <a:ext cx="111196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51522" y="1278731"/>
            <a:ext cx="2640843" cy="825103"/>
          </a:xfrm>
          <a:prstGeom prst="roundRect">
            <a:avLst>
              <a:gd name="adj" fmla="val 18470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6544" y="1425178"/>
            <a:ext cx="22908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DEV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24873" y="1585913"/>
            <a:ext cx="168612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2925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118.97</a:t>
            </a:r>
            <a:endParaRPr lang="en-US" sz="2925" dirty="0"/>
          </a:p>
        </p:txBody>
      </p:sp>
      <p:sp>
        <p:nvSpPr>
          <p:cNvPr id="12" name="Text 10"/>
          <p:cNvSpPr/>
          <p:nvPr/>
        </p:nvSpPr>
        <p:spPr>
          <a:xfrm>
            <a:off x="4605263" y="1771650"/>
            <a:ext cx="111208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42385" y="1278731"/>
            <a:ext cx="2640732" cy="825103"/>
          </a:xfrm>
          <a:prstGeom prst="roundRect">
            <a:avLst>
              <a:gd name="adj" fmla="val 18470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7407" y="1425178"/>
            <a:ext cx="2290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65755" y="1643063"/>
            <a:ext cx="2166061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856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56.72 – 619.18</a:t>
            </a:r>
            <a:endParaRPr lang="en-US" sz="1856" dirty="0"/>
          </a:p>
        </p:txBody>
      </p:sp>
      <p:sp>
        <p:nvSpPr>
          <p:cNvPr id="16" name="Text 14"/>
          <p:cNvSpPr/>
          <p:nvPr/>
        </p:nvSpPr>
        <p:spPr>
          <a:xfrm>
            <a:off x="7931907" y="1714500"/>
            <a:ext cx="5761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0772" y="2253853"/>
            <a:ext cx="4936554" cy="2543175"/>
          </a:xfrm>
          <a:prstGeom prst="roundRect">
            <a:avLst>
              <a:gd name="adj" fmla="val 5993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7219" y="2371725"/>
          <a:ext cx="4643661" cy="914400"/>
        </p:xfrm>
        <a:graphic>
          <a:graphicData uri="http://schemas.openxmlformats.org/drawingml/2006/table">
            <a:tbl>
              <a:tblPr/>
              <a:tblGrid>
                <a:gridCol w="1733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9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Variable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 Dev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Request Rate (req/s)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526.77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276.53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CPU Usage (%)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42.10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23.69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99.53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Memory Usage (%)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41.03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12.84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≈ 9.9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≈ 76.9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Network Load (MB/s)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26.32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13.94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51.83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8581" marR="85725" marT="85725" marB="78581" anchor="ctr">
                    <a:lnL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547345" y="2253853"/>
            <a:ext cx="3135883" cy="2543175"/>
          </a:xfrm>
          <a:prstGeom prst="roundRect">
            <a:avLst>
              <a:gd name="adj" fmla="val 5993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708079" y="2400300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744155" y="243637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547" dirty="0"/>
          </a:p>
        </p:txBody>
      </p:sp>
      <p:sp>
        <p:nvSpPr>
          <p:cNvPr id="22" name="Text 19"/>
          <p:cNvSpPr/>
          <p:nvPr/>
        </p:nvSpPr>
        <p:spPr>
          <a:xfrm>
            <a:off x="6093842" y="2491383"/>
            <a:ext cx="24286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 OF VARIATION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08079" y="2800350"/>
            <a:ext cx="2814414" cy="486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44"/>
              </a:lnSpc>
              <a:buNone/>
            </a:pPr>
            <a:r>
              <a:rPr lang="en-US" sz="2363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 37%</a:t>
            </a:r>
            <a:endParaRPr lang="en-US" sz="2363" dirty="0"/>
          </a:p>
        </p:txBody>
      </p:sp>
      <p:sp>
        <p:nvSpPr>
          <p:cNvPr id="24" name="Text 21"/>
          <p:cNvSpPr/>
          <p:nvPr/>
        </p:nvSpPr>
        <p:spPr>
          <a:xfrm>
            <a:off x="5708079" y="3321844"/>
            <a:ext cx="2814414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 time is highly dispersed relative to its mean. This is exactly the uncertainty the regression model must explain.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772" y="389334"/>
            <a:ext cx="1827461" cy="210741"/>
          </a:xfrm>
          <a:prstGeom prst="roundRect">
            <a:avLst>
              <a:gd name="adj" fmla="val 4515246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85763"/>
            <a:ext cx="1834604" cy="290465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 · TIME-SERIES COMPONENT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03659"/>
            <a:ext cx="863600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2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Slow </a:t>
            </a:r>
            <a:r>
              <a:rPr lang="en-US" sz="2250" b="1" kern="0" spc="-23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Upward Drift</a:t>
            </a:r>
            <a:r>
              <a:rPr lang="en-US" sz="2250" b="1" kern="0" spc="-2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Hides in the Noise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60772" y="1293019"/>
            <a:ext cx="4664311" cy="3193256"/>
          </a:xfrm>
          <a:prstGeom prst="roundRect">
            <a:avLst>
              <a:gd name="adj" fmla="val 3579"/>
            </a:avLst>
          </a:prstGeom>
          <a:solidFill>
            <a:srgbClr val="FFFFFF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tmp/h2p-fit-1788257561818-iekrl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9" y="1704454"/>
            <a:ext cx="4485717" cy="2143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4344" y="4226979"/>
            <a:ext cx="4657167" cy="255724"/>
          </a:xfrm>
          <a:prstGeom prst="rect">
            <a:avLst/>
          </a:prstGeom>
          <a:noFill/>
          <a:ln/>
        </p:spPr>
        <p:txBody>
          <a:bodyPr wrap="square" lIns="100013" tIns="64294" rIns="100013" bIns="64294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Time-series trend of response time — first 200 observations (generated by server_prediction.py)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317964" y="1293019"/>
            <a:ext cx="3365264" cy="700534"/>
          </a:xfrm>
          <a:prstGeom prst="roundRect">
            <a:avLst>
              <a:gd name="adj" fmla="val 21755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50123" y="1410891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486199" y="144696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11" name="Text 8"/>
          <p:cNvSpPr/>
          <p:nvPr/>
        </p:nvSpPr>
        <p:spPr>
          <a:xfrm>
            <a:off x="5850173" y="1410891"/>
            <a:ext cx="2700896" cy="4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secular trend</a:t>
            </a: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about </a:t>
            </a: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+0.05 ms</a:t>
            </a: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 observation was engineered into the series — classic Unit IV trend component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17964" y="2694310"/>
            <a:ext cx="3365264" cy="545604"/>
          </a:xfrm>
          <a:prstGeom prst="roundRect">
            <a:avLst>
              <a:gd name="adj" fmla="val 27932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450123" y="2812182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486199" y="284825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5" name="Text 12"/>
          <p:cNvSpPr/>
          <p:nvPr/>
        </p:nvSpPr>
        <p:spPr>
          <a:xfrm>
            <a:off x="5850173" y="2812182"/>
            <a:ext cx="270089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Correlation of </a:t>
            </a: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Time_Step</a:t>
            </a: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response time = </a:t>
            </a: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0.1249</a:t>
            </a: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weak, but positive and detectable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317964" y="3940671"/>
            <a:ext cx="3365264" cy="545604"/>
          </a:xfrm>
          <a:prstGeom prst="roundRect">
            <a:avLst>
              <a:gd name="adj" fmla="val 27932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450123" y="4058543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486199" y="409461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547" dirty="0"/>
          </a:p>
        </p:txBody>
      </p:sp>
      <p:sp>
        <p:nvSpPr>
          <p:cNvPr id="19" name="Text 16"/>
          <p:cNvSpPr/>
          <p:nvPr/>
        </p:nvSpPr>
        <p:spPr>
          <a:xfrm>
            <a:off x="5850173" y="4058543"/>
            <a:ext cx="270089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Detrending matters:</a:t>
            </a: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ignoring drift would bias the regression residuals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60772" y="4629150"/>
            <a:ext cx="2864197" cy="167878"/>
          </a:xfrm>
          <a:prstGeom prst="roundRect">
            <a:avLst>
              <a:gd name="adj" fmla="val 34043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57200" y="4625578"/>
            <a:ext cx="2871341" cy="244394"/>
          </a:xfrm>
          <a:prstGeom prst="rect">
            <a:avLst/>
          </a:prstGeom>
          <a:noFill/>
          <a:ln/>
        </p:spPr>
        <p:txBody>
          <a:bodyPr wrap="square" lIns="71438" tIns="21431" rIns="71438" bIns="21431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TOOL: time-series decomposition · moving averages (syllabus)</a:t>
            </a:r>
            <a:endParaRPr lang="en-US" sz="61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30098"/>
            <a:ext cx="1540885" cy="243488"/>
          </a:xfrm>
          <a:prstGeom prst="roundRect">
            <a:avLst>
              <a:gd name="adj" fmla="val 3907985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42900"/>
            <a:ext cx="149516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CORRELATION · PEARSON 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60797"/>
            <a:ext cx="863600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2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Workload Parameter Moves With </a:t>
            </a:r>
            <a:r>
              <a:rPr lang="en-US" sz="2250" b="1" kern="0" spc="-23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 Time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60772" y="1235869"/>
            <a:ext cx="4179094" cy="3118247"/>
          </a:xfrm>
          <a:prstGeom prst="roundRect">
            <a:avLst>
              <a:gd name="adj" fmla="val 4887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506" y="1396603"/>
            <a:ext cx="35218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CPU Usage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75206" y="1382316"/>
            <a:ext cx="486382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0.9637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621506" y="1585913"/>
            <a:ext cx="3857625" cy="85725"/>
          </a:xfrm>
          <a:prstGeom prst="roundRect">
            <a:avLst>
              <a:gd name="adj" fmla="val 11100000"/>
            </a:avLst>
          </a:prstGeom>
          <a:solidFill>
            <a:srgbClr val="1C2A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" y="1585913"/>
            <a:ext cx="3703253" cy="857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506" y="1807369"/>
            <a:ext cx="35218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Rate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075206" y="1793081"/>
            <a:ext cx="486382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0.9423</a:t>
            </a:r>
            <a:endParaRPr lang="en-US" sz="844" dirty="0"/>
          </a:p>
        </p:txBody>
      </p:sp>
      <p:sp>
        <p:nvSpPr>
          <p:cNvPr id="12" name="Text 9"/>
          <p:cNvSpPr/>
          <p:nvPr/>
        </p:nvSpPr>
        <p:spPr>
          <a:xfrm>
            <a:off x="621506" y="1996678"/>
            <a:ext cx="3857625" cy="85725"/>
          </a:xfrm>
          <a:prstGeom prst="roundRect">
            <a:avLst>
              <a:gd name="adj" fmla="val 11100000"/>
            </a:avLst>
          </a:prstGeom>
          <a:solidFill>
            <a:srgbClr val="1C2A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" y="1996678"/>
            <a:ext cx="3626123" cy="857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506" y="2218134"/>
            <a:ext cx="35218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Network Load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075206" y="2203847"/>
            <a:ext cx="486382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0.9388</a:t>
            </a:r>
            <a:endParaRPr lang="en-US" sz="844" dirty="0"/>
          </a:p>
        </p:txBody>
      </p:sp>
      <p:sp>
        <p:nvSpPr>
          <p:cNvPr id="16" name="Text 12"/>
          <p:cNvSpPr/>
          <p:nvPr/>
        </p:nvSpPr>
        <p:spPr>
          <a:xfrm>
            <a:off x="621506" y="2407444"/>
            <a:ext cx="3857625" cy="85725"/>
          </a:xfrm>
          <a:prstGeom prst="roundRect">
            <a:avLst>
              <a:gd name="adj" fmla="val 11100000"/>
            </a:avLst>
          </a:prstGeom>
          <a:solidFill>
            <a:srgbClr val="1C2A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" y="2407444"/>
            <a:ext cx="3626123" cy="857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506" y="2628900"/>
            <a:ext cx="35218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Memory Usage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4075206" y="2614613"/>
            <a:ext cx="486382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0.9099</a:t>
            </a:r>
            <a:endParaRPr lang="en-US" sz="844" dirty="0"/>
          </a:p>
        </p:txBody>
      </p:sp>
      <p:sp>
        <p:nvSpPr>
          <p:cNvPr id="20" name="Text 15"/>
          <p:cNvSpPr/>
          <p:nvPr/>
        </p:nvSpPr>
        <p:spPr>
          <a:xfrm>
            <a:off x="621506" y="2818209"/>
            <a:ext cx="3857625" cy="85725"/>
          </a:xfrm>
          <a:prstGeom prst="roundRect">
            <a:avLst>
              <a:gd name="adj" fmla="val 11100000"/>
            </a:avLst>
          </a:prstGeom>
          <a:solidFill>
            <a:srgbClr val="1C2A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" y="2818209"/>
            <a:ext cx="3510372" cy="857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1506" y="3039666"/>
            <a:ext cx="35218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 Step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4075206" y="3025378"/>
            <a:ext cx="486382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0.1249</a:t>
            </a:r>
            <a:endParaRPr lang="en-US" sz="844" dirty="0"/>
          </a:p>
        </p:txBody>
      </p:sp>
      <p:sp>
        <p:nvSpPr>
          <p:cNvPr id="24" name="Text 18"/>
          <p:cNvSpPr/>
          <p:nvPr/>
        </p:nvSpPr>
        <p:spPr>
          <a:xfrm>
            <a:off x="621506" y="3228975"/>
            <a:ext cx="3857625" cy="85725"/>
          </a:xfrm>
          <a:prstGeom prst="roundRect">
            <a:avLst>
              <a:gd name="adj" fmla="val 11100000"/>
            </a:avLst>
          </a:prstGeom>
          <a:solidFill>
            <a:srgbClr val="1C2A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621506" y="3228975"/>
            <a:ext cx="462893" cy="85725"/>
          </a:xfrm>
          <a:prstGeom prst="roundRect">
            <a:avLst>
              <a:gd name="adj" fmla="val 11100000"/>
            </a:avLst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21506" y="4107656"/>
            <a:ext cx="396735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2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 r with Response_Time_ms, n = 1,000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4818459" y="1235869"/>
            <a:ext cx="3864769" cy="3118247"/>
          </a:xfrm>
          <a:prstGeom prst="roundRect">
            <a:avLst>
              <a:gd name="adj" fmla="val 3666"/>
            </a:avLst>
          </a:prstGeom>
          <a:solidFill>
            <a:srgbClr val="FFFFFF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4" descr="/tmp/h2p-fit-1788257561911-9r0cwj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1481212"/>
            <a:ext cx="3714750" cy="24003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822031" y="4094820"/>
            <a:ext cx="3857625" cy="255724"/>
          </a:xfrm>
          <a:prstGeom prst="rect">
            <a:avLst/>
          </a:prstGeom>
          <a:noFill/>
          <a:ln/>
        </p:spPr>
        <p:txBody>
          <a:bodyPr wrap="square" lIns="100013" tIns="64294" rIns="100013" bIns="64294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CPU usage vs response time — near-linear cloud (r = 0.9637)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460772" y="4475559"/>
            <a:ext cx="8222456" cy="350044"/>
          </a:xfrm>
          <a:prstGeom prst="roundRect">
            <a:avLst>
              <a:gd name="adj" fmla="val 43537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607219" y="457200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32" name="Text 25"/>
          <p:cNvSpPr/>
          <p:nvPr/>
        </p:nvSpPr>
        <p:spPr>
          <a:xfrm>
            <a:off x="864394" y="4580706"/>
            <a:ext cx="7672388" cy="1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75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four workload predictors are </a:t>
            </a:r>
            <a:r>
              <a:rPr lang="en-US" sz="759" b="1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strongly positively correlated</a:t>
            </a:r>
            <a:r>
              <a:rPr lang="en-US" sz="75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good predictive signal, but </a:t>
            </a:r>
            <a:r>
              <a:rPr lang="en-US" sz="759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collinearity</a:t>
            </a:r>
            <a:r>
              <a:rPr lang="en-US" sz="75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keep in mind when reading coefficients.</a:t>
            </a:r>
            <a:endParaRPr lang="en-US" sz="75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360759"/>
            <a:ext cx="2437247" cy="210741"/>
          </a:xfrm>
          <a:prstGeom prst="roundRect">
            <a:avLst>
              <a:gd name="adj" fmla="val 4515246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4369" y="414338"/>
            <a:ext cx="2072915" cy="139654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13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· CO4 STATISTICAL JUSTIFICATION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507206" y="41612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00050" y="675084"/>
            <a:ext cx="721339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3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Multiple Linear Regression — </a:t>
            </a:r>
            <a:r>
              <a:rPr lang="en-US" sz="2250" b="1" kern="0" spc="-34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Fitted Equation</a:t>
            </a:r>
            <a:endParaRPr lang="en-US" sz="2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1010841"/>
            <a:ext cx="1571625" cy="2143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1246584"/>
            <a:ext cx="8343900" cy="13720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3622" y="1250156"/>
            <a:ext cx="8336756" cy="1364903"/>
          </a:xfrm>
          <a:prstGeom prst="roundRect">
            <a:avLst>
              <a:gd name="adj" fmla="val 11166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3806" y="1253728"/>
            <a:ext cx="1143000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93806" y="1253728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07219" y="1371814"/>
            <a:ext cx="704106" cy="196025"/>
          </a:xfrm>
          <a:prstGeom prst="roundRect">
            <a:avLst>
              <a:gd name="adj" fmla="val 29154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515889" y="1382316"/>
            <a:ext cx="8867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FITTED MODEL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1397050" y="1405533"/>
            <a:ext cx="71397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4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response time · X = workload parameters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607219" y="1650206"/>
            <a:ext cx="1877188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Response_Time</a:t>
            </a:r>
            <a:endParaRPr lang="en-US" sz="1856" dirty="0"/>
          </a:p>
        </p:txBody>
      </p:sp>
      <p:sp>
        <p:nvSpPr>
          <p:cNvPr id="15" name="Text 10"/>
          <p:cNvSpPr/>
          <p:nvPr/>
        </p:nvSpPr>
        <p:spPr>
          <a:xfrm>
            <a:off x="2224497" y="1650206"/>
            <a:ext cx="184845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856" dirty="0"/>
          </a:p>
        </p:txBody>
      </p:sp>
      <p:sp>
        <p:nvSpPr>
          <p:cNvPr id="16" name="Text 11"/>
          <p:cNvSpPr/>
          <p:nvPr/>
        </p:nvSpPr>
        <p:spPr>
          <a:xfrm>
            <a:off x="2455552" y="1650206"/>
            <a:ext cx="924223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73.53</a:t>
            </a:r>
            <a:endParaRPr lang="en-US" sz="1856" dirty="0"/>
          </a:p>
        </p:txBody>
      </p:sp>
      <p:sp>
        <p:nvSpPr>
          <p:cNvPr id="17" name="Text 12"/>
          <p:cNvSpPr/>
          <p:nvPr/>
        </p:nvSpPr>
        <p:spPr>
          <a:xfrm>
            <a:off x="3148719" y="1650206"/>
            <a:ext cx="184845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56" dirty="0"/>
          </a:p>
        </p:txBody>
      </p:sp>
      <p:sp>
        <p:nvSpPr>
          <p:cNvPr id="18" name="Text 13"/>
          <p:cNvSpPr/>
          <p:nvPr/>
        </p:nvSpPr>
        <p:spPr>
          <a:xfrm>
            <a:off x="3379775" y="1650206"/>
            <a:ext cx="924223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0.052</a:t>
            </a:r>
            <a:endParaRPr lang="en-US" sz="1856" dirty="0"/>
          </a:p>
        </p:txBody>
      </p:sp>
      <p:sp>
        <p:nvSpPr>
          <p:cNvPr id="19" name="Text 14"/>
          <p:cNvSpPr/>
          <p:nvPr/>
        </p:nvSpPr>
        <p:spPr>
          <a:xfrm>
            <a:off x="3899289" y="1650206"/>
            <a:ext cx="20769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56" dirty="0"/>
          </a:p>
        </p:txBody>
      </p:sp>
      <p:sp>
        <p:nvSpPr>
          <p:cNvPr id="20" name="Text 15"/>
          <p:cNvSpPr/>
          <p:nvPr/>
        </p:nvSpPr>
        <p:spPr>
          <a:xfrm>
            <a:off x="3941074" y="1650206"/>
            <a:ext cx="1729322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RequestRate</a:t>
            </a:r>
            <a:endParaRPr lang="en-US" sz="1856" dirty="0"/>
          </a:p>
        </p:txBody>
      </p:sp>
      <p:sp>
        <p:nvSpPr>
          <p:cNvPr id="21" name="Text 16"/>
          <p:cNvSpPr/>
          <p:nvPr/>
        </p:nvSpPr>
        <p:spPr>
          <a:xfrm>
            <a:off x="607219" y="1975470"/>
            <a:ext cx="184845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56" dirty="0"/>
          </a:p>
        </p:txBody>
      </p:sp>
      <p:sp>
        <p:nvSpPr>
          <p:cNvPr id="22" name="Text 17"/>
          <p:cNvSpPr/>
          <p:nvPr/>
        </p:nvSpPr>
        <p:spPr>
          <a:xfrm>
            <a:off x="838274" y="1975470"/>
            <a:ext cx="924223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2.416</a:t>
            </a:r>
            <a:endParaRPr lang="en-US" sz="1856" dirty="0"/>
          </a:p>
        </p:txBody>
      </p:sp>
      <p:sp>
        <p:nvSpPr>
          <p:cNvPr id="23" name="Text 18"/>
          <p:cNvSpPr/>
          <p:nvPr/>
        </p:nvSpPr>
        <p:spPr>
          <a:xfrm>
            <a:off x="1357788" y="1975470"/>
            <a:ext cx="20769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56" dirty="0"/>
          </a:p>
        </p:txBody>
      </p:sp>
      <p:sp>
        <p:nvSpPr>
          <p:cNvPr id="24" name="Text 19"/>
          <p:cNvSpPr/>
          <p:nvPr/>
        </p:nvSpPr>
        <p:spPr>
          <a:xfrm>
            <a:off x="1447356" y="1975470"/>
            <a:ext cx="599921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</a:t>
            </a:r>
            <a:endParaRPr lang="en-US" sz="1856" dirty="0"/>
          </a:p>
        </p:txBody>
      </p:sp>
      <p:sp>
        <p:nvSpPr>
          <p:cNvPr id="25" name="Text 20"/>
          <p:cNvSpPr/>
          <p:nvPr/>
        </p:nvSpPr>
        <p:spPr>
          <a:xfrm>
            <a:off x="1932161" y="1975470"/>
            <a:ext cx="184845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56" dirty="0"/>
          </a:p>
        </p:txBody>
      </p:sp>
      <p:sp>
        <p:nvSpPr>
          <p:cNvPr id="26" name="Text 21"/>
          <p:cNvSpPr/>
          <p:nvPr/>
        </p:nvSpPr>
        <p:spPr>
          <a:xfrm>
            <a:off x="2163217" y="1975470"/>
            <a:ext cx="924223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1.447</a:t>
            </a:r>
            <a:endParaRPr lang="en-US" sz="1856" dirty="0"/>
          </a:p>
        </p:txBody>
      </p:sp>
      <p:sp>
        <p:nvSpPr>
          <p:cNvPr id="27" name="Text 22"/>
          <p:cNvSpPr/>
          <p:nvPr/>
        </p:nvSpPr>
        <p:spPr>
          <a:xfrm>
            <a:off x="2682731" y="1975470"/>
            <a:ext cx="20769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56" dirty="0"/>
          </a:p>
        </p:txBody>
      </p:sp>
      <p:sp>
        <p:nvSpPr>
          <p:cNvPr id="28" name="Text 23"/>
          <p:cNvSpPr/>
          <p:nvPr/>
        </p:nvSpPr>
        <p:spPr>
          <a:xfrm>
            <a:off x="2794992" y="1975470"/>
            <a:ext cx="991229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1856" dirty="0"/>
          </a:p>
        </p:txBody>
      </p:sp>
      <p:sp>
        <p:nvSpPr>
          <p:cNvPr id="29" name="Text 24"/>
          <p:cNvSpPr/>
          <p:nvPr/>
        </p:nvSpPr>
        <p:spPr>
          <a:xfrm>
            <a:off x="3603687" y="1975470"/>
            <a:ext cx="184845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56" dirty="0"/>
          </a:p>
        </p:txBody>
      </p:sp>
      <p:sp>
        <p:nvSpPr>
          <p:cNvPr id="30" name="Text 25"/>
          <p:cNvSpPr/>
          <p:nvPr/>
        </p:nvSpPr>
        <p:spPr>
          <a:xfrm>
            <a:off x="3834743" y="1975470"/>
            <a:ext cx="924223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2.220</a:t>
            </a:r>
            <a:endParaRPr lang="en-US" sz="1856" dirty="0"/>
          </a:p>
        </p:txBody>
      </p:sp>
      <p:sp>
        <p:nvSpPr>
          <p:cNvPr id="31" name="Text 26"/>
          <p:cNvSpPr/>
          <p:nvPr/>
        </p:nvSpPr>
        <p:spPr>
          <a:xfrm>
            <a:off x="4354257" y="1975470"/>
            <a:ext cx="20769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56" dirty="0"/>
          </a:p>
        </p:txBody>
      </p:sp>
      <p:sp>
        <p:nvSpPr>
          <p:cNvPr id="32" name="Text 27"/>
          <p:cNvSpPr/>
          <p:nvPr/>
        </p:nvSpPr>
        <p:spPr>
          <a:xfrm>
            <a:off x="4466518" y="1975470"/>
            <a:ext cx="1156434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856" kern="0" spc="-19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1856" dirty="0"/>
          </a:p>
        </p:txBody>
      </p:sp>
      <p:sp>
        <p:nvSpPr>
          <p:cNvPr id="33" name="Text 28"/>
          <p:cNvSpPr/>
          <p:nvPr/>
        </p:nvSpPr>
        <p:spPr>
          <a:xfrm>
            <a:off x="607219" y="2357884"/>
            <a:ext cx="792956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</a:t>
            </a:r>
            <a:r>
              <a:rPr lang="en-US" sz="800" kern="0" spc="15" baseline="-400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r>
              <a:rPr lang="en-US" sz="800" kern="0" spc="1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00" kern="0" spc="15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73.53</a:t>
            </a:r>
            <a:r>
              <a:rPr lang="en-US" sz="800" kern="0" spc="1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(intercept) · β</a:t>
            </a:r>
            <a:r>
              <a:rPr lang="en-US" sz="800" kern="0" spc="15" baseline="-400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800" kern="0" spc="1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00" kern="0" spc="15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0.052</a:t>
            </a:r>
            <a:r>
              <a:rPr lang="en-US" sz="800" kern="0" spc="1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β</a:t>
            </a:r>
            <a:r>
              <a:rPr lang="en-US" sz="800" kern="0" spc="15" baseline="-400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800" kern="0" spc="1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00" kern="0" spc="15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2.416</a:t>
            </a:r>
            <a:r>
              <a:rPr lang="en-US" sz="800" kern="0" spc="1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β</a:t>
            </a:r>
            <a:r>
              <a:rPr lang="en-US" sz="800" kern="0" spc="15" baseline="-400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800" kern="0" spc="1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00" kern="0" spc="15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1.447</a:t>
            </a:r>
            <a:r>
              <a:rPr lang="en-US" sz="800" kern="0" spc="1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β</a:t>
            </a:r>
            <a:r>
              <a:rPr lang="en-US" sz="800" kern="0" spc="15" baseline="-400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r>
              <a:rPr lang="en-US" sz="800" kern="0" spc="1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00" kern="0" spc="15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2.220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403622" y="2750790"/>
            <a:ext cx="1993106" cy="1312106"/>
          </a:xfrm>
          <a:prstGeom prst="roundRect">
            <a:avLst>
              <a:gd name="adj" fmla="val 11615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535781" y="2868662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71857" y="290473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37" name="Text 32"/>
          <p:cNvSpPr/>
          <p:nvPr/>
        </p:nvSpPr>
        <p:spPr>
          <a:xfrm>
            <a:off x="1400867" y="2920669"/>
            <a:ext cx="886562" cy="196025"/>
          </a:xfrm>
          <a:prstGeom prst="roundRect">
            <a:avLst>
              <a:gd name="adj" fmla="val 29154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1423727" y="2931170"/>
            <a:ext cx="8408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STRONGEST LEVER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535781" y="3268712"/>
            <a:ext cx="172878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856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+2.416</a:t>
            </a: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ms</a:t>
            </a:r>
            <a:endParaRPr lang="en-US" sz="1856" dirty="0"/>
          </a:p>
        </p:txBody>
      </p:sp>
      <p:sp>
        <p:nvSpPr>
          <p:cNvPr id="40" name="Text 35"/>
          <p:cNvSpPr/>
          <p:nvPr/>
        </p:nvSpPr>
        <p:spPr>
          <a:xfrm>
            <a:off x="535781" y="3561606"/>
            <a:ext cx="1728788" cy="15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 </a:t>
            </a: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+1% CPU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535781" y="3827152"/>
            <a:ext cx="17287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 β</a:t>
            </a:r>
            <a:r>
              <a:rPr lang="en-US" sz="800" kern="0" spc="50" baseline="-400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518172" y="2750790"/>
            <a:ext cx="1993106" cy="1312106"/>
          </a:xfrm>
          <a:prstGeom prst="roundRect">
            <a:avLst>
              <a:gd name="adj" fmla="val 11615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2650331" y="2868662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2686407" y="290473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45" name="Text 40"/>
          <p:cNvSpPr/>
          <p:nvPr/>
        </p:nvSpPr>
        <p:spPr>
          <a:xfrm>
            <a:off x="2650331" y="3268712"/>
            <a:ext cx="172878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856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+2.220</a:t>
            </a: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ms</a:t>
            </a:r>
            <a:endParaRPr lang="en-US" sz="1856" dirty="0"/>
          </a:p>
        </p:txBody>
      </p:sp>
      <p:sp>
        <p:nvSpPr>
          <p:cNvPr id="46" name="Text 41"/>
          <p:cNvSpPr/>
          <p:nvPr/>
        </p:nvSpPr>
        <p:spPr>
          <a:xfrm>
            <a:off x="2650331" y="3561606"/>
            <a:ext cx="1728787" cy="15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 </a:t>
            </a: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 MB/s network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2650331" y="3827152"/>
            <a:ext cx="17287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 β</a:t>
            </a:r>
            <a:r>
              <a:rPr lang="en-US" sz="800" kern="0" spc="50" baseline="-400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4632722" y="2750790"/>
            <a:ext cx="1993106" cy="1312106"/>
          </a:xfrm>
          <a:prstGeom prst="roundRect">
            <a:avLst>
              <a:gd name="adj" fmla="val 11615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4764881" y="2868662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4800957" y="290473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51" name="Text 46"/>
          <p:cNvSpPr/>
          <p:nvPr/>
        </p:nvSpPr>
        <p:spPr>
          <a:xfrm>
            <a:off x="4764881" y="3268712"/>
            <a:ext cx="172878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856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+1.447</a:t>
            </a: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ms</a:t>
            </a:r>
            <a:endParaRPr lang="en-US" sz="1856" dirty="0"/>
          </a:p>
        </p:txBody>
      </p:sp>
      <p:sp>
        <p:nvSpPr>
          <p:cNvPr id="52" name="Text 47"/>
          <p:cNvSpPr/>
          <p:nvPr/>
        </p:nvSpPr>
        <p:spPr>
          <a:xfrm>
            <a:off x="4764881" y="3561606"/>
            <a:ext cx="1728787" cy="15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 </a:t>
            </a: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+1% memory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4764881" y="3827152"/>
            <a:ext cx="17287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 β</a:t>
            </a:r>
            <a:r>
              <a:rPr lang="en-US" sz="800" kern="0" spc="50" baseline="-400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54" name="Text 49"/>
          <p:cNvSpPr/>
          <p:nvPr/>
        </p:nvSpPr>
        <p:spPr>
          <a:xfrm>
            <a:off x="6747272" y="2750790"/>
            <a:ext cx="1993106" cy="1312106"/>
          </a:xfrm>
          <a:prstGeom prst="roundRect">
            <a:avLst>
              <a:gd name="adj" fmla="val 11615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0"/>
          <p:cNvSpPr/>
          <p:nvPr/>
        </p:nvSpPr>
        <p:spPr>
          <a:xfrm>
            <a:off x="6879431" y="2868662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1"/>
          <p:cNvSpPr/>
          <p:nvPr/>
        </p:nvSpPr>
        <p:spPr>
          <a:xfrm>
            <a:off x="6915507" y="290473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⇅</a:t>
            </a:r>
            <a:endParaRPr lang="en-US" sz="1547" dirty="0"/>
          </a:p>
        </p:txBody>
      </p:sp>
      <p:sp>
        <p:nvSpPr>
          <p:cNvPr id="57" name="Text 52"/>
          <p:cNvSpPr/>
          <p:nvPr/>
        </p:nvSpPr>
        <p:spPr>
          <a:xfrm>
            <a:off x="6879431" y="3268712"/>
            <a:ext cx="172878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856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+0.052</a:t>
            </a: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ms</a:t>
            </a:r>
            <a:endParaRPr lang="en-US" sz="1856" dirty="0"/>
          </a:p>
        </p:txBody>
      </p:sp>
      <p:sp>
        <p:nvSpPr>
          <p:cNvPr id="58" name="Text 53"/>
          <p:cNvSpPr/>
          <p:nvPr/>
        </p:nvSpPr>
        <p:spPr>
          <a:xfrm>
            <a:off x="6879431" y="3561606"/>
            <a:ext cx="1728788" cy="15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 </a:t>
            </a: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 req/s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6879431" y="3827152"/>
            <a:ext cx="17287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 β</a:t>
            </a:r>
            <a:r>
              <a:rPr lang="en-US" sz="800" kern="0" spc="50" baseline="-400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60" name="Text 55"/>
          <p:cNvSpPr/>
          <p:nvPr/>
        </p:nvSpPr>
        <p:spPr>
          <a:xfrm>
            <a:off x="403622" y="4198627"/>
            <a:ext cx="4625020" cy="655551"/>
          </a:xfrm>
          <a:prstGeom prst="roundRect">
            <a:avLst>
              <a:gd name="adj" fmla="val 23248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550069" y="4376328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7"/>
          <p:cNvSpPr/>
          <p:nvPr/>
        </p:nvSpPr>
        <p:spPr>
          <a:xfrm>
            <a:off x="586145" y="441240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63" name="Text 58"/>
          <p:cNvSpPr/>
          <p:nvPr/>
        </p:nvSpPr>
        <p:spPr>
          <a:xfrm>
            <a:off x="950119" y="4302212"/>
            <a:ext cx="3932076" cy="448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Fitted by </a:t>
            </a: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ordinary least squares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</a:t>
            </a: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800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training observations; coefficients recover the engineered generative weights </a:t>
            </a: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 / 1.5 / 3.0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closely — </a:t>
            </a: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statistics found the true signal.</a:t>
            </a:r>
            <a:endParaRPr lang="en-US" sz="800" dirty="0"/>
          </a:p>
        </p:txBody>
      </p:sp>
      <p:sp>
        <p:nvSpPr>
          <p:cNvPr id="64" name="Text 59"/>
          <p:cNvSpPr/>
          <p:nvPr/>
        </p:nvSpPr>
        <p:spPr>
          <a:xfrm>
            <a:off x="5150086" y="4404010"/>
            <a:ext cx="3590292" cy="244673"/>
          </a:xfrm>
          <a:prstGeom prst="roundRect">
            <a:avLst>
              <a:gd name="adj" fmla="val 23358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0"/>
          <p:cNvSpPr/>
          <p:nvPr/>
        </p:nvSpPr>
        <p:spPr>
          <a:xfrm>
            <a:off x="5146514" y="4400438"/>
            <a:ext cx="3597436" cy="336340"/>
          </a:xfrm>
          <a:prstGeom prst="rect">
            <a:avLst/>
          </a:prstGeom>
          <a:noFill/>
          <a:ln/>
        </p:spPr>
        <p:txBody>
          <a:bodyPr wrap="square" lIns="100013" tIns="57150" rIns="100013" bIns="5715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52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CO4 — relationship justified by correlation AND regression coefficients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346472"/>
            <a:ext cx="2550430" cy="210741"/>
          </a:xfrm>
          <a:prstGeom prst="roundRect">
            <a:avLst>
              <a:gd name="adj" fmla="val 4515246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4369" y="400050"/>
            <a:ext cx="2186099" cy="139654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13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&amp; ERROR EVALUATION · UNIT IV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507206" y="40183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00050" y="660797"/>
            <a:ext cx="6046582" cy="470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34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</a:t>
            </a:r>
            <a:r>
              <a:rPr lang="en-US" sz="2250" b="1" kern="0" spc="-3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Response-Time Variance Explained</a:t>
            </a:r>
            <a:endParaRPr lang="en-US" sz="2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1003697"/>
            <a:ext cx="1571625" cy="21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3622" y="1228725"/>
            <a:ext cx="3830948" cy="893527"/>
          </a:xfrm>
          <a:prstGeom prst="roundRect">
            <a:avLst>
              <a:gd name="adj" fmla="val 17056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5781" y="1452190"/>
            <a:ext cx="1691640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35781" y="1620069"/>
            <a:ext cx="1353312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20.21</a:t>
            </a: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707356" y="1360884"/>
            <a:ext cx="7144" cy="629208"/>
          </a:xfrm>
          <a:prstGeom prst="rect">
            <a:avLst/>
          </a:prstGeom>
          <a:solidFill>
            <a:srgbClr val="2635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828800" y="1605781"/>
            <a:ext cx="22807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average absolute miss per test observation</a:t>
            </a:r>
            <a:endParaRPr lang="en-US" sz="731" dirty="0"/>
          </a:p>
        </p:txBody>
      </p:sp>
      <p:sp>
        <p:nvSpPr>
          <p:cNvPr id="12" name="Text 9"/>
          <p:cNvSpPr/>
          <p:nvPr/>
        </p:nvSpPr>
        <p:spPr>
          <a:xfrm>
            <a:off x="403622" y="2215121"/>
            <a:ext cx="3830948" cy="893638"/>
          </a:xfrm>
          <a:prstGeom prst="roundRect">
            <a:avLst>
              <a:gd name="adj" fmla="val 17054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5781" y="2438698"/>
            <a:ext cx="1691640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5781" y="2606576"/>
            <a:ext cx="1353312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25.26</a:t>
            </a: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07356" y="2347280"/>
            <a:ext cx="5135" cy="629320"/>
          </a:xfrm>
          <a:prstGeom prst="rect">
            <a:avLst/>
          </a:prstGeom>
          <a:solidFill>
            <a:srgbClr val="2635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826791" y="2522637"/>
            <a:ext cx="22756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penalises large errors; close to MAE → errors evenly spread, few wild misses</a:t>
            </a:r>
            <a:endParaRPr lang="en-US" sz="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3198056"/>
            <a:ext cx="3838091" cy="90067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03622" y="3201628"/>
            <a:ext cx="3830948" cy="893527"/>
          </a:xfrm>
          <a:prstGeom prst="roundRect">
            <a:avLst>
              <a:gd name="adj" fmla="val 17056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35781" y="3425093"/>
            <a:ext cx="1691640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800" kern="0" spc="124" baseline="300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73481" y="3557253"/>
            <a:ext cx="1232168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2138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0.9505</a:t>
            </a:r>
            <a:endParaRPr lang="en-US" sz="2138" dirty="0"/>
          </a:p>
        </p:txBody>
      </p:sp>
      <p:sp>
        <p:nvSpPr>
          <p:cNvPr id="21" name="Text 17"/>
          <p:cNvSpPr/>
          <p:nvPr/>
        </p:nvSpPr>
        <p:spPr>
          <a:xfrm>
            <a:off x="1707356" y="3333787"/>
            <a:ext cx="7144" cy="629208"/>
          </a:xfrm>
          <a:prstGeom prst="rect">
            <a:avLst/>
          </a:prstGeom>
          <a:solidFill>
            <a:srgbClr val="22D3EE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1828800" y="3578684"/>
            <a:ext cx="22807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variance explained by the model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03622" y="4188023"/>
            <a:ext cx="2149376" cy="235744"/>
          </a:xfrm>
          <a:prstGeom prst="roundRect">
            <a:avLst>
              <a:gd name="adj" fmla="val 4036359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71513" y="4248745"/>
            <a:ext cx="1777901" cy="146304"/>
          </a:xfrm>
          <a:prstGeom prst="rect">
            <a:avLst/>
          </a:prstGeom>
          <a:noFill/>
          <a:ln/>
        </p:spPr>
        <p:txBody>
          <a:bodyPr wrap="square" lIns="100013" tIns="50006" rIns="100013" bIns="50006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unseen test observations · 80/20 split</a:t>
            </a:r>
            <a:endParaRPr lang="en-US" sz="675" dirty="0"/>
          </a:p>
        </p:txBody>
      </p:sp>
      <p:sp>
        <p:nvSpPr>
          <p:cNvPr id="25" name="Text 21"/>
          <p:cNvSpPr/>
          <p:nvPr/>
        </p:nvSpPr>
        <p:spPr>
          <a:xfrm>
            <a:off x="507206" y="425231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055" dirty="0"/>
          </a:p>
        </p:txBody>
      </p:sp>
      <p:sp>
        <p:nvSpPr>
          <p:cNvPr id="26" name="Text 22"/>
          <p:cNvSpPr/>
          <p:nvPr/>
        </p:nvSpPr>
        <p:spPr>
          <a:xfrm>
            <a:off x="4413163" y="1228725"/>
            <a:ext cx="4327215" cy="3195042"/>
          </a:xfrm>
          <a:prstGeom prst="roundRect">
            <a:avLst>
              <a:gd name="adj" fmla="val 3577"/>
            </a:avLst>
          </a:prstGeom>
          <a:solidFill>
            <a:srgbClr val="FFFFFF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2" descr="/tmp/h2p-fit-1788257566934-cb19w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460" y="1318022"/>
            <a:ext cx="4148621" cy="278963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4416735" y="4154091"/>
            <a:ext cx="4320071" cy="0"/>
          </a:xfrm>
          <a:prstGeom prst="line">
            <a:avLst/>
          </a:prstGeom>
          <a:noFill/>
          <a:ln w="7144">
            <a:solidFill>
              <a:srgbClr val="16213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416735" y="4150519"/>
            <a:ext cx="4320071" cy="269677"/>
          </a:xfrm>
          <a:prstGeom prst="rect">
            <a:avLst/>
          </a:prstGeom>
          <a:noFill/>
          <a:ln/>
        </p:spPr>
        <p:txBody>
          <a:bodyPr wrap="square" lIns="100013" tIns="57150" rIns="100013" bIns="71438" rtlCol="0" anchor="t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162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vs actual response time — points hug the ideal y = x line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03622" y="4545211"/>
            <a:ext cx="8336756" cy="323255"/>
          </a:xfrm>
          <a:prstGeom prst="roundRect">
            <a:avLst>
              <a:gd name="adj" fmla="val 47145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550069" y="463540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406" dirty="0"/>
          </a:p>
        </p:txBody>
      </p:sp>
      <p:sp>
        <p:nvSpPr>
          <p:cNvPr id="32" name="Text 27"/>
          <p:cNvSpPr/>
          <p:nvPr/>
        </p:nvSpPr>
        <p:spPr>
          <a:xfrm>
            <a:off x="778669" y="4634508"/>
            <a:ext cx="7815263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RMSE only ~25% above MAE and R</a:t>
            </a:r>
            <a:r>
              <a:rPr lang="en-US" sz="800" baseline="300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near 0.95 — </a:t>
            </a:r>
            <a:r>
              <a:rPr lang="en-US" sz="80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honest, well-behaved linear fit</a:t>
            </a: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a noisy system.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346472"/>
            <a:ext cx="1871551" cy="210741"/>
          </a:xfrm>
          <a:prstGeom prst="roundRect">
            <a:avLst>
              <a:gd name="adj" fmla="val 4515246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4369" y="400050"/>
            <a:ext cx="1507220" cy="139654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13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HYPOTHESIS TESTING · UNIT V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507206" y="40183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00050" y="660797"/>
            <a:ext cx="6316827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kern="0" spc="-3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 the Model </a:t>
            </a:r>
            <a:r>
              <a:rPr lang="en-US" sz="2250" b="1" kern="0" spc="-34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Unbiased?</a:t>
            </a:r>
            <a:r>
              <a:rPr lang="en-US" sz="2250" b="1" kern="0" spc="-3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Let the Data Decide</a:t>
            </a:r>
            <a:endParaRPr lang="en-US" sz="2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996553"/>
            <a:ext cx="1571625" cy="21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3622" y="1221581"/>
            <a:ext cx="3830948" cy="3309342"/>
          </a:xfrm>
          <a:prstGeom prst="roundRect">
            <a:avLst>
              <a:gd name="adj" fmla="val 4605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7928" y="1371600"/>
            <a:ext cx="3502335" cy="721519"/>
          </a:xfrm>
          <a:prstGeom prst="roundRect">
            <a:avLst>
              <a:gd name="adj" fmla="val 15842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85800" y="1475184"/>
            <a:ext cx="52578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r>
              <a:rPr lang="en-US" sz="844" b="1" baseline="-400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1057275" y="1504652"/>
            <a:ext cx="2895116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mean prediction error = 0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85800" y="1775222"/>
            <a:ext cx="52578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r>
              <a:rPr lang="en-US" sz="844" b="1" baseline="-400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1057275" y="1804690"/>
            <a:ext cx="2895116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mean error ≠ 0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564356" y="23467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266" dirty="0"/>
          </a:p>
        </p:txBody>
      </p:sp>
      <p:sp>
        <p:nvSpPr>
          <p:cNvPr id="14" name="Text 11"/>
          <p:cNvSpPr/>
          <p:nvPr/>
        </p:nvSpPr>
        <p:spPr>
          <a:xfrm>
            <a:off x="764381" y="2341364"/>
            <a:ext cx="3309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One-sample Student's t-test on the </a:t>
            </a:r>
            <a:r>
              <a:rPr lang="en-US" sz="73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</a:t>
            </a: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test residuals, </a:t>
            </a:r>
            <a:r>
              <a:rPr lang="en-US" sz="73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α = 0.05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567928" y="2728913"/>
            <a:ext cx="1704677" cy="553641"/>
          </a:xfrm>
          <a:prstGeom prst="roundRect">
            <a:avLst>
              <a:gd name="adj" fmla="val 27527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85800" y="2818209"/>
            <a:ext cx="1468934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T-STATISTIC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" y="2978944"/>
            <a:ext cx="14689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0.3931</a:t>
            </a:r>
            <a:endParaRPr lang="en-US" sz="1688" dirty="0"/>
          </a:p>
        </p:txBody>
      </p:sp>
      <p:sp>
        <p:nvSpPr>
          <p:cNvPr id="18" name="Text 15"/>
          <p:cNvSpPr/>
          <p:nvPr/>
        </p:nvSpPr>
        <p:spPr>
          <a:xfrm>
            <a:off x="2365474" y="2728913"/>
            <a:ext cx="1704789" cy="553641"/>
          </a:xfrm>
          <a:prstGeom prst="roundRect">
            <a:avLst>
              <a:gd name="adj" fmla="val 27527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483346" y="2818209"/>
            <a:ext cx="146904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483346" y="2978944"/>
            <a:ext cx="14690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0.6947</a:t>
            </a:r>
            <a:endParaRPr lang="en-US" sz="1688" dirty="0"/>
          </a:p>
        </p:txBody>
      </p:sp>
      <p:sp>
        <p:nvSpPr>
          <p:cNvPr id="21" name="Text 18"/>
          <p:cNvSpPr/>
          <p:nvPr/>
        </p:nvSpPr>
        <p:spPr>
          <a:xfrm>
            <a:off x="567928" y="3534370"/>
            <a:ext cx="3502335" cy="467916"/>
          </a:xfrm>
          <a:prstGeom prst="roundRect">
            <a:avLst>
              <a:gd name="adj" fmla="val 24427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85800" y="362366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928688" y="3623667"/>
            <a:ext cx="3023704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 = 0.6947 &gt; 0.05</a:t>
            </a: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r>
              <a:rPr lang="en-US" sz="800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FAIL TO REJECT H</a:t>
            </a:r>
            <a:r>
              <a:rPr lang="en-US" sz="800" b="1" baseline="-40000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errors are statistically centered on zero: the model is </a:t>
            </a:r>
            <a:r>
              <a:rPr lang="en-US" sz="800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UNBIASED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64356" y="4250531"/>
            <a:ext cx="3509479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703" i="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near-zero t with high p means observed misses look exactly like random noise.</a:t>
            </a:r>
            <a:endParaRPr lang="en-US" sz="703" dirty="0"/>
          </a:p>
        </p:txBody>
      </p:sp>
      <p:sp>
        <p:nvSpPr>
          <p:cNvPr id="25" name="Text 22"/>
          <p:cNvSpPr/>
          <p:nvPr/>
        </p:nvSpPr>
        <p:spPr>
          <a:xfrm>
            <a:off x="4413163" y="1221581"/>
            <a:ext cx="4327215" cy="3309342"/>
          </a:xfrm>
          <a:prstGeom prst="roundRect">
            <a:avLst>
              <a:gd name="adj" fmla="val 3454"/>
            </a:avLst>
          </a:prstGeom>
          <a:solidFill>
            <a:srgbClr val="FFFFFF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1" descr="/tmp/h2p-fit-1788257567834-b892k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460" y="1310878"/>
            <a:ext cx="4148621" cy="290393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416735" y="4261247"/>
            <a:ext cx="4320071" cy="0"/>
          </a:xfrm>
          <a:prstGeom prst="line">
            <a:avLst/>
          </a:prstGeom>
          <a:noFill/>
          <a:ln w="7144">
            <a:solidFill>
              <a:srgbClr val="16213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416735" y="4257675"/>
            <a:ext cx="4320071" cy="269677"/>
          </a:xfrm>
          <a:prstGeom prst="rect">
            <a:avLst/>
          </a:prstGeom>
          <a:noFill/>
          <a:ln/>
        </p:spPr>
        <p:txBody>
          <a:bodyPr wrap="square" lIns="100013" tIns="57150" rIns="100013" bIns="71438" rtlCol="0" anchor="t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162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Residual distribution — roughly normal, centered near 0 (red dashed line)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3622" y="4652367"/>
            <a:ext cx="2674776" cy="230386"/>
          </a:xfrm>
          <a:prstGeom prst="roundRect">
            <a:avLst>
              <a:gd name="adj" fmla="val 24806"/>
            </a:avLst>
          </a:prstGeom>
          <a:solidFill>
            <a:srgbClr val="FBBF24">
              <a:alpha val="12000"/>
            </a:srgbClr>
          </a:solidFill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00050" y="4648795"/>
            <a:ext cx="8343900" cy="317257"/>
          </a:xfrm>
          <a:prstGeom prst="rect">
            <a:avLst/>
          </a:prstGeom>
          <a:noFill/>
          <a:ln/>
        </p:spPr>
        <p:txBody>
          <a:bodyPr wrap="square" lIns="100013" tIns="50006" rIns="100013" bIns="50006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52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CO5 — validation via RMSE, R</a:t>
            </a:r>
            <a:r>
              <a:rPr lang="en-US" sz="800" kern="0" spc="52" baseline="300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800" kern="0" spc="52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hypothesis testing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330098"/>
            <a:ext cx="1528383" cy="243488"/>
          </a:xfrm>
          <a:prstGeom prst="roundRect">
            <a:avLst>
              <a:gd name="adj" fmla="val 3907985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4369" y="400050"/>
            <a:ext cx="1111188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136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CONCLUSION · CO2–CO5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507206" y="40183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00050" y="660797"/>
            <a:ext cx="6737851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b="1" kern="0" spc="-3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Statistics Turned Uncertainty Into a </a:t>
            </a:r>
            <a:r>
              <a:rPr lang="en-US" sz="2025" b="1" kern="0" spc="-3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Validated Model</a:t>
            </a:r>
            <a:endParaRPr lang="en-US" sz="202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953691"/>
            <a:ext cx="1571625" cy="21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3622" y="1178719"/>
            <a:ext cx="3997821" cy="3189684"/>
          </a:xfrm>
          <a:prstGeom prst="roundRect">
            <a:avLst>
              <a:gd name="adj" fmla="val 4778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8644" y="1310878"/>
            <a:ext cx="3647777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SHOWED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8644" y="167387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0" name="Text 7"/>
          <p:cNvSpPr/>
          <p:nvPr/>
        </p:nvSpPr>
        <p:spPr>
          <a:xfrm>
            <a:off x="807244" y="1659582"/>
            <a:ext cx="3419177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four workload parameters correlate strongly with response time </a:t>
            </a: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(r = 0.91 – 0.96)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8644" y="2157413"/>
            <a:ext cx="3647777" cy="7144"/>
          </a:xfrm>
          <a:prstGeom prst="rect">
            <a:avLst/>
          </a:prstGeom>
          <a:solidFill>
            <a:srgbClr val="2635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78644" y="23668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3" name="Text 10"/>
          <p:cNvSpPr/>
          <p:nvPr/>
        </p:nvSpPr>
        <p:spPr>
          <a:xfrm>
            <a:off x="807244" y="2352526"/>
            <a:ext cx="3419177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fitted regression explains </a:t>
            </a: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95.05%</a:t>
            </a: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response-time variance </a:t>
            </a: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</a:t>
            </a:r>
            <a:r>
              <a:rPr lang="en-US" sz="800" baseline="300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0.9505)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8644" y="2850356"/>
            <a:ext cx="3647777" cy="7144"/>
          </a:xfrm>
          <a:prstGeom prst="rect">
            <a:avLst/>
          </a:prstGeom>
          <a:solidFill>
            <a:srgbClr val="2635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78644" y="305975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6" name="Text 13"/>
          <p:cNvSpPr/>
          <p:nvPr/>
        </p:nvSpPr>
        <p:spPr>
          <a:xfrm>
            <a:off x="807244" y="3045470"/>
            <a:ext cx="3419177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Errors average just </a:t>
            </a: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20.21 ms</a:t>
            </a: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(MAE) with no systematic bias </a:t>
            </a: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(t-test p = 0.6947)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78644" y="3543300"/>
            <a:ext cx="3647777" cy="7144"/>
          </a:xfrm>
          <a:prstGeom prst="rect">
            <a:avLst/>
          </a:prstGeom>
          <a:solidFill>
            <a:srgbClr val="2635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78644" y="375270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807244" y="3738414"/>
            <a:ext cx="3419177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Regression describes association, not causation — model valid within observed workload range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580037" y="1178719"/>
            <a:ext cx="2026593" cy="1541264"/>
          </a:xfrm>
          <a:prstGeom prst="roundRect">
            <a:avLst>
              <a:gd name="adj" fmla="val 9888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779560" y="2159198"/>
            <a:ext cx="93261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2D3EE">
                    <a:alpha val="7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4050" dirty="0"/>
          </a:p>
        </p:txBody>
      </p:sp>
      <p:sp>
        <p:nvSpPr>
          <p:cNvPr id="22" name="Text 19"/>
          <p:cNvSpPr/>
          <p:nvPr/>
        </p:nvSpPr>
        <p:spPr>
          <a:xfrm>
            <a:off x="4699940" y="1584627"/>
            <a:ext cx="330912" cy="224028"/>
          </a:xfrm>
          <a:prstGeom prst="roundRect">
            <a:avLst>
              <a:gd name="adj" fmla="val 34014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12196" y="1596628"/>
            <a:ext cx="3064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kern="0" spc="54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331595" y="162520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5" name="Text 22"/>
          <p:cNvSpPr/>
          <p:nvPr/>
        </p:nvSpPr>
        <p:spPr>
          <a:xfrm>
            <a:off x="4712196" y="1868091"/>
            <a:ext cx="17622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Modelled uncertainty &amp; variation in response time using workload distributions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713786" y="1178719"/>
            <a:ext cx="2026593" cy="1541264"/>
          </a:xfrm>
          <a:prstGeom prst="roundRect">
            <a:avLst>
              <a:gd name="adj" fmla="val 9888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913309" y="2159198"/>
            <a:ext cx="93261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2D3EE">
                    <a:alpha val="7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4050" dirty="0"/>
          </a:p>
        </p:txBody>
      </p:sp>
      <p:sp>
        <p:nvSpPr>
          <p:cNvPr id="28" name="Text 25"/>
          <p:cNvSpPr/>
          <p:nvPr/>
        </p:nvSpPr>
        <p:spPr>
          <a:xfrm>
            <a:off x="6833689" y="1656957"/>
            <a:ext cx="330912" cy="224028"/>
          </a:xfrm>
          <a:prstGeom prst="roundRect">
            <a:avLst>
              <a:gd name="adj" fmla="val 34014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845945" y="1668959"/>
            <a:ext cx="3064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kern="0" spc="54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465344" y="169753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406" dirty="0"/>
          </a:p>
        </p:txBody>
      </p:sp>
      <p:sp>
        <p:nvSpPr>
          <p:cNvPr id="31" name="Text 28"/>
          <p:cNvSpPr/>
          <p:nvPr/>
        </p:nvSpPr>
        <p:spPr>
          <a:xfrm>
            <a:off x="6845945" y="1940421"/>
            <a:ext cx="1762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Predicted performance under varying, uncertain workload via regression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580037" y="2827139"/>
            <a:ext cx="2026593" cy="1541264"/>
          </a:xfrm>
          <a:prstGeom prst="roundRect">
            <a:avLst>
              <a:gd name="adj" fmla="val 9888"/>
            </a:avLst>
          </a:prstGeom>
          <a:solidFill>
            <a:srgbClr val="16213B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779560" y="3807619"/>
            <a:ext cx="93261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2D3EE">
                    <a:alpha val="7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4050" dirty="0"/>
          </a:p>
        </p:txBody>
      </p:sp>
      <p:sp>
        <p:nvSpPr>
          <p:cNvPr id="34" name="Text 31"/>
          <p:cNvSpPr/>
          <p:nvPr/>
        </p:nvSpPr>
        <p:spPr>
          <a:xfrm>
            <a:off x="4699940" y="3305377"/>
            <a:ext cx="330912" cy="224028"/>
          </a:xfrm>
          <a:prstGeom prst="roundRect">
            <a:avLst>
              <a:gd name="adj" fmla="val 34014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712196" y="3317379"/>
            <a:ext cx="3064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kern="0" spc="54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331595" y="334595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7" name="Text 34"/>
          <p:cNvSpPr/>
          <p:nvPr/>
        </p:nvSpPr>
        <p:spPr>
          <a:xfrm>
            <a:off x="4712196" y="3588841"/>
            <a:ext cx="1762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Justified the relationship with correlation + regression coefficients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713786" y="2827139"/>
            <a:ext cx="2026593" cy="1541264"/>
          </a:xfrm>
          <a:prstGeom prst="roundRect">
            <a:avLst>
              <a:gd name="adj" fmla="val 9888"/>
            </a:avLst>
          </a:prstGeom>
          <a:solidFill>
            <a:srgbClr val="16213B"/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7913309" y="3807619"/>
            <a:ext cx="93261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34D399">
                    <a:alpha val="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4050" dirty="0"/>
          </a:p>
        </p:txBody>
      </p:sp>
      <p:sp>
        <p:nvSpPr>
          <p:cNvPr id="40" name="Text 37"/>
          <p:cNvSpPr/>
          <p:nvPr/>
        </p:nvSpPr>
        <p:spPr>
          <a:xfrm>
            <a:off x="6833689" y="3305377"/>
            <a:ext cx="330912" cy="224028"/>
          </a:xfrm>
          <a:prstGeom prst="roundRect">
            <a:avLst>
              <a:gd name="adj" fmla="val 34014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845945" y="3317379"/>
            <a:ext cx="3064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kern="0" spc="54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CO5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465344" y="334595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43" name="Text 40"/>
          <p:cNvSpPr/>
          <p:nvPr/>
        </p:nvSpPr>
        <p:spPr>
          <a:xfrm>
            <a:off x="6845945" y="3588841"/>
            <a:ext cx="1762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Validated with RMSE, R</a:t>
            </a:r>
            <a:r>
              <a:rPr lang="en-US" sz="800" baseline="300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Student's t-test on residuals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03622" y="4504134"/>
            <a:ext cx="8336756" cy="364331"/>
          </a:xfrm>
          <a:prstGeom prst="roundRect">
            <a:avLst>
              <a:gd name="adj" fmla="val 41830"/>
            </a:avLst>
          </a:prstGeom>
          <a:solidFill>
            <a:srgbClr val="101A30"/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550069" y="461486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46" name="Text 43"/>
          <p:cNvSpPr/>
          <p:nvPr/>
        </p:nvSpPr>
        <p:spPr>
          <a:xfrm>
            <a:off x="738509" y="4627364"/>
            <a:ext cx="92752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APPLICATIONS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495946" y="4613970"/>
            <a:ext cx="19917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monitoring · capacity planning</a:t>
            </a:r>
            <a:endParaRPr lang="en-US" sz="759" dirty="0"/>
          </a:p>
        </p:txBody>
      </p:sp>
      <p:sp>
        <p:nvSpPr>
          <p:cNvPr id="48" name="Text 45"/>
          <p:cNvSpPr/>
          <p:nvPr/>
        </p:nvSpPr>
        <p:spPr>
          <a:xfrm>
            <a:off x="3483025" y="4593431"/>
            <a:ext cx="7144" cy="185738"/>
          </a:xfrm>
          <a:prstGeom prst="rect">
            <a:avLst/>
          </a:prstGeom>
          <a:solidFill>
            <a:srgbClr val="2635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3633043" y="461486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406" dirty="0"/>
          </a:p>
        </p:txBody>
      </p:sp>
      <p:sp>
        <p:nvSpPr>
          <p:cNvPr id="50" name="Text 47"/>
          <p:cNvSpPr/>
          <p:nvPr/>
        </p:nvSpPr>
        <p:spPr>
          <a:xfrm>
            <a:off x="3842527" y="4627364"/>
            <a:ext cx="81243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WORK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523891" y="4613970"/>
            <a:ext cx="26321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larger datasets, alternative models, live monitoring dashboard</a:t>
            </a:r>
            <a:endParaRPr lang="en-US" sz="75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BF24">
              <a:alpha val="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18397" y="1029370"/>
            <a:ext cx="507206" cy="507206"/>
          </a:xfrm>
          <a:prstGeom prst="roundRect">
            <a:avLst>
              <a:gd name="adj" fmla="val 37559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375190" y="1086163"/>
            <a:ext cx="393621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672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2672" dirty="0"/>
          </a:p>
        </p:txBody>
      </p:sp>
      <p:sp>
        <p:nvSpPr>
          <p:cNvPr id="7" name="Text 3"/>
          <p:cNvSpPr/>
          <p:nvPr/>
        </p:nvSpPr>
        <p:spPr>
          <a:xfrm>
            <a:off x="274320" y="1711598"/>
            <a:ext cx="8595248" cy="72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79"/>
              </a:lnSpc>
              <a:buNone/>
            </a:pPr>
            <a:r>
              <a:rPr lang="en-US" sz="5175" b="1" kern="0" spc="-10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</a:t>
            </a:r>
            <a:r>
              <a:rPr lang="en-US" sz="5175" b="1" kern="0" spc="-104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</a:t>
            </a:r>
            <a:endParaRPr lang="en-US" sz="5175" dirty="0"/>
          </a:p>
        </p:txBody>
      </p:sp>
      <p:sp>
        <p:nvSpPr>
          <p:cNvPr id="8" name="Text 4"/>
          <p:cNvSpPr/>
          <p:nvPr/>
        </p:nvSpPr>
        <p:spPr>
          <a:xfrm>
            <a:off x="2242914" y="2510470"/>
            <a:ext cx="4658060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 &amp; Discussion — happy to walk through the data, the model or the validation.</a:t>
            </a:r>
            <a:endParaRPr lang="en-US" sz="956" dirty="0"/>
          </a:p>
        </p:txBody>
      </p:sp>
      <p:sp>
        <p:nvSpPr>
          <p:cNvPr id="9" name="Text 5"/>
          <p:cNvSpPr/>
          <p:nvPr/>
        </p:nvSpPr>
        <p:spPr>
          <a:xfrm>
            <a:off x="2132856" y="2951150"/>
            <a:ext cx="1064419" cy="557213"/>
          </a:xfrm>
          <a:prstGeom prst="roundRect">
            <a:avLst>
              <a:gd name="adj" fmla="val 23932"/>
            </a:avLst>
          </a:prstGeom>
          <a:solidFill>
            <a:srgbClr val="16213B">
              <a:alpha val="78000"/>
            </a:srgbClr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2293590" y="3040447"/>
            <a:ext cx="74295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800" kern="0" spc="111" baseline="300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2293590" y="3194038"/>
            <a:ext cx="74295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0.9505</a:t>
            </a:r>
            <a:endParaRPr lang="en-US" sz="1181" dirty="0"/>
          </a:p>
        </p:txBody>
      </p:sp>
      <p:sp>
        <p:nvSpPr>
          <p:cNvPr id="12" name="Text 8"/>
          <p:cNvSpPr/>
          <p:nvPr/>
        </p:nvSpPr>
        <p:spPr>
          <a:xfrm>
            <a:off x="3318718" y="2951150"/>
            <a:ext cx="1064419" cy="557213"/>
          </a:xfrm>
          <a:prstGeom prst="roundRect">
            <a:avLst>
              <a:gd name="adj" fmla="val 23932"/>
            </a:avLst>
          </a:prstGeom>
          <a:solidFill>
            <a:srgbClr val="16213B">
              <a:alpha val="78000"/>
            </a:srgbClr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479453" y="3040447"/>
            <a:ext cx="74295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448502" y="3194038"/>
            <a:ext cx="80485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20.21 ms</a:t>
            </a:r>
            <a:endParaRPr lang="en-US" sz="1181" dirty="0"/>
          </a:p>
        </p:txBody>
      </p:sp>
      <p:sp>
        <p:nvSpPr>
          <p:cNvPr id="15" name="Text 11"/>
          <p:cNvSpPr/>
          <p:nvPr/>
        </p:nvSpPr>
        <p:spPr>
          <a:xfrm>
            <a:off x="4504581" y="2951150"/>
            <a:ext cx="1064419" cy="557213"/>
          </a:xfrm>
          <a:prstGeom prst="roundRect">
            <a:avLst>
              <a:gd name="adj" fmla="val 23932"/>
            </a:avLst>
          </a:prstGeom>
          <a:solidFill>
            <a:srgbClr val="16213B">
              <a:alpha val="78000"/>
            </a:srgbClr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665315" y="3040447"/>
            <a:ext cx="74295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634365" y="3194038"/>
            <a:ext cx="80485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25.26 ms</a:t>
            </a:r>
            <a:endParaRPr lang="en-US" sz="1181" dirty="0"/>
          </a:p>
        </p:txBody>
      </p:sp>
      <p:sp>
        <p:nvSpPr>
          <p:cNvPr id="18" name="Text 14"/>
          <p:cNvSpPr/>
          <p:nvPr/>
        </p:nvSpPr>
        <p:spPr>
          <a:xfrm>
            <a:off x="5690443" y="2951150"/>
            <a:ext cx="1320589" cy="557213"/>
          </a:xfrm>
          <a:prstGeom prst="roundRect">
            <a:avLst>
              <a:gd name="adj" fmla="val 23932"/>
            </a:avLst>
          </a:prstGeom>
          <a:solidFill>
            <a:srgbClr val="16213B">
              <a:alpha val="78000"/>
            </a:srgbClr>
          </a:solidFill>
          <a:ln w="7144">
            <a:solidFill>
              <a:srgbClr val="26355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851178" y="3040447"/>
            <a:ext cx="99912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851178" y="3194038"/>
            <a:ext cx="999120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0.6947 </a:t>
            </a: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unbiased</a:t>
            </a:r>
            <a:endParaRPr lang="en-US" sz="1181" dirty="0"/>
          </a:p>
        </p:txBody>
      </p:sp>
      <p:sp>
        <p:nvSpPr>
          <p:cNvPr id="21" name="Text 17"/>
          <p:cNvSpPr/>
          <p:nvPr/>
        </p:nvSpPr>
        <p:spPr>
          <a:xfrm>
            <a:off x="1143000" y="3826259"/>
            <a:ext cx="6858000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48"/>
              </a:lnSpc>
              <a:buNone/>
            </a:pPr>
            <a:r>
              <a:rPr lang="en-US" sz="800" dirty="0">
                <a:solidFill>
                  <a:srgbClr val="94A3B8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Micro-Project 13 · Probability &amp; Statistics for Data Science and Cyber Security Engineers (25DC210) · Karunya Institute of Technology and Sciences · Batch 1 · Faculty: Dr. K. Rebecca Jebaseeli Edna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1648</Words>
  <Application>Microsoft Office PowerPoint</Application>
  <PresentationFormat>On-screen Show (16:9)</PresentationFormat>
  <Paragraphs>414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Carlito</vt:lpstr>
      <vt:lpstr>Courier New</vt:lpstr>
      <vt:lpstr>Liberation Sans Narrow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Alena B</cp:lastModifiedBy>
  <cp:revision>2</cp:revision>
  <dcterms:created xsi:type="dcterms:W3CDTF">2026-09-01T10:12:52Z</dcterms:created>
  <dcterms:modified xsi:type="dcterms:W3CDTF">2026-09-01T07:04:40Z</dcterms:modified>
</cp:coreProperties>
</file>